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y="9144000" cx="18288000"/>
  <p:notesSz cx="6858000" cy="9144000"/>
  <p:embeddedFontLst>
    <p:embeddedFont>
      <p:font typeface="Roboto"/>
      <p:regular r:id="rId63"/>
      <p:bold r:id="rId64"/>
      <p:italic r:id="rId65"/>
      <p:boldItalic r:id="rId66"/>
    </p:embeddedFont>
    <p:embeddedFont>
      <p:font typeface="Montserrat"/>
      <p:regular r:id="rId67"/>
      <p:bold r:id="rId68"/>
      <p:italic r:id="rId69"/>
      <p:boldItalic r:id="rId70"/>
    </p:embeddedFont>
    <p:embeddedFont>
      <p:font typeface="Poppins"/>
      <p:regular r:id="rId71"/>
      <p:bold r:id="rId72"/>
      <p:italic r:id="rId73"/>
      <p:boldItalic r:id="rId74"/>
    </p:embeddedFont>
    <p:embeddedFont>
      <p:font typeface="Montserrat Medium"/>
      <p:regular r:id="rId75"/>
      <p:bold r:id="rId76"/>
      <p:italic r:id="rId77"/>
      <p:boldItalic r:id="rId78"/>
    </p:embeddedFont>
    <p:embeddedFont>
      <p:font typeface="Roboto Mono"/>
      <p:regular r:id="rId79"/>
      <p:bold r:id="rId80"/>
      <p:italic r:id="rId81"/>
      <p:boldItalic r:id="rId8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747775"/>
          </p15:clr>
        </p15:guide>
        <p15:guide id="2" pos="57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8FD2119-6418-421D-A403-E5465F0AB291}">
  <a:tblStyle styleId="{48FD2119-6418-421D-A403-E5465F0AB29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D7CE018D-52EF-46E7-B271-E2EB9F12F66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57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font" Target="fonts/RobotoMono-bold.fntdata"/><Relationship Id="rId82" Type="http://schemas.openxmlformats.org/officeDocument/2006/relationships/font" Target="fonts/RobotoMono-boldItalic.fntdata"/><Relationship Id="rId81" Type="http://schemas.openxmlformats.org/officeDocument/2006/relationships/font" Target="fonts/RobotoMon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Poppins-italic.fntdata"/><Relationship Id="rId72" Type="http://schemas.openxmlformats.org/officeDocument/2006/relationships/font" Target="fonts/Poppins-bold.fntdata"/><Relationship Id="rId31" Type="http://schemas.openxmlformats.org/officeDocument/2006/relationships/slide" Target="slides/slide25.xml"/><Relationship Id="rId75" Type="http://schemas.openxmlformats.org/officeDocument/2006/relationships/font" Target="fonts/MontserratMedium-regular.fntdata"/><Relationship Id="rId30" Type="http://schemas.openxmlformats.org/officeDocument/2006/relationships/slide" Target="slides/slide24.xml"/><Relationship Id="rId74" Type="http://schemas.openxmlformats.org/officeDocument/2006/relationships/font" Target="fonts/Poppins-boldItalic.fntdata"/><Relationship Id="rId33" Type="http://schemas.openxmlformats.org/officeDocument/2006/relationships/slide" Target="slides/slide27.xml"/><Relationship Id="rId77" Type="http://schemas.openxmlformats.org/officeDocument/2006/relationships/font" Target="fonts/MontserratMedium-italic.fntdata"/><Relationship Id="rId32" Type="http://schemas.openxmlformats.org/officeDocument/2006/relationships/slide" Target="slides/slide26.xml"/><Relationship Id="rId76" Type="http://schemas.openxmlformats.org/officeDocument/2006/relationships/font" Target="fonts/MontserratMedium-bold.fntdata"/><Relationship Id="rId35" Type="http://schemas.openxmlformats.org/officeDocument/2006/relationships/slide" Target="slides/slide29.xml"/><Relationship Id="rId79" Type="http://schemas.openxmlformats.org/officeDocument/2006/relationships/font" Target="fonts/RobotoMono-regular.fntdata"/><Relationship Id="rId34" Type="http://schemas.openxmlformats.org/officeDocument/2006/relationships/slide" Target="slides/slide28.xml"/><Relationship Id="rId78" Type="http://schemas.openxmlformats.org/officeDocument/2006/relationships/font" Target="fonts/MontserratMedium-boldItalic.fntdata"/><Relationship Id="rId71" Type="http://schemas.openxmlformats.org/officeDocument/2006/relationships/font" Target="fonts/Poppins-regular.fntdata"/><Relationship Id="rId70" Type="http://schemas.openxmlformats.org/officeDocument/2006/relationships/font" Target="fonts/Montserrat-boldItalic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font" Target="fonts/Roboto-bold.fntdata"/><Relationship Id="rId63" Type="http://schemas.openxmlformats.org/officeDocument/2006/relationships/font" Target="fonts/Roboto-regular.fntdata"/><Relationship Id="rId22" Type="http://schemas.openxmlformats.org/officeDocument/2006/relationships/slide" Target="slides/slide16.xml"/><Relationship Id="rId66" Type="http://schemas.openxmlformats.org/officeDocument/2006/relationships/font" Target="fonts/Roboto-boldItalic.fntdata"/><Relationship Id="rId21" Type="http://schemas.openxmlformats.org/officeDocument/2006/relationships/slide" Target="slides/slide15.xml"/><Relationship Id="rId65" Type="http://schemas.openxmlformats.org/officeDocument/2006/relationships/font" Target="fonts/Roboto-italic.fntdata"/><Relationship Id="rId24" Type="http://schemas.openxmlformats.org/officeDocument/2006/relationships/slide" Target="slides/slide18.xml"/><Relationship Id="rId68" Type="http://schemas.openxmlformats.org/officeDocument/2006/relationships/font" Target="fonts/Montserrat-bold.fntdata"/><Relationship Id="rId23" Type="http://schemas.openxmlformats.org/officeDocument/2006/relationships/slide" Target="slides/slide17.xml"/><Relationship Id="rId67" Type="http://schemas.openxmlformats.org/officeDocument/2006/relationships/font" Target="fonts/Montserrat-regular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Montserrat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kids.cmsmasters.studio/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logisk.wowtheme7.com/about/" TargetMode="Externa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logisk.wowtheme7.com/about/" TargetMode="Externa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logisk.wowtheme7.com/about/" TargetMode="Externa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logisk.wowtheme7.com/about/" TargetMode="Externa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logisk.wowtheme7.com/about/" TargetMode="Externa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logisk.wowtheme7.com/about/" TargetMode="Externa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logisk.wowtheme7.com/about/" TargetMode="Externa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logisk.wowtheme7.com/about/" TargetMode="Externa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9d9bd2743b_0_0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9d9bd274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9d9bd2743b_0_5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9d9bd2743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9d9bd2743b_0_25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9d9bd2743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595959"/>
                </a:solidFill>
              </a:rPr>
              <a:t>Template selected by client</a:t>
            </a:r>
            <a:endParaRPr sz="2100">
              <a:solidFill>
                <a:srgbClr val="59595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 u="sng">
                <a:solidFill>
                  <a:schemeClr val="hlink"/>
                </a:solidFill>
                <a:hlinkClick r:id="rId2"/>
              </a:rPr>
              <a:t>http://kids.cmsmasters.studio/</a:t>
            </a:r>
            <a:r>
              <a:rPr lang="en" sz="2100"/>
              <a:t>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83cb425fd5_0_1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83cb425fd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3cb425fd5_0_10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83cb425fd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9d9bd2743b_0_32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9d9bd2743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9d9bd2743b_0_60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9d9bd2743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9d9bd2743b_0_67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9d9bd2743b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5ed790fbad_1_18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5ed790fbad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5596bbd75c_0_61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5596bbd75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76a0ad59b_0_137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d76a0ad59b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5fd0a7f726_0_0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5fd0a7f7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Creating Beautiful Smiles with Aloha Dental.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564e790b5b_0_24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564e790b5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https://logisk.wowtheme7.com/about/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5fd0a7f726_0_80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5fd0a7f726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5ed790fbad_1_140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5ed790fbad_1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Creating Beautiful Smiles with Aloha Dental. 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e908826616_0_117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e908826616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e908826616_0_78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e908826616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e908826616_0_95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e908826616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e908826616_0_148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e908826616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Creating Beautiful Smiles with Aloha Dental. 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e908826616_0_186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e908826616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e908826616_1_74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e908826616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e908826616_1_101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e908826616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Creating Beautiful Smiles with Aloha Dental. 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67c2cf9162_0_0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67c2cf91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https://logisk.wowtheme7.com/about/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d76a0ad59b_0_448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3d76a0ad59b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d76a0ad59b_0_578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d76a0ad59b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https://logisk.wowtheme7.com/about/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d76a0ad59b_0_583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d76a0ad59b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d76a0ad59b_0_615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d76a0ad59b_0_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d76a0ad59b_0_490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3d76a0ad59b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https://logisk.wowtheme7.com/about/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ecac355ccf_0_1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ecac355cc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d76a0ad59b_0_546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3d76a0ad59b_0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e908826616_1_128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3e908826616_1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e908826616_1_155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3e908826616_1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Creating Beautiful Smiles with Aloha Dental. 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d76a0ad59b_0_652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3d76a0ad59b_0_6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https://logisk.wowtheme7.com/about/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e908826616_0_222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3e908826616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3e908826616_1_192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3e908826616_1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https://logisk.wowtheme7.com/about/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e908826616_0_29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3e90882661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3e908826616_1_225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3e908826616_1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e908826616_1_248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3e908826616_1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e908826616_1_253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6" name="Google Shape;846;g3e908826616_1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e908826616_1_280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3e908826616_1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Creating Beautiful Smiles with Aloha Dental. 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3e908826616_1_310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3e908826616_1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https://logisk.wowtheme7.com/about/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e908826616_1_315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3e908826616_1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3e908826616_1_343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3e908826616_1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3d76a0ad59b_0_818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3d76a0ad59b_0_8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https://logisk.wowtheme7.com/about/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3d76a0ad59b_0_823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3d76a0ad59b_0_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3d76a0ad59b_0_874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3d76a0ad59b_0_8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35f1a9fd18a_0_202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35f1a9fd18a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35f1a9fd18a_0_207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4" name="Google Shape;1014;g35f1a9fd18a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355f3b2bbcf_0_43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355f3b2bbc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3d76a0ad59b_0_913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0" name="Google Shape;1070;g3d76a0ad59b_0_9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g3e2da77a737_0_5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3" name="Google Shape;1103;g3e2da77a73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3d76a0ad59b_0_908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6" name="Google Shape;1116;g3d76a0ad59b_0_9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355f3b2bbcf_0_48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2" name="Google Shape;1122;g355f3b2bbcf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3d76a0ad59b_0_990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5" name="Google Shape;1145;g3d76a0ad59b_0_9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29d9bd2743b_0_381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4" name="Google Shape;1174;g29d9bd2743b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g307e9415832_2_0:notes"/>
          <p:cNvSpPr/>
          <p:nvPr>
            <p:ph idx="2" type="sldImg"/>
          </p:nvPr>
        </p:nvSpPr>
        <p:spPr>
          <a:xfrm>
            <a:off x="300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0" name="Google Shape;1180;g307e941583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23417" y="1323689"/>
            <a:ext cx="17041200" cy="3649200"/>
          </a:xfrm>
          <a:prstGeom prst="rect">
            <a:avLst/>
          </a:prstGeom>
        </p:spPr>
        <p:txBody>
          <a:bodyPr anchorCtr="0" anchor="b" bIns="176075" lIns="176075" spcFirstLastPara="1" rIns="176075" wrap="square" tIns="1760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23400" y="5038444"/>
            <a:ext cx="17041200" cy="1409100"/>
          </a:xfrm>
          <a:prstGeom prst="rect">
            <a:avLst/>
          </a:prstGeom>
        </p:spPr>
        <p:txBody>
          <a:bodyPr anchorCtr="0" anchor="t" bIns="176075" lIns="176075" spcFirstLastPara="1" rIns="176075" wrap="square" tIns="1760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6944916" y="8290163"/>
            <a:ext cx="1097400" cy="699600"/>
          </a:xfrm>
          <a:prstGeom prst="rect">
            <a:avLst/>
          </a:prstGeom>
        </p:spPr>
        <p:txBody>
          <a:bodyPr anchorCtr="0" anchor="ctr" bIns="176075" lIns="176075" spcFirstLastPara="1" rIns="176075" wrap="square" tIns="1760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623400" y="3823733"/>
            <a:ext cx="17041200" cy="1496400"/>
          </a:xfrm>
          <a:prstGeom prst="rect">
            <a:avLst/>
          </a:prstGeom>
        </p:spPr>
        <p:txBody>
          <a:bodyPr anchorCtr="0" anchor="ctr" bIns="176075" lIns="176075" spcFirstLastPara="1" rIns="176075" wrap="square" tIns="1760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6944916" y="8290163"/>
            <a:ext cx="1097400" cy="699600"/>
          </a:xfrm>
          <a:prstGeom prst="rect">
            <a:avLst/>
          </a:prstGeom>
        </p:spPr>
        <p:txBody>
          <a:bodyPr anchorCtr="0" anchor="ctr" bIns="176075" lIns="176075" spcFirstLastPara="1" rIns="176075" wrap="square" tIns="1760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623400" y="791156"/>
            <a:ext cx="17041200" cy="1018200"/>
          </a:xfrm>
          <a:prstGeom prst="rect">
            <a:avLst/>
          </a:prstGeom>
        </p:spPr>
        <p:txBody>
          <a:bodyPr anchorCtr="0" anchor="t" bIns="176075" lIns="176075" spcFirstLastPara="1" rIns="176075" wrap="square" tIns="1760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623400" y="2048844"/>
            <a:ext cx="17041200" cy="6073500"/>
          </a:xfrm>
          <a:prstGeom prst="rect">
            <a:avLst/>
          </a:prstGeom>
        </p:spPr>
        <p:txBody>
          <a:bodyPr anchorCtr="0" anchor="t" bIns="176075" lIns="176075" spcFirstLastPara="1" rIns="176075" wrap="square" tIns="176075">
            <a:norm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indent="-400050" lvl="1" marL="91440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2pPr>
            <a:lvl3pPr indent="-400050" lvl="2" marL="137160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3pPr>
            <a:lvl4pPr indent="-400050" lvl="3" marL="1828800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4pPr>
            <a:lvl5pPr indent="-400050" lvl="4" marL="228600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5pPr>
            <a:lvl6pPr indent="-400050" lvl="5" marL="274320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6pPr>
            <a:lvl7pPr indent="-400050" lvl="6" marL="3200400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7pPr>
            <a:lvl8pPr indent="-400050" lvl="7" marL="365760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8pPr>
            <a:lvl9pPr indent="-400050" lvl="8" marL="411480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6944916" y="8290163"/>
            <a:ext cx="1097400" cy="699600"/>
          </a:xfrm>
          <a:prstGeom prst="rect">
            <a:avLst/>
          </a:prstGeom>
        </p:spPr>
        <p:txBody>
          <a:bodyPr anchorCtr="0" anchor="ctr" bIns="176075" lIns="176075" spcFirstLastPara="1" rIns="176075" wrap="square" tIns="1760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623400" y="791156"/>
            <a:ext cx="17041200" cy="1018200"/>
          </a:xfrm>
          <a:prstGeom prst="rect">
            <a:avLst/>
          </a:prstGeom>
        </p:spPr>
        <p:txBody>
          <a:bodyPr anchorCtr="0" anchor="t" bIns="176075" lIns="176075" spcFirstLastPara="1" rIns="176075" wrap="square" tIns="1760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623400" y="2048844"/>
            <a:ext cx="7999800" cy="6073500"/>
          </a:xfrm>
          <a:prstGeom prst="rect">
            <a:avLst/>
          </a:prstGeom>
        </p:spPr>
        <p:txBody>
          <a:bodyPr anchorCtr="0" anchor="t" bIns="176075" lIns="176075" spcFirstLastPara="1" rIns="176075" wrap="square" tIns="176075">
            <a:normAutofit/>
          </a:bodyPr>
          <a:lstStyle>
            <a:lvl1pPr indent="-400050" lvl="0" marL="457200">
              <a:spcBef>
                <a:spcPts val="0"/>
              </a:spcBef>
              <a:spcAft>
                <a:spcPts val="0"/>
              </a:spcAft>
              <a:buSzPts val="2700"/>
              <a:buChar char="●"/>
              <a:defRPr sz="2700"/>
            </a:lvl1pPr>
            <a:lvl2pPr indent="-374650" lvl="1" marL="9144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2pPr>
            <a:lvl3pPr indent="-374650" lvl="2" marL="13716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3pPr>
            <a:lvl4pPr indent="-374650" lvl="3" marL="182880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4pPr>
            <a:lvl5pPr indent="-374650" lvl="4" marL="22860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5pPr>
            <a:lvl6pPr indent="-374650" lvl="5" marL="27432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6pPr>
            <a:lvl7pPr indent="-374650" lvl="6" marL="320040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7pPr>
            <a:lvl8pPr indent="-374650" lvl="7" marL="36576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8pPr>
            <a:lvl9pPr indent="-374650" lvl="8" marL="41148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9664800" y="2048844"/>
            <a:ext cx="7999800" cy="6073500"/>
          </a:xfrm>
          <a:prstGeom prst="rect">
            <a:avLst/>
          </a:prstGeom>
        </p:spPr>
        <p:txBody>
          <a:bodyPr anchorCtr="0" anchor="t" bIns="176075" lIns="176075" spcFirstLastPara="1" rIns="176075" wrap="square" tIns="176075">
            <a:normAutofit/>
          </a:bodyPr>
          <a:lstStyle>
            <a:lvl1pPr indent="-400050" lvl="0" marL="457200">
              <a:spcBef>
                <a:spcPts val="0"/>
              </a:spcBef>
              <a:spcAft>
                <a:spcPts val="0"/>
              </a:spcAft>
              <a:buSzPts val="2700"/>
              <a:buChar char="●"/>
              <a:defRPr sz="2700"/>
            </a:lvl1pPr>
            <a:lvl2pPr indent="-374650" lvl="1" marL="9144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2pPr>
            <a:lvl3pPr indent="-374650" lvl="2" marL="13716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3pPr>
            <a:lvl4pPr indent="-374650" lvl="3" marL="182880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4pPr>
            <a:lvl5pPr indent="-374650" lvl="4" marL="22860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5pPr>
            <a:lvl6pPr indent="-374650" lvl="5" marL="27432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6pPr>
            <a:lvl7pPr indent="-374650" lvl="6" marL="320040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7pPr>
            <a:lvl8pPr indent="-374650" lvl="7" marL="36576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8pPr>
            <a:lvl9pPr indent="-374650" lvl="8" marL="41148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6944916" y="8290163"/>
            <a:ext cx="1097400" cy="699600"/>
          </a:xfrm>
          <a:prstGeom prst="rect">
            <a:avLst/>
          </a:prstGeom>
        </p:spPr>
        <p:txBody>
          <a:bodyPr anchorCtr="0" anchor="ctr" bIns="176075" lIns="176075" spcFirstLastPara="1" rIns="176075" wrap="square" tIns="1760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623400" y="791156"/>
            <a:ext cx="17041200" cy="1018200"/>
          </a:xfrm>
          <a:prstGeom prst="rect">
            <a:avLst/>
          </a:prstGeom>
        </p:spPr>
        <p:txBody>
          <a:bodyPr anchorCtr="0" anchor="t" bIns="176075" lIns="176075" spcFirstLastPara="1" rIns="176075" wrap="square" tIns="1760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6944916" y="8290163"/>
            <a:ext cx="1097400" cy="699600"/>
          </a:xfrm>
          <a:prstGeom prst="rect">
            <a:avLst/>
          </a:prstGeom>
        </p:spPr>
        <p:txBody>
          <a:bodyPr anchorCtr="0" anchor="ctr" bIns="176075" lIns="176075" spcFirstLastPara="1" rIns="176075" wrap="square" tIns="1760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623400" y="987733"/>
            <a:ext cx="5616000" cy="1343400"/>
          </a:xfrm>
          <a:prstGeom prst="rect">
            <a:avLst/>
          </a:prstGeom>
        </p:spPr>
        <p:txBody>
          <a:bodyPr anchorCtr="0" anchor="b" bIns="176075" lIns="176075" spcFirstLastPara="1" rIns="176075" wrap="square" tIns="1760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623400" y="2470400"/>
            <a:ext cx="5616000" cy="5652300"/>
          </a:xfrm>
          <a:prstGeom prst="rect">
            <a:avLst/>
          </a:prstGeom>
        </p:spPr>
        <p:txBody>
          <a:bodyPr anchorCtr="0" anchor="t" bIns="176075" lIns="176075" spcFirstLastPara="1" rIns="176075" wrap="square" tIns="176075">
            <a:normAutofit/>
          </a:bodyPr>
          <a:lstStyle>
            <a:lvl1pPr indent="-374650" lvl="0" marL="45720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indent="-374650" lvl="1" marL="9144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2pPr>
            <a:lvl3pPr indent="-374650" lvl="2" marL="13716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3pPr>
            <a:lvl4pPr indent="-374650" lvl="3" marL="182880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4pPr>
            <a:lvl5pPr indent="-374650" lvl="4" marL="22860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5pPr>
            <a:lvl6pPr indent="-374650" lvl="5" marL="27432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6pPr>
            <a:lvl7pPr indent="-374650" lvl="6" marL="320040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7pPr>
            <a:lvl8pPr indent="-374650" lvl="7" marL="3657600">
              <a:spcBef>
                <a:spcPts val="0"/>
              </a:spcBef>
              <a:spcAft>
                <a:spcPts val="0"/>
              </a:spcAft>
              <a:buSzPts val="2300"/>
              <a:buChar char="○"/>
              <a:defRPr sz="2300"/>
            </a:lvl8pPr>
            <a:lvl9pPr indent="-374650" lvl="8" marL="4114800">
              <a:spcBef>
                <a:spcPts val="0"/>
              </a:spcBef>
              <a:spcAft>
                <a:spcPts val="0"/>
              </a:spcAft>
              <a:buSzPts val="2300"/>
              <a:buChar char="■"/>
              <a:defRPr sz="23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6944916" y="8290163"/>
            <a:ext cx="1097400" cy="699600"/>
          </a:xfrm>
          <a:prstGeom prst="rect">
            <a:avLst/>
          </a:prstGeom>
        </p:spPr>
        <p:txBody>
          <a:bodyPr anchorCtr="0" anchor="ctr" bIns="176075" lIns="176075" spcFirstLastPara="1" rIns="176075" wrap="square" tIns="1760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980500" y="800267"/>
            <a:ext cx="12735600" cy="7272600"/>
          </a:xfrm>
          <a:prstGeom prst="rect">
            <a:avLst/>
          </a:prstGeom>
        </p:spPr>
        <p:txBody>
          <a:bodyPr anchorCtr="0" anchor="ctr" bIns="176075" lIns="176075" spcFirstLastPara="1" rIns="176075" wrap="square" tIns="1760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1pPr>
            <a:lvl2pPr lvl="1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2pPr>
            <a:lvl3pPr lvl="2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3pPr>
            <a:lvl4pPr lvl="3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4pPr>
            <a:lvl5pPr lvl="4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5pPr>
            <a:lvl6pPr lvl="5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6pPr>
            <a:lvl7pPr lvl="6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7pPr>
            <a:lvl8pPr lvl="7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8pPr>
            <a:lvl9pPr lvl="8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6944916" y="8290163"/>
            <a:ext cx="1097400" cy="699600"/>
          </a:xfrm>
          <a:prstGeom prst="rect">
            <a:avLst/>
          </a:prstGeom>
        </p:spPr>
        <p:txBody>
          <a:bodyPr anchorCtr="0" anchor="ctr" bIns="176075" lIns="176075" spcFirstLastPara="1" rIns="176075" wrap="square" tIns="1760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9144000" y="-222"/>
            <a:ext cx="9144000" cy="91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531000" y="2192311"/>
            <a:ext cx="8090400" cy="2635200"/>
          </a:xfrm>
          <a:prstGeom prst="rect">
            <a:avLst/>
          </a:prstGeom>
        </p:spPr>
        <p:txBody>
          <a:bodyPr anchorCtr="0" anchor="b" bIns="176075" lIns="176075" spcFirstLastPara="1" rIns="176075" wrap="square" tIns="1760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1pPr>
            <a:lvl2pPr lvl="1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2pPr>
            <a:lvl3pPr lvl="2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3pPr>
            <a:lvl4pPr lvl="3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4pPr>
            <a:lvl5pPr lvl="4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5pPr>
            <a:lvl6pPr lvl="5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6pPr>
            <a:lvl7pPr lvl="6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7pPr>
            <a:lvl8pPr lvl="7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8pPr>
            <a:lvl9pPr lvl="8" algn="ctr">
              <a:spcBef>
                <a:spcPts val="0"/>
              </a:spcBef>
              <a:spcAft>
                <a:spcPts val="0"/>
              </a:spcAft>
              <a:buSzPts val="8100"/>
              <a:buNone/>
              <a:defRPr sz="81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531000" y="4983244"/>
            <a:ext cx="8090400" cy="2195700"/>
          </a:xfrm>
          <a:prstGeom prst="rect">
            <a:avLst/>
          </a:prstGeom>
        </p:spPr>
        <p:txBody>
          <a:bodyPr anchorCtr="0" anchor="t" bIns="176075" lIns="176075" spcFirstLastPara="1" rIns="176075" wrap="square" tIns="1760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9879000" y="1287244"/>
            <a:ext cx="7674000" cy="6569100"/>
          </a:xfrm>
          <a:prstGeom prst="rect">
            <a:avLst/>
          </a:prstGeom>
        </p:spPr>
        <p:txBody>
          <a:bodyPr anchorCtr="0" anchor="ctr" bIns="176075" lIns="176075" spcFirstLastPara="1" rIns="176075" wrap="square" tIns="176075">
            <a:norm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indent="-400050" lvl="1" marL="91440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2pPr>
            <a:lvl3pPr indent="-400050" lvl="2" marL="137160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3pPr>
            <a:lvl4pPr indent="-400050" lvl="3" marL="1828800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4pPr>
            <a:lvl5pPr indent="-400050" lvl="4" marL="228600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5pPr>
            <a:lvl6pPr indent="-400050" lvl="5" marL="274320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6pPr>
            <a:lvl7pPr indent="-400050" lvl="6" marL="3200400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7pPr>
            <a:lvl8pPr indent="-400050" lvl="7" marL="3657600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8pPr>
            <a:lvl9pPr indent="-400050" lvl="8" marL="4114800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6944916" y="8290163"/>
            <a:ext cx="1097400" cy="699600"/>
          </a:xfrm>
          <a:prstGeom prst="rect">
            <a:avLst/>
          </a:prstGeom>
        </p:spPr>
        <p:txBody>
          <a:bodyPr anchorCtr="0" anchor="ctr" bIns="176075" lIns="176075" spcFirstLastPara="1" rIns="176075" wrap="square" tIns="1760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623400" y="7521022"/>
            <a:ext cx="11997600" cy="1075800"/>
          </a:xfrm>
          <a:prstGeom prst="rect">
            <a:avLst/>
          </a:prstGeom>
        </p:spPr>
        <p:txBody>
          <a:bodyPr anchorCtr="0" anchor="ctr" bIns="176075" lIns="176075" spcFirstLastPara="1" rIns="176075" wrap="square" tIns="17607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6944916" y="8290163"/>
            <a:ext cx="1097400" cy="699600"/>
          </a:xfrm>
          <a:prstGeom prst="rect">
            <a:avLst/>
          </a:prstGeom>
        </p:spPr>
        <p:txBody>
          <a:bodyPr anchorCtr="0" anchor="ctr" bIns="176075" lIns="176075" spcFirstLastPara="1" rIns="176075" wrap="square" tIns="1760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623400" y="1966444"/>
            <a:ext cx="17041200" cy="3490800"/>
          </a:xfrm>
          <a:prstGeom prst="rect">
            <a:avLst/>
          </a:prstGeom>
        </p:spPr>
        <p:txBody>
          <a:bodyPr anchorCtr="0" anchor="b" bIns="176075" lIns="176075" spcFirstLastPara="1" rIns="176075" wrap="square" tIns="1760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100"/>
              <a:buNone/>
              <a:defRPr sz="23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3100"/>
              <a:buNone/>
              <a:defRPr sz="23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3100"/>
              <a:buNone/>
              <a:defRPr sz="23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3100"/>
              <a:buNone/>
              <a:defRPr sz="23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3100"/>
              <a:buNone/>
              <a:defRPr sz="23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3100"/>
              <a:buNone/>
              <a:defRPr sz="23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3100"/>
              <a:buNone/>
              <a:defRPr sz="23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3100"/>
              <a:buNone/>
              <a:defRPr sz="23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3100"/>
              <a:buNone/>
              <a:defRPr sz="231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623400" y="5603956"/>
            <a:ext cx="17041200" cy="2312400"/>
          </a:xfrm>
          <a:prstGeom prst="rect">
            <a:avLst/>
          </a:prstGeom>
        </p:spPr>
        <p:txBody>
          <a:bodyPr anchorCtr="0" anchor="t" bIns="176075" lIns="176075" spcFirstLastPara="1" rIns="176075" wrap="square" tIns="176075">
            <a:normAutofit/>
          </a:bodyPr>
          <a:lstStyle>
            <a:lvl1pPr indent="-450850" lvl="0" marL="457200" algn="ctr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indent="-400050" lvl="1" marL="914400" algn="ctr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2pPr>
            <a:lvl3pPr indent="-400050" lvl="2" marL="1371600" algn="ctr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3pPr>
            <a:lvl4pPr indent="-400050" lvl="3" marL="1828800" algn="ctr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4pPr>
            <a:lvl5pPr indent="-400050" lvl="4" marL="2286000" algn="ctr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5pPr>
            <a:lvl6pPr indent="-400050" lvl="5" marL="2743200" algn="ctr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6pPr>
            <a:lvl7pPr indent="-400050" lvl="6" marL="3200400" algn="ctr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7pPr>
            <a:lvl8pPr indent="-400050" lvl="7" marL="3657600" algn="ctr">
              <a:spcBef>
                <a:spcPts val="0"/>
              </a:spcBef>
              <a:spcAft>
                <a:spcPts val="0"/>
              </a:spcAft>
              <a:buSzPts val="2700"/>
              <a:buChar char="○"/>
              <a:defRPr/>
            </a:lvl8pPr>
            <a:lvl9pPr indent="-400050" lvl="8" marL="4114800" algn="ctr">
              <a:spcBef>
                <a:spcPts val="0"/>
              </a:spcBef>
              <a:spcAft>
                <a:spcPts val="0"/>
              </a:spcAft>
              <a:buSzPts val="2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6944916" y="8290163"/>
            <a:ext cx="1097400" cy="699600"/>
          </a:xfrm>
          <a:prstGeom prst="rect">
            <a:avLst/>
          </a:prstGeom>
        </p:spPr>
        <p:txBody>
          <a:bodyPr anchorCtr="0" anchor="ctr" bIns="176075" lIns="176075" spcFirstLastPara="1" rIns="176075" wrap="square" tIns="1760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6944916" y="8290163"/>
            <a:ext cx="1097400" cy="699600"/>
          </a:xfrm>
          <a:prstGeom prst="rect">
            <a:avLst/>
          </a:prstGeom>
        </p:spPr>
        <p:txBody>
          <a:bodyPr anchorCtr="0" anchor="ctr" bIns="176075" lIns="176075" spcFirstLastPara="1" rIns="176075" wrap="square" tIns="1760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3400" y="791156"/>
            <a:ext cx="170412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3400" y="2048844"/>
            <a:ext cx="170412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rmAutofit/>
          </a:bodyPr>
          <a:lstStyle>
            <a:lvl1pPr indent="-4508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Char char="●"/>
              <a:defRPr sz="3500">
                <a:solidFill>
                  <a:schemeClr val="dk2"/>
                </a:solidFill>
              </a:defRPr>
            </a:lvl1pPr>
            <a:lvl2pPr indent="-4000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○"/>
              <a:defRPr sz="2700">
                <a:solidFill>
                  <a:schemeClr val="dk2"/>
                </a:solidFill>
              </a:defRPr>
            </a:lvl2pPr>
            <a:lvl3pPr indent="-4000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■"/>
              <a:defRPr sz="2700">
                <a:solidFill>
                  <a:schemeClr val="dk2"/>
                </a:solidFill>
              </a:defRPr>
            </a:lvl3pPr>
            <a:lvl4pPr indent="-4000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●"/>
              <a:defRPr sz="2700">
                <a:solidFill>
                  <a:schemeClr val="dk2"/>
                </a:solidFill>
              </a:defRPr>
            </a:lvl4pPr>
            <a:lvl5pPr indent="-4000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○"/>
              <a:defRPr sz="2700">
                <a:solidFill>
                  <a:schemeClr val="dk2"/>
                </a:solidFill>
              </a:defRPr>
            </a:lvl5pPr>
            <a:lvl6pPr indent="-4000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■"/>
              <a:defRPr sz="2700">
                <a:solidFill>
                  <a:schemeClr val="dk2"/>
                </a:solidFill>
              </a:defRPr>
            </a:lvl6pPr>
            <a:lvl7pPr indent="-4000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●"/>
              <a:defRPr sz="2700">
                <a:solidFill>
                  <a:schemeClr val="dk2"/>
                </a:solidFill>
              </a:defRPr>
            </a:lvl7pPr>
            <a:lvl8pPr indent="-4000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○"/>
              <a:defRPr sz="2700">
                <a:solidFill>
                  <a:schemeClr val="dk2"/>
                </a:solidFill>
              </a:defRPr>
            </a:lvl8pPr>
            <a:lvl9pPr indent="-4000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Char char="■"/>
              <a:defRPr sz="2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8290163"/>
            <a:ext cx="10974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075" lIns="176075" spcFirstLastPara="1" rIns="176075" wrap="square" tIns="176075">
            <a:normAutofit/>
          </a:bodyPr>
          <a:lstStyle>
            <a:lvl1pPr lvl="0" algn="r">
              <a:buNone/>
              <a:defRPr sz="1900">
                <a:solidFill>
                  <a:schemeClr val="dk2"/>
                </a:solidFill>
              </a:defRPr>
            </a:lvl1pPr>
            <a:lvl2pPr lvl="1" algn="r">
              <a:buNone/>
              <a:defRPr sz="1900">
                <a:solidFill>
                  <a:schemeClr val="dk2"/>
                </a:solidFill>
              </a:defRPr>
            </a:lvl2pPr>
            <a:lvl3pPr lvl="2" algn="r">
              <a:buNone/>
              <a:defRPr sz="1900">
                <a:solidFill>
                  <a:schemeClr val="dk2"/>
                </a:solidFill>
              </a:defRPr>
            </a:lvl3pPr>
            <a:lvl4pPr lvl="3" algn="r">
              <a:buNone/>
              <a:defRPr sz="1900">
                <a:solidFill>
                  <a:schemeClr val="dk2"/>
                </a:solidFill>
              </a:defRPr>
            </a:lvl4pPr>
            <a:lvl5pPr lvl="4" algn="r">
              <a:buNone/>
              <a:defRPr sz="1900">
                <a:solidFill>
                  <a:schemeClr val="dk2"/>
                </a:solidFill>
              </a:defRPr>
            </a:lvl5pPr>
            <a:lvl6pPr lvl="5" algn="r">
              <a:buNone/>
              <a:defRPr sz="1900">
                <a:solidFill>
                  <a:schemeClr val="dk2"/>
                </a:solidFill>
              </a:defRPr>
            </a:lvl6pPr>
            <a:lvl7pPr lvl="6" algn="r">
              <a:buNone/>
              <a:defRPr sz="1900">
                <a:solidFill>
                  <a:schemeClr val="dk2"/>
                </a:solidFill>
              </a:defRPr>
            </a:lvl7pPr>
            <a:lvl8pPr lvl="7" algn="r">
              <a:buNone/>
              <a:defRPr sz="1900">
                <a:solidFill>
                  <a:schemeClr val="dk2"/>
                </a:solidFill>
              </a:defRPr>
            </a:lvl8pPr>
            <a:lvl9pPr lvl="8" algn="r">
              <a:buNone/>
              <a:defRPr sz="19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rive.google.com/file/d/12ZWMqcdASqx56BacGwexD-BtPGYiQyqM/view?usp=sharing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rive.google.com/drive/folders/1HPnHtIVKWpluulL_Eq2mzl64lo5i-GVE?usp=sharing" TargetMode="External"/><Relationship Id="rId4" Type="http://schemas.openxmlformats.org/officeDocument/2006/relationships/hyperlink" Target="https://drive.google.com/drive/folders/1cdJEKgDt2MDWBQ-Sd5gdl_2bksig0wZX?usp=sharing" TargetMode="External"/><Relationship Id="rId5" Type="http://schemas.openxmlformats.org/officeDocument/2006/relationships/hyperlink" Target="https://www.artivitytime.com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share.google/pnzcMwKZ42Gba6Xp5" TargetMode="External"/><Relationship Id="rId4" Type="http://schemas.openxmlformats.org/officeDocument/2006/relationships/hyperlink" Target="https://www.instagram.com/achieversarts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achieversarts.com/contact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ocs.google.com/document/d/1XZTotmI19L3qqWeifwS1BPGSjUP07Xktb7MSWogVzWE/edit?tab=t.44h07ljttmpx" TargetMode="External"/><Relationship Id="rId4" Type="http://schemas.openxmlformats.org/officeDocument/2006/relationships/hyperlink" Target="https://www.achieversarts.com/artclass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achieversarts.com/foundationartcourse" TargetMode="External"/><Relationship Id="rId4" Type="http://schemas.openxmlformats.org/officeDocument/2006/relationships/hyperlink" Target="https://www.achieversarts.com/artventurer" TargetMode="External"/><Relationship Id="rId10" Type="http://schemas.openxmlformats.org/officeDocument/2006/relationships/hyperlink" Target="https://www.achieversarts.com/portfolioart" TargetMode="External"/><Relationship Id="rId9" Type="http://schemas.openxmlformats.org/officeDocument/2006/relationships/hyperlink" Target="https://www.achieversarts.com/juniorfineart" TargetMode="External"/><Relationship Id="rId5" Type="http://schemas.openxmlformats.org/officeDocument/2006/relationships/hyperlink" Target="https://www.achieversarts.com/little-draws" TargetMode="External"/><Relationship Id="rId6" Type="http://schemas.openxmlformats.org/officeDocument/2006/relationships/hyperlink" Target="https://www.achieversarts.com/drawvinci" TargetMode="External"/><Relationship Id="rId7" Type="http://schemas.openxmlformats.org/officeDocument/2006/relationships/hyperlink" Target="https://www.achieversarts.com/canvaswizard" TargetMode="External"/><Relationship Id="rId8" Type="http://schemas.openxmlformats.org/officeDocument/2006/relationships/hyperlink" Target="https://www.achieversarts.com/sketchermaster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www.achieversarts.com/contact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www.achieversarts.com/express-art" TargetMode="External"/><Relationship Id="rId4" Type="http://schemas.openxmlformats.org/officeDocument/2006/relationships/hyperlink" Target="https://www.achieversarts.com/contact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docs.google.com/spreadsheets/d/1YrhrApSyrGJ3N6v7p2WP0eo16NYZtvQxITGKfjruKEw/edit?usp=sharing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www.achieversarts.com/acryliccanvas" TargetMode="External"/><Relationship Id="rId4" Type="http://schemas.openxmlformats.org/officeDocument/2006/relationships/hyperlink" Target="https://www.achieversarts.com/inksncalligraphy" TargetMode="External"/><Relationship Id="rId11" Type="http://schemas.openxmlformats.org/officeDocument/2006/relationships/hyperlink" Target="https://www.achieversarts.com/watercolour" TargetMode="External"/><Relationship Id="rId10" Type="http://schemas.openxmlformats.org/officeDocument/2006/relationships/hyperlink" Target="https://www.achieversarts.com/mangananimem" TargetMode="External"/><Relationship Id="rId12" Type="http://schemas.openxmlformats.org/officeDocument/2006/relationships/hyperlink" Target="https://docs.google.com/document/d/1XZTotmI19L3qqWeifwS1BPGSjUP07Xktb7MSWogVzWE/edit?tab=t.rqng64puso7" TargetMode="External"/><Relationship Id="rId9" Type="http://schemas.openxmlformats.org/officeDocument/2006/relationships/hyperlink" Target="https://www.achieversarts.com/fashion-textile-art" TargetMode="External"/><Relationship Id="rId5" Type="http://schemas.openxmlformats.org/officeDocument/2006/relationships/hyperlink" Target="https://www.achieversarts.com/clayxartivity" TargetMode="External"/><Relationship Id="rId6" Type="http://schemas.openxmlformats.org/officeDocument/2006/relationships/hyperlink" Target="https://www.achieversarts.com/craftsxartivity" TargetMode="External"/><Relationship Id="rId7" Type="http://schemas.openxmlformats.org/officeDocument/2006/relationships/hyperlink" Target="https://www.achieversarts.com/digitalart" TargetMode="External"/><Relationship Id="rId8" Type="http://schemas.openxmlformats.org/officeDocument/2006/relationships/hyperlink" Target="https://www.achieversarts.com/drymedium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www.achieversarts.com/contact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drive.google.com/file/d/1IXbg28u9PDomf3h4XX8Y8qLRlh0ZJ9So/view?usp=drive_link" TargetMode="External"/><Relationship Id="rId4" Type="http://schemas.openxmlformats.org/officeDocument/2006/relationships/hyperlink" Target="https://drive.google.com/file/d/1zdeXYWzujSh9_hdfYZWj1bE2T36wMexh/view?usp=sharing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www.achieversarts.com/camp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docs.google.com/document/d/1XZTotmI19L3qqWeifwS1BPGSjUP07Xktb7MSWogVzWE/edit?tab=t.p1h02z3yov7t" TargetMode="External"/><Relationship Id="rId4" Type="http://schemas.openxmlformats.org/officeDocument/2006/relationships/hyperlink" Target="https://www.achieversarts.com/camp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www.achieversarts.com/artcamp" TargetMode="External"/><Relationship Id="rId4" Type="http://schemas.openxmlformats.org/officeDocument/2006/relationships/hyperlink" Target="https://www.achieversarts.com/craftcamp" TargetMode="External"/><Relationship Id="rId5" Type="http://schemas.openxmlformats.org/officeDocument/2006/relationships/hyperlink" Target="https://www.achieversarts.com/holidaycamp" TargetMode="External"/><Relationship Id="rId6" Type="http://schemas.openxmlformats.org/officeDocument/2006/relationships/hyperlink" Target="https://docs.google.com/document/d/1XZTotmI19L3qqWeifwS1BPGSjUP07Xktb7MSWogVzWE/edit?tab=t.rqng64puso7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www.achieversarts.com/contact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www.achieversarts.com/short-courses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docs.google.com/document/d/1XZTotmI19L3qqWeifwS1BPGSjUP07Xktb7MSWogVzWE/edit?tab=t.eugz8et57tfb" TargetMode="External"/><Relationship Id="rId4" Type="http://schemas.openxmlformats.org/officeDocument/2006/relationships/hyperlink" Target="https://www.achieversarts.com/short-courses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docs.google.com/spreadsheets/d/1YrhrApSyrGJ3N6v7p2WP0eo16NYZtvQxITGKfjruKEw/edit?usp=sharing" TargetMode="Externa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hyperlink" Target="https://drive.google.com/file/d/14Fznh3sNYOc9etb53dJ-qZTR1lC0VXeh/view?usp=drive_link" TargetMode="External"/><Relationship Id="rId4" Type="http://schemas.openxmlformats.org/officeDocument/2006/relationships/hyperlink" Target="mailto:info@achieversarts.com" TargetMode="Externa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hyperlink" Target="https://maps.app.goo.gl/J4xeLVfwB8xGokZn7" TargetMode="External"/><Relationship Id="rId4" Type="http://schemas.openxmlformats.org/officeDocument/2006/relationships/hyperlink" Target="https://maps.app.goo.gl/Dx8AdMfSCq46o5xx6" TargetMode="External"/><Relationship Id="rId5" Type="http://schemas.openxmlformats.org/officeDocument/2006/relationships/hyperlink" Target="https://maps.app.goo.gl/PisTD64PSdpJT3m9A" TargetMode="Externa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hyperlink" Target="https://www.google.com/maps/place/Achievers+Arts+-+Our+Tampines+Hub/@1.3541142,103.9406928,15z/data=!4m5!3m4!1s0x0:0x91e985cad09f0eb5!8m2!3d1.3541142!4d103.9406928?shorturl=1" TargetMode="Externa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hyperlink" Target="https://maps.app.goo.gl/dSSsp3YKuTb7Q8LWA" TargetMode="External"/><Relationship Id="rId4" Type="http://schemas.openxmlformats.org/officeDocument/2006/relationships/hyperlink" Target="https://maps.app.goo.gl/FgiLuAFGmrpVqC8a7" TargetMode="Externa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733425" y="4121833"/>
            <a:ext cx="110124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Achiever's Art </a:t>
            </a:r>
            <a:r>
              <a:rPr b="1" lang="en" sz="27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Website Project</a:t>
            </a:r>
            <a:endParaRPr b="1" sz="27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19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SITE MAP + CONTENT SKELETON + WEB LAYOUT </a:t>
            </a:r>
            <a:endParaRPr sz="19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637800" y="8100267"/>
            <a:ext cx="110124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PREPARED BY ETHOS</a:t>
            </a:r>
            <a:endParaRPr sz="19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671400" y="535156"/>
            <a:ext cx="79338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5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[ Important Note ]</a:t>
            </a:r>
            <a:endParaRPr sz="25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br>
              <a:rPr lang="en" sz="25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25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Dear Clients, please note that in this round, we are using image mockups and web structures to create this proposal. They are for visualization purposes only and </a:t>
            </a:r>
            <a:r>
              <a:rPr b="1" lang="en" sz="25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are not </a:t>
            </a:r>
            <a:r>
              <a:rPr lang="en" sz="25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meant to be final visual proposals.</a:t>
            </a:r>
            <a:endParaRPr sz="25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25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For this proposal, do comment on:</a:t>
            </a:r>
            <a:endParaRPr sz="21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565150" lvl="0" marL="876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100"/>
              <a:buFont typeface="Montserrat"/>
              <a:buAutoNum type="arabicParenR"/>
            </a:pPr>
            <a:r>
              <a:rPr b="1" lang="en" sz="21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The Sitemap</a:t>
            </a:r>
            <a:r>
              <a:rPr lang="en" sz="21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 - if this is aligned to your expectations in terms of the pages &amp; tabs.</a:t>
            </a:r>
            <a:endParaRPr sz="21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565150" lvl="0" marL="876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100"/>
              <a:buFont typeface="Montserrat"/>
              <a:buAutoNum type="arabicParenR"/>
            </a:pPr>
            <a:r>
              <a:rPr b="1" lang="en" sz="21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The Layout</a:t>
            </a:r>
            <a:r>
              <a:rPr lang="en" sz="21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 - if this is aligned to your expectations in terms of the site structure (i.e position of tabs, content etc)</a:t>
            </a:r>
            <a:endParaRPr sz="21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565150" lvl="0" marL="876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100"/>
              <a:buFont typeface="Montserrat"/>
              <a:buAutoNum type="arabicParenR"/>
            </a:pPr>
            <a:r>
              <a:rPr b="1" lang="en" sz="21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The Content Skeleton</a:t>
            </a:r>
            <a:r>
              <a:rPr lang="en" sz="21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 - if this is aligned to your expectations in terms of the content of the website.</a:t>
            </a:r>
            <a:endParaRPr sz="21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27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27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3637800" y="8100267"/>
            <a:ext cx="110124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19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PREPARED BY ETHOS </a:t>
            </a:r>
            <a:endParaRPr sz="19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19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9513150" y="535156"/>
            <a:ext cx="79338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marR="76200" rtl="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300">
                <a:solidFill>
                  <a:srgbClr val="B7B7B7"/>
                </a:solidFill>
              </a:rPr>
              <a:t>[ 重要的提示 ]</a:t>
            </a:r>
            <a:endParaRPr sz="2300"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2900">
                <a:solidFill>
                  <a:srgbClr val="B7B7B7"/>
                </a:solidFill>
              </a:rPr>
            </a:br>
            <a:r>
              <a:rPr lang="en" sz="2500">
                <a:solidFill>
                  <a:srgbClr val="B7B7B7"/>
                </a:solidFill>
              </a:rPr>
              <a:t>至尊</a:t>
            </a:r>
            <a:r>
              <a:rPr lang="en" sz="2500">
                <a:solidFill>
                  <a:srgbClr val="B7B7B7"/>
                </a:solidFill>
              </a:rPr>
              <a:t>的</a:t>
            </a:r>
            <a:r>
              <a:rPr lang="en" sz="2500">
                <a:solidFill>
                  <a:srgbClr val="B7B7B7"/>
                </a:solidFill>
              </a:rPr>
              <a:t>客户</a:t>
            </a:r>
            <a:r>
              <a:rPr lang="en" sz="2500">
                <a:solidFill>
                  <a:srgbClr val="B7B7B7"/>
                </a:solidFill>
              </a:rPr>
              <a:t>，请注意，在这一轮中，我们使用图像模型和网页模板来创建此提案。它们仅用于可视化目的，</a:t>
            </a:r>
            <a:r>
              <a:rPr b="1" lang="en" sz="2500">
                <a:solidFill>
                  <a:srgbClr val="B7B7B7"/>
                </a:solidFill>
              </a:rPr>
              <a:t>并不</a:t>
            </a:r>
            <a:r>
              <a:rPr lang="en" sz="2500">
                <a:solidFill>
                  <a:srgbClr val="B7B7B7"/>
                </a:solidFill>
              </a:rPr>
              <a:t>意味着最终的视觉建议。</a:t>
            </a:r>
            <a:endParaRPr sz="2500"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B7B7B7"/>
                </a:solidFill>
              </a:rPr>
              <a:t>对于此提案，请评论：</a:t>
            </a:r>
            <a:endParaRPr sz="2300">
              <a:solidFill>
                <a:srgbClr val="B7B7B7"/>
              </a:solidFill>
            </a:endParaRPr>
          </a:p>
          <a:p>
            <a:pPr indent="-577850" lvl="0" marL="876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300"/>
              <a:buAutoNum type="arabicParenR"/>
            </a:pPr>
            <a:r>
              <a:rPr b="1" lang="en" sz="2300">
                <a:solidFill>
                  <a:srgbClr val="B7B7B7"/>
                </a:solidFill>
              </a:rPr>
              <a:t>站点地图 </a:t>
            </a:r>
            <a:r>
              <a:rPr lang="en" sz="2300">
                <a:solidFill>
                  <a:srgbClr val="B7B7B7"/>
                </a:solidFill>
              </a:rPr>
              <a:t>- 如果这符合您对页面和选项卡</a:t>
            </a:r>
            <a:endParaRPr sz="2300">
              <a:solidFill>
                <a:srgbClr val="B7B7B7"/>
              </a:solidFill>
            </a:endParaRPr>
          </a:p>
          <a:p>
            <a:pPr indent="0" lvl="0" marL="876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B7B7B7"/>
                </a:solidFill>
              </a:rPr>
              <a:t>的期望。</a:t>
            </a:r>
            <a:endParaRPr sz="2300">
              <a:solidFill>
                <a:srgbClr val="B7B7B7"/>
              </a:solidFill>
            </a:endParaRPr>
          </a:p>
          <a:p>
            <a:pPr indent="-577850" lvl="0" marL="876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300"/>
              <a:buAutoNum type="arabicParenR"/>
            </a:pPr>
            <a:r>
              <a:rPr b="1" lang="en" sz="2300">
                <a:solidFill>
                  <a:srgbClr val="B7B7B7"/>
                </a:solidFill>
              </a:rPr>
              <a:t>布局</a:t>
            </a:r>
            <a:r>
              <a:rPr lang="en" sz="2300">
                <a:solidFill>
                  <a:srgbClr val="B7B7B7"/>
                </a:solidFill>
              </a:rPr>
              <a:t> - 如果这符合您在网站结构方面的期望（即选项卡、内容等的位置）</a:t>
            </a:r>
            <a:endParaRPr sz="2300">
              <a:solidFill>
                <a:srgbClr val="B7B7B7"/>
              </a:solidFill>
            </a:endParaRPr>
          </a:p>
          <a:p>
            <a:pPr indent="-577850" lvl="0" marL="8763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2300"/>
              <a:buAutoNum type="arabicParenR"/>
            </a:pPr>
            <a:r>
              <a:rPr b="1" lang="en" sz="2300">
                <a:solidFill>
                  <a:srgbClr val="B7B7B7"/>
                </a:solidFill>
              </a:rPr>
              <a:t>内容骨架</a:t>
            </a:r>
            <a:r>
              <a:rPr lang="en" sz="2300">
                <a:solidFill>
                  <a:srgbClr val="B7B7B7"/>
                </a:solidFill>
              </a:rPr>
              <a:t> - 如果这符合您对网站内容的期望。</a:t>
            </a:r>
            <a:endParaRPr sz="8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13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13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0"/>
            <a:ext cx="18288000" cy="9301651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/>
          <p:nvPr/>
        </p:nvSpPr>
        <p:spPr>
          <a:xfrm>
            <a:off x="5387700" y="4183200"/>
            <a:ext cx="7512600" cy="7776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69" name="Google Shape;69;p15"/>
          <p:cNvSpPr txBox="1"/>
          <p:nvPr/>
        </p:nvSpPr>
        <p:spPr>
          <a:xfrm>
            <a:off x="3637800" y="4183200"/>
            <a:ext cx="110124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7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SITEMAP</a:t>
            </a:r>
            <a:endParaRPr b="1" sz="33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3637800" y="8394444"/>
            <a:ext cx="110124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lang="en" sz="1900">
                <a:solidFill>
                  <a:srgbClr val="B7B7B7"/>
                </a:solidFill>
                <a:highlight>
                  <a:srgbClr val="434343"/>
                </a:highlight>
                <a:latin typeface="Montserrat"/>
                <a:ea typeface="Montserrat"/>
                <a:cs typeface="Montserrat"/>
                <a:sym typeface="Montserrat"/>
              </a:rPr>
              <a:t>PREPARED BY EPOS </a:t>
            </a:r>
            <a:endParaRPr b="1" sz="1900">
              <a:solidFill>
                <a:srgbClr val="B7B7B7"/>
              </a:solidFill>
              <a:highlight>
                <a:srgbClr val="434343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1" sz="1900">
              <a:solidFill>
                <a:schemeClr val="lt2"/>
              </a:solidFill>
              <a:highlight>
                <a:srgbClr val="434343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" name="Google Shape;75;p16"/>
          <p:cNvGraphicFramePr/>
          <p:nvPr/>
        </p:nvGraphicFramePr>
        <p:xfrm>
          <a:off x="4137375" y="432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{48FD2119-6418-421D-A403-E5465F0AB291}</a:tableStyleId>
              </a:tblPr>
              <a:tblGrid>
                <a:gridCol w="5006625"/>
                <a:gridCol w="5006625"/>
              </a:tblGrid>
              <a:tr h="816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WEBSITE COLOURS</a:t>
                      </a:r>
                      <a:endParaRPr b="1" sz="1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WEBSITE FONT</a:t>
                      </a:r>
                      <a:endParaRPr b="1" sz="19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/>
                </a:tc>
              </a:tr>
              <a:tr h="2743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Must Look Clean, Can explore mainly different pastel colours </a:t>
                      </a:r>
                      <a:endParaRPr sz="2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#000000</a:t>
                      </a:r>
                      <a:endParaRPr sz="2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#FFFFFF</a:t>
                      </a:r>
                      <a:endParaRPr sz="2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Header: </a:t>
                      </a:r>
                      <a:r>
                        <a:rPr b="1" lang="en" sz="2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Lulo Clean</a:t>
                      </a:r>
                      <a:endParaRPr b="1" sz="2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Descriptions: </a:t>
                      </a:r>
                      <a:r>
                        <a:rPr lang="en" sz="2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Roboto</a:t>
                      </a:r>
                      <a:endParaRPr sz="20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6" name="Google Shape;76;p16"/>
          <p:cNvSpPr txBox="1"/>
          <p:nvPr/>
        </p:nvSpPr>
        <p:spPr>
          <a:xfrm>
            <a:off x="0" y="241000"/>
            <a:ext cx="182880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202124"/>
                </a:solidFill>
                <a:latin typeface="Montserrat"/>
                <a:ea typeface="Montserrat"/>
                <a:cs typeface="Montserrat"/>
                <a:sym typeface="Montserrat"/>
              </a:rPr>
              <a:t>WEBSITE BRAND COLOURS</a:t>
            </a:r>
            <a:endParaRPr b="1" sz="2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1575" y="6667888"/>
            <a:ext cx="542925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60900" y="7494025"/>
            <a:ext cx="524275" cy="52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2575" y="1344175"/>
            <a:ext cx="4802850" cy="230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/>
        </p:nvSpPr>
        <p:spPr>
          <a:xfrm>
            <a:off x="2012050" y="343295"/>
            <a:ext cx="145266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Website Suggestions</a:t>
            </a:r>
            <a:endParaRPr sz="2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META Description</a:t>
            </a:r>
            <a:endParaRPr b="1" sz="4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2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1707900" y="2113200"/>
            <a:ext cx="14526600" cy="49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 Options: </a:t>
            </a:r>
            <a:endParaRPr b="1" sz="2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Montserrat"/>
              <a:buAutoNum type="arabicPeriod"/>
            </a:pPr>
            <a:r>
              <a:rPr lang="en" sz="2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Discover fun and engaging art classes, camps, and workshops for kids in Singapore. Build creativity, confidence, and skills with Achievers Arts today.</a:t>
            </a:r>
            <a:endParaRPr sz="2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Montserrat"/>
              <a:buAutoNum type="arabicPeriod"/>
            </a:pPr>
            <a:r>
              <a:rPr lang="en" sz="2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Looking for art classes for your child? Achievers Arts offers structured programmes, holiday camps, and creative workshops to nurture skills and imagination.</a:t>
            </a:r>
            <a:endParaRPr sz="2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Montserrat"/>
              <a:buAutoNum type="arabicPeriod"/>
            </a:pPr>
            <a:r>
              <a:rPr lang="en" sz="2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Enhance your child’s creativity and thinking skills through engaging art programmes, portfolio classes, and hands-on workshops at Achievers Arts Singapore.</a:t>
            </a:r>
            <a:endParaRPr sz="2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Montserrat"/>
              <a:buAutoNum type="arabicPeriod"/>
            </a:pPr>
            <a:r>
              <a:rPr lang="en" sz="2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Join exciting art classes, holiday camps, and creative workshops for all ages. Explore, create, and grow with Achievers Arts’ vibrant studio experience.</a:t>
            </a:r>
            <a:endParaRPr b="1" sz="2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Google Shape;90;p18"/>
          <p:cNvCxnSpPr>
            <a:stCxn id="91" idx="0"/>
            <a:endCxn id="92" idx="2"/>
          </p:cNvCxnSpPr>
          <p:nvPr/>
        </p:nvCxnSpPr>
        <p:spPr>
          <a:xfrm>
            <a:off x="17078692" y="2308140"/>
            <a:ext cx="16200" cy="36498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8"/>
          <p:cNvCxnSpPr>
            <a:stCxn id="94" idx="0"/>
            <a:endCxn id="95" idx="2"/>
          </p:cNvCxnSpPr>
          <p:nvPr/>
        </p:nvCxnSpPr>
        <p:spPr>
          <a:xfrm>
            <a:off x="15138285" y="2300644"/>
            <a:ext cx="22500" cy="27141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18"/>
          <p:cNvCxnSpPr>
            <a:stCxn id="97" idx="1"/>
            <a:endCxn id="91" idx="3"/>
          </p:cNvCxnSpPr>
          <p:nvPr/>
        </p:nvCxnSpPr>
        <p:spPr>
          <a:xfrm flipH="1" rot="10800000">
            <a:off x="126789" y="2620688"/>
            <a:ext cx="17815800" cy="639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" name="Google Shape;98;p18"/>
          <p:cNvCxnSpPr>
            <a:endCxn id="99" idx="3"/>
          </p:cNvCxnSpPr>
          <p:nvPr/>
        </p:nvCxnSpPr>
        <p:spPr>
          <a:xfrm>
            <a:off x="10347056" y="656086"/>
            <a:ext cx="5948100" cy="14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" name="Google Shape;100;p18"/>
          <p:cNvSpPr txBox="1"/>
          <p:nvPr/>
        </p:nvSpPr>
        <p:spPr>
          <a:xfrm>
            <a:off x="15967650" y="8531733"/>
            <a:ext cx="29076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12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PREPARED BY ETHOS </a:t>
            </a:r>
            <a:endParaRPr sz="12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12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16067600" y="7892000"/>
            <a:ext cx="2045400" cy="74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102" name="Google Shape;102;p18"/>
          <p:cNvSpPr txBox="1"/>
          <p:nvPr/>
        </p:nvSpPr>
        <p:spPr>
          <a:xfrm>
            <a:off x="15962050" y="7488623"/>
            <a:ext cx="2907600" cy="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Client approval:</a:t>
            </a:r>
            <a:endParaRPr sz="13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p18"/>
          <p:cNvSpPr/>
          <p:nvPr/>
        </p:nvSpPr>
        <p:spPr>
          <a:xfrm>
            <a:off x="126789" y="2371988"/>
            <a:ext cx="2128800" cy="625200"/>
          </a:xfrm>
          <a:prstGeom prst="roundRect">
            <a:avLst>
              <a:gd fmla="val 16667" name="adj"/>
            </a:avLst>
          </a:prstGeom>
          <a:solidFill>
            <a:srgbClr val="666666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  <a:endParaRPr b="1"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2432000" y="2348470"/>
            <a:ext cx="1727700" cy="640200"/>
          </a:xfrm>
          <a:prstGeom prst="roundRect">
            <a:avLst>
              <a:gd fmla="val 16667" name="adj"/>
            </a:avLst>
          </a:prstGeom>
          <a:solidFill>
            <a:srgbClr val="666666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About us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16194200" y="112844"/>
            <a:ext cx="17664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7669825" y="341975"/>
            <a:ext cx="3039000" cy="6564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MENU BAR</a:t>
            </a:r>
            <a:endParaRPr sz="15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13228981" y="378586"/>
            <a:ext cx="1433400" cy="6198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Search Finder</a:t>
            </a:r>
            <a:endParaRPr sz="15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14861756" y="360286"/>
            <a:ext cx="1433400" cy="6198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Cart</a:t>
            </a:r>
            <a:endParaRPr sz="15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07" name="Google Shape;107;p18"/>
          <p:cNvCxnSpPr>
            <a:stCxn id="97" idx="2"/>
            <a:endCxn id="108" idx="2"/>
          </p:cNvCxnSpPr>
          <p:nvPr/>
        </p:nvCxnSpPr>
        <p:spPr>
          <a:xfrm>
            <a:off x="1191189" y="2997188"/>
            <a:ext cx="7800" cy="58950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" name="Google Shape;109;p18"/>
          <p:cNvCxnSpPr/>
          <p:nvPr/>
        </p:nvCxnSpPr>
        <p:spPr>
          <a:xfrm>
            <a:off x="9134999" y="998383"/>
            <a:ext cx="11100" cy="1202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" name="Google Shape;94;p18"/>
          <p:cNvSpPr/>
          <p:nvPr/>
        </p:nvSpPr>
        <p:spPr>
          <a:xfrm>
            <a:off x="14274435" y="2300644"/>
            <a:ext cx="1727700" cy="640200"/>
          </a:xfrm>
          <a:prstGeom prst="roundRect">
            <a:avLst>
              <a:gd fmla="val 16667" name="adj"/>
            </a:avLst>
          </a:prstGeom>
          <a:solidFill>
            <a:srgbClr val="666666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Shop</a:t>
            </a:r>
            <a:endParaRPr sz="1500">
              <a:solidFill>
                <a:schemeClr val="lt1"/>
              </a:solidFill>
            </a:endParaRPr>
          </a:p>
        </p:txBody>
      </p:sp>
      <p:cxnSp>
        <p:nvCxnSpPr>
          <p:cNvPr id="110" name="Google Shape;110;p18"/>
          <p:cNvCxnSpPr/>
          <p:nvPr/>
        </p:nvCxnSpPr>
        <p:spPr>
          <a:xfrm>
            <a:off x="8544876" y="325978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" name="Google Shape;91;p18"/>
          <p:cNvSpPr/>
          <p:nvPr/>
        </p:nvSpPr>
        <p:spPr>
          <a:xfrm>
            <a:off x="16214842" y="2308140"/>
            <a:ext cx="1727700" cy="625200"/>
          </a:xfrm>
          <a:prstGeom prst="roundRect">
            <a:avLst>
              <a:gd fmla="val 16667" name="adj"/>
            </a:avLst>
          </a:prstGeom>
          <a:solidFill>
            <a:srgbClr val="666666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Contact Us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417987" y="3614957"/>
            <a:ext cx="1561800" cy="6252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CCCCC"/>
                </a:solidFill>
              </a:rPr>
              <a:t>Offering banner</a:t>
            </a:r>
            <a:endParaRPr sz="1300">
              <a:solidFill>
                <a:srgbClr val="CCCCCC"/>
              </a:solidFill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410312" y="4553882"/>
            <a:ext cx="1561800" cy="6252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CCCCCC"/>
                </a:solidFill>
              </a:rPr>
              <a:t>Categories</a:t>
            </a:r>
            <a:endParaRPr sz="1300">
              <a:solidFill>
                <a:srgbClr val="CCCC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CCCCCC"/>
                </a:solidFill>
              </a:rPr>
              <a:t>section</a:t>
            </a:r>
            <a:endParaRPr sz="1300">
              <a:solidFill>
                <a:srgbClr val="CCCCCC"/>
              </a:solidFill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14364562" y="3446454"/>
            <a:ext cx="1561800" cy="6252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Introduction Banner</a:t>
            </a:r>
            <a:endParaRPr>
              <a:solidFill>
                <a:srgbClr val="CCCCCC"/>
              </a:solidFill>
            </a:endParaRPr>
          </a:p>
        </p:txBody>
      </p:sp>
      <p:cxnSp>
        <p:nvCxnSpPr>
          <p:cNvPr id="114" name="Google Shape;114;p18"/>
          <p:cNvCxnSpPr>
            <a:stCxn id="103" idx="2"/>
            <a:endCxn id="115" idx="2"/>
          </p:cNvCxnSpPr>
          <p:nvPr/>
        </p:nvCxnSpPr>
        <p:spPr>
          <a:xfrm flipH="1">
            <a:off x="3295550" y="2988670"/>
            <a:ext cx="300" cy="40470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" name="Google Shape;116;p18"/>
          <p:cNvSpPr/>
          <p:nvPr/>
        </p:nvSpPr>
        <p:spPr>
          <a:xfrm>
            <a:off x="410312" y="5468282"/>
            <a:ext cx="1561800" cy="6252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CCCC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CCCCC"/>
                </a:solidFill>
              </a:rPr>
              <a:t>Shop features</a:t>
            </a:r>
            <a:endParaRPr sz="1300">
              <a:solidFill>
                <a:srgbClr val="CCCC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CCCCCC"/>
              </a:solidFill>
            </a:endParaRPr>
          </a:p>
        </p:txBody>
      </p:sp>
      <p:sp>
        <p:nvSpPr>
          <p:cNvPr id="92" name="Google Shape;92;p18"/>
          <p:cNvSpPr/>
          <p:nvPr/>
        </p:nvSpPr>
        <p:spPr>
          <a:xfrm>
            <a:off x="16313862" y="5332865"/>
            <a:ext cx="1561800" cy="6252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CCCCC"/>
                </a:solidFill>
              </a:rPr>
              <a:t>Enquiry Form</a:t>
            </a:r>
            <a:endParaRPr sz="1300">
              <a:solidFill>
                <a:srgbClr val="CCCCCC"/>
              </a:solidFill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6326588" y="2356545"/>
            <a:ext cx="1727700" cy="640200"/>
          </a:xfrm>
          <a:prstGeom prst="roundRect">
            <a:avLst>
              <a:gd fmla="val 16667" name="adj"/>
            </a:avLst>
          </a:prstGeom>
          <a:solidFill>
            <a:srgbClr val="666666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Single-Session Art Classes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2514512" y="6410491"/>
            <a:ext cx="1561800" cy="6252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CCCCCC"/>
                </a:solidFill>
              </a:rPr>
              <a:t>Enquiry </a:t>
            </a:r>
            <a:r>
              <a:rPr lang="en" sz="1300">
                <a:solidFill>
                  <a:srgbClr val="CCCCCC"/>
                </a:solidFill>
              </a:rPr>
              <a:t>Section</a:t>
            </a:r>
            <a:endParaRPr sz="1300">
              <a:solidFill>
                <a:srgbClr val="CCCCCC"/>
              </a:solidFill>
            </a:endParaRPr>
          </a:p>
        </p:txBody>
      </p:sp>
      <p:cxnSp>
        <p:nvCxnSpPr>
          <p:cNvPr id="118" name="Google Shape;118;p18"/>
          <p:cNvCxnSpPr>
            <a:stCxn id="117" idx="2"/>
            <a:endCxn id="119" idx="2"/>
          </p:cNvCxnSpPr>
          <p:nvPr/>
        </p:nvCxnSpPr>
        <p:spPr>
          <a:xfrm>
            <a:off x="7190438" y="2996745"/>
            <a:ext cx="36600" cy="11514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" name="Google Shape;119;p18"/>
          <p:cNvSpPr/>
          <p:nvPr/>
        </p:nvSpPr>
        <p:spPr>
          <a:xfrm>
            <a:off x="6446270" y="3523018"/>
            <a:ext cx="1561800" cy="6252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CCCCCC"/>
                </a:solidFill>
              </a:rPr>
              <a:t>Express Art</a:t>
            </a:r>
            <a:endParaRPr sz="1300">
              <a:solidFill>
                <a:srgbClr val="CCCC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CCCCCC"/>
                </a:solidFill>
              </a:rPr>
              <a:t>(Dropdown)</a:t>
            </a:r>
            <a:endParaRPr sz="1300">
              <a:solidFill>
                <a:srgbClr val="CCCCCC"/>
              </a:solidFill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14379837" y="4389654"/>
            <a:ext cx="1561800" cy="6252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CCCCC"/>
                </a:solidFill>
              </a:rPr>
              <a:t>All Products</a:t>
            </a:r>
            <a:endParaRPr sz="1300">
              <a:solidFill>
                <a:srgbClr val="CCCCCC"/>
              </a:solidFill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16297787" y="3446454"/>
            <a:ext cx="1561800" cy="6252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CCCCC"/>
                </a:solidFill>
              </a:rPr>
              <a:t>Visit our studios (dropdown)</a:t>
            </a:r>
            <a:endParaRPr sz="1300">
              <a:solidFill>
                <a:srgbClr val="CCCCCC"/>
              </a:solidFill>
            </a:endParaRPr>
          </a:p>
        </p:txBody>
      </p:sp>
      <p:cxnSp>
        <p:nvCxnSpPr>
          <p:cNvPr id="121" name="Google Shape;121;p18"/>
          <p:cNvCxnSpPr>
            <a:stCxn id="122" idx="0"/>
            <a:endCxn id="123" idx="2"/>
          </p:cNvCxnSpPr>
          <p:nvPr/>
        </p:nvCxnSpPr>
        <p:spPr>
          <a:xfrm>
            <a:off x="9210373" y="2348419"/>
            <a:ext cx="14100" cy="26883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" name="Google Shape;122;p18"/>
          <p:cNvSpPr/>
          <p:nvPr/>
        </p:nvSpPr>
        <p:spPr>
          <a:xfrm>
            <a:off x="8346523" y="2348419"/>
            <a:ext cx="1727700" cy="640200"/>
          </a:xfrm>
          <a:prstGeom prst="roundRect">
            <a:avLst>
              <a:gd fmla="val 16667" name="adj"/>
            </a:avLst>
          </a:prstGeom>
          <a:solidFill>
            <a:srgbClr val="666666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Regular Camps &amp; Courses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8451924" y="3523029"/>
            <a:ext cx="1561800" cy="6252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CCCCC"/>
                </a:solidFill>
              </a:rPr>
              <a:t>Art Camps</a:t>
            </a:r>
            <a:endParaRPr sz="1300">
              <a:solidFill>
                <a:srgbClr val="CCCC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CCCCC"/>
                </a:solidFill>
              </a:rPr>
              <a:t>(Dropdown)</a:t>
            </a:r>
            <a:endParaRPr sz="1300">
              <a:solidFill>
                <a:srgbClr val="CCCCCC"/>
              </a:solidFill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417987" y="8267099"/>
            <a:ext cx="1561800" cy="6252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CCCC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CCCCC"/>
                </a:solidFill>
              </a:rPr>
              <a:t>Instagram section</a:t>
            </a:r>
            <a:endParaRPr sz="1300">
              <a:solidFill>
                <a:srgbClr val="CCCC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CCCCCC"/>
              </a:solidFill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2533670" y="5541077"/>
            <a:ext cx="1561800" cy="6252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CCCCC"/>
                </a:solidFill>
              </a:rPr>
              <a:t>Gallery section</a:t>
            </a:r>
            <a:endParaRPr sz="1300">
              <a:solidFill>
                <a:srgbClr val="CCCCCC"/>
              </a:solidFill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2450057" y="3646993"/>
            <a:ext cx="1561800" cy="6252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CCCCC"/>
                </a:solidFill>
              </a:rPr>
              <a:t>About us</a:t>
            </a:r>
            <a:r>
              <a:rPr lang="en" sz="1300">
                <a:solidFill>
                  <a:srgbClr val="CCCCCC"/>
                </a:solidFill>
              </a:rPr>
              <a:t> </a:t>
            </a:r>
            <a:endParaRPr sz="1300">
              <a:solidFill>
                <a:srgbClr val="CCCCCC"/>
              </a:solidFill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11419156" y="378586"/>
            <a:ext cx="1433400" cy="6198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Social Media Links</a:t>
            </a:r>
            <a:endParaRPr sz="15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2453432" y="4594040"/>
            <a:ext cx="1561800" cy="6252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CCCCCC"/>
                </a:solidFill>
              </a:rPr>
              <a:t>Categories</a:t>
            </a:r>
            <a:endParaRPr sz="1300">
              <a:solidFill>
                <a:srgbClr val="CCCC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CCCCCC"/>
                </a:solidFill>
              </a:rPr>
              <a:t>section</a:t>
            </a:r>
            <a:endParaRPr sz="1300">
              <a:solidFill>
                <a:srgbClr val="CCCCCC"/>
              </a:solidFill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410312" y="6410494"/>
            <a:ext cx="1561800" cy="6252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CCCC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CCCCC"/>
                </a:solidFill>
              </a:rPr>
              <a:t>Beyond</a:t>
            </a:r>
            <a:r>
              <a:rPr lang="en" sz="1300">
                <a:solidFill>
                  <a:srgbClr val="CCCCCC"/>
                </a:solidFill>
              </a:rPr>
              <a:t> the canvas</a:t>
            </a:r>
            <a:endParaRPr sz="1300">
              <a:solidFill>
                <a:srgbClr val="CCCC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CCCCC"/>
                </a:solidFill>
              </a:rPr>
              <a:t>Section</a:t>
            </a:r>
            <a:endParaRPr sz="1300">
              <a:solidFill>
                <a:srgbClr val="CCCC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CCCCCC"/>
              </a:solidFill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417987" y="7338794"/>
            <a:ext cx="1561800" cy="6252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CCCC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CCCCC"/>
                </a:solidFill>
              </a:rPr>
              <a:t>Our Reviews</a:t>
            </a:r>
            <a:endParaRPr sz="1300">
              <a:solidFill>
                <a:srgbClr val="CCCC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CCCCC"/>
                </a:solidFill>
              </a:rPr>
              <a:t>Section</a:t>
            </a:r>
            <a:endParaRPr sz="1300">
              <a:solidFill>
                <a:srgbClr val="CCCC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CCCCCC"/>
              </a:solidFill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16313862" y="4389654"/>
            <a:ext cx="1561800" cy="6252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CCCCC"/>
                </a:solidFill>
              </a:rPr>
              <a:t>Google Maps Section</a:t>
            </a:r>
            <a:endParaRPr sz="1300">
              <a:solidFill>
                <a:srgbClr val="CCCCCC"/>
              </a:solidFill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10365485" y="2359869"/>
            <a:ext cx="1727700" cy="640200"/>
          </a:xfrm>
          <a:prstGeom prst="roundRect">
            <a:avLst>
              <a:gd fmla="val 16667" name="adj"/>
            </a:avLst>
          </a:prstGeom>
          <a:solidFill>
            <a:srgbClr val="666666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Arty Events &amp; Parties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8443624" y="4411479"/>
            <a:ext cx="1561800" cy="625200"/>
          </a:xfrm>
          <a:prstGeom prst="roundRect">
            <a:avLst>
              <a:gd fmla="val 16667" name="adj"/>
            </a:avLst>
          </a:prstGeom>
          <a:solidFill>
            <a:srgbClr val="43434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CCCCC"/>
                </a:solidFill>
              </a:rPr>
              <a:t>Short Courses</a:t>
            </a:r>
            <a:endParaRPr sz="1300">
              <a:solidFill>
                <a:srgbClr val="CCCCCC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CCCCCC"/>
                </a:solidFill>
              </a:rPr>
              <a:t>(Dropdown)</a:t>
            </a:r>
            <a:endParaRPr sz="1300">
              <a:solidFill>
                <a:srgbClr val="CCCCCC"/>
              </a:solidFill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4379300" y="2364495"/>
            <a:ext cx="1727700" cy="640200"/>
          </a:xfrm>
          <a:prstGeom prst="roundRect">
            <a:avLst>
              <a:gd fmla="val 16667" name="adj"/>
            </a:avLst>
          </a:prstGeom>
          <a:solidFill>
            <a:srgbClr val="666666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</a:rPr>
              <a:t>Regular Art Classes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12319960" y="2373907"/>
            <a:ext cx="1727700" cy="640200"/>
          </a:xfrm>
          <a:prstGeom prst="roundRect">
            <a:avLst>
              <a:gd fmla="val 16667" name="adj"/>
            </a:avLst>
          </a:prstGeom>
          <a:solidFill>
            <a:srgbClr val="666666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Art Workshops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(Additional Shop page)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9"/>
          <p:cNvSpPr/>
          <p:nvPr/>
        </p:nvSpPr>
        <p:spPr>
          <a:xfrm>
            <a:off x="5387700" y="4183200"/>
            <a:ext cx="7512600" cy="7776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141" name="Google Shape;141;p19"/>
          <p:cNvSpPr txBox="1"/>
          <p:nvPr/>
        </p:nvSpPr>
        <p:spPr>
          <a:xfrm>
            <a:off x="3637800" y="4183200"/>
            <a:ext cx="110124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7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CONTENT SKELETON + WEB LAYOUT</a:t>
            </a:r>
            <a:endParaRPr b="1" sz="33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19"/>
          <p:cNvSpPr txBox="1"/>
          <p:nvPr/>
        </p:nvSpPr>
        <p:spPr>
          <a:xfrm>
            <a:off x="3637800" y="8100267"/>
            <a:ext cx="110124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B7B7B7"/>
                </a:solidFill>
                <a:highlight>
                  <a:srgbClr val="434343"/>
                </a:highlight>
                <a:latin typeface="Montserrat"/>
                <a:ea typeface="Montserrat"/>
                <a:cs typeface="Montserrat"/>
                <a:sym typeface="Montserrat"/>
              </a:rPr>
              <a:t>PREPARED BY EPOS </a:t>
            </a:r>
            <a:endParaRPr b="1" sz="1900">
              <a:solidFill>
                <a:srgbClr val="B7B7B7"/>
              </a:solidFill>
              <a:highlight>
                <a:srgbClr val="434343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lt2"/>
              </a:solidFill>
              <a:highlight>
                <a:srgbClr val="434343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lt2"/>
              </a:solidFill>
              <a:highlight>
                <a:srgbClr val="666666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/>
        </p:nvSpPr>
        <p:spPr>
          <a:xfrm>
            <a:off x="3637800" y="8100267"/>
            <a:ext cx="110124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19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PREPARED BY EPOS </a:t>
            </a:r>
            <a:endParaRPr sz="19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19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20"/>
          <p:cNvSpPr txBox="1"/>
          <p:nvPr/>
        </p:nvSpPr>
        <p:spPr>
          <a:xfrm>
            <a:off x="3637800" y="4183200"/>
            <a:ext cx="110124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889000" lvl="0" marL="3517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  <a:r>
              <a:rPr b="1" lang="en" sz="3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  <a:endParaRPr b="1" sz="3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/>
          <p:nvPr/>
        </p:nvSpPr>
        <p:spPr>
          <a:xfrm>
            <a:off x="0" y="0"/>
            <a:ext cx="182880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202124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  <a:r>
              <a:rPr b="1" lang="en" sz="3300">
                <a:solidFill>
                  <a:srgbClr val="202124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  <a:endParaRPr b="1" sz="2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54" name="Google Shape;154;p21"/>
          <p:cNvGraphicFramePr/>
          <p:nvPr/>
        </p:nvGraphicFramePr>
        <p:xfrm>
          <a:off x="10809075" y="376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{48FD2119-6418-421D-A403-E5465F0AB291}</a:tableStyleId>
              </a:tblPr>
              <a:tblGrid>
                <a:gridCol w="1016550"/>
                <a:gridCol w="2835200"/>
                <a:gridCol w="3245900"/>
              </a:tblGrid>
              <a:tr h="3454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HOMEPAGE DESIGN STRUCTURE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 hMerge="1"/>
                <a:tc hMerge="1"/>
              </a:tr>
              <a:tr h="345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1 - Logo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Logo file here: </a:t>
                      </a:r>
                      <a:r>
                        <a:rPr lang="en" sz="13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Sensory Playhaus_STICKER.png</a:t>
                      </a:r>
                      <a:r>
                        <a:rPr lang="en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 hMerge="1"/>
              </a:tr>
              <a:tr h="934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2 - Menu Bar/ Function Tabs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Menu Bar: </a:t>
                      </a:r>
                      <a:endParaRPr b="1"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Home | </a:t>
                      </a: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About </a:t>
                      </a: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u</a:t>
                      </a: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</a:t>
                      </a:r>
                      <a:r>
                        <a:rPr b="1" lang="en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| </a:t>
                      </a:r>
                      <a:r>
                        <a:rPr b="1"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Regular Art Classes | </a:t>
                      </a: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Single-Session Art Classes</a:t>
                      </a: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b="1"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|</a:t>
                      </a:r>
                      <a:r>
                        <a:rPr b="1" lang="en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Our Camps &amp; Courses </a:t>
                      </a:r>
                      <a:r>
                        <a:rPr b="1"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| Arty Events &amp; Parties | </a:t>
                      </a: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Shop</a:t>
                      </a:r>
                      <a:r>
                        <a:rPr b="1" lang="en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| Contact</a:t>
                      </a: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us</a:t>
                      </a:r>
                      <a:endParaRPr b="1"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Function tabs: Instagram / Facebook/ Search Finder / Cart 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 hMerge="1"/>
              </a:tr>
              <a:tr h="2044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3- Main Banner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Banner Image: 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Header: Regular Art Classes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Description: S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tructured weekly art programmes that build strong creative foundations through guided lessons, progressive skill development, and exploration of different art mediums.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Banner Image: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Header: Holiday Art Camps for Kids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Description: Flexible art camps with hands-on projects and creative activities to keep kids engaged during the school holidays.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Banner Image: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Header: Art Parties &amp; Group Events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Description: Celebrate birthdays and special occasions with guided art activities designed for fun, creativity, and group bonding.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Buttons: Book Now(Apply to all banner)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Char char="-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Pages leads to contact us page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 hMerge="1"/>
              </a:tr>
              <a:tr h="1509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4 - Category Section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Image: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Suggested Banner Headline: Our Classes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Classes: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Regular Art Classes (Weekly)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Art Camps (4/6/8 Lessons)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Art Workshops (Single Session)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Short Courses (Weekly)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Express Art Classes (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Single Session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)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Each buttons should link to their own individual pages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 hMerge="1"/>
              </a:tr>
            </a:tbl>
          </a:graphicData>
        </a:graphic>
      </p:graphicFrame>
      <p:sp>
        <p:nvSpPr>
          <p:cNvPr id="155" name="Google Shape;155;p21"/>
          <p:cNvSpPr/>
          <p:nvPr/>
        </p:nvSpPr>
        <p:spPr>
          <a:xfrm>
            <a:off x="288625" y="801175"/>
            <a:ext cx="10193400" cy="35754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156" name="Google Shape;156;p21"/>
          <p:cNvSpPr/>
          <p:nvPr/>
        </p:nvSpPr>
        <p:spPr>
          <a:xfrm>
            <a:off x="10094050" y="801155"/>
            <a:ext cx="387600" cy="3576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157" name="Google Shape;157;p21"/>
          <p:cNvSpPr/>
          <p:nvPr/>
        </p:nvSpPr>
        <p:spPr>
          <a:xfrm>
            <a:off x="9706430" y="801155"/>
            <a:ext cx="387600" cy="3576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158" name="Google Shape;158;p21"/>
          <p:cNvSpPr/>
          <p:nvPr/>
        </p:nvSpPr>
        <p:spPr>
          <a:xfrm>
            <a:off x="307575" y="1555450"/>
            <a:ext cx="10184400" cy="2821200"/>
          </a:xfrm>
          <a:prstGeom prst="rect">
            <a:avLst/>
          </a:prstGeom>
          <a:solidFill>
            <a:srgbClr val="EEEEEE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cxnSp>
        <p:nvCxnSpPr>
          <p:cNvPr id="159" name="Google Shape;159;p21"/>
          <p:cNvCxnSpPr/>
          <p:nvPr/>
        </p:nvCxnSpPr>
        <p:spPr>
          <a:xfrm>
            <a:off x="320465" y="1525175"/>
            <a:ext cx="10174800" cy="2946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0" name="Google Shape;160;p21"/>
          <p:cNvCxnSpPr/>
          <p:nvPr/>
        </p:nvCxnSpPr>
        <p:spPr>
          <a:xfrm flipH="1" rot="10800000">
            <a:off x="304125" y="1525040"/>
            <a:ext cx="10191300" cy="2916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61" name="Google Shape;161;p21"/>
          <p:cNvSpPr/>
          <p:nvPr/>
        </p:nvSpPr>
        <p:spPr>
          <a:xfrm>
            <a:off x="2937975" y="2046233"/>
            <a:ext cx="51993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Roboto"/>
                <a:ea typeface="Roboto"/>
                <a:cs typeface="Roboto"/>
                <a:sym typeface="Roboto"/>
              </a:rPr>
              <a:t>Regular Art Classes</a:t>
            </a:r>
            <a:endParaRPr sz="2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21"/>
          <p:cNvSpPr/>
          <p:nvPr/>
        </p:nvSpPr>
        <p:spPr>
          <a:xfrm>
            <a:off x="4746426" y="3607751"/>
            <a:ext cx="1660800" cy="379800"/>
          </a:xfrm>
          <a:prstGeom prst="flowChartAlternateProcess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ontserrat"/>
                <a:ea typeface="Montserrat"/>
                <a:cs typeface="Montserrat"/>
                <a:sym typeface="Montserrat"/>
              </a:rPr>
              <a:t>Book Now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21"/>
          <p:cNvSpPr/>
          <p:nvPr/>
        </p:nvSpPr>
        <p:spPr>
          <a:xfrm>
            <a:off x="4222525" y="815888"/>
            <a:ext cx="1103700" cy="7239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Logo</a:t>
            </a:r>
            <a:endParaRPr sz="1500"/>
          </a:p>
        </p:txBody>
      </p:sp>
      <p:sp>
        <p:nvSpPr>
          <p:cNvPr id="164" name="Google Shape;164;p21"/>
          <p:cNvSpPr/>
          <p:nvPr/>
        </p:nvSpPr>
        <p:spPr>
          <a:xfrm>
            <a:off x="3793500" y="868500"/>
            <a:ext cx="1380000" cy="588300"/>
          </a:xfrm>
          <a:prstGeom prst="rect">
            <a:avLst/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1"/>
          <p:cNvSpPr txBox="1"/>
          <p:nvPr/>
        </p:nvSpPr>
        <p:spPr>
          <a:xfrm>
            <a:off x="3793501" y="909226"/>
            <a:ext cx="281700" cy="2949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1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166" name="Google Shape;166;p21"/>
          <p:cNvSpPr/>
          <p:nvPr/>
        </p:nvSpPr>
        <p:spPr>
          <a:xfrm>
            <a:off x="5890000" y="800700"/>
            <a:ext cx="4598400" cy="358500"/>
          </a:xfrm>
          <a:prstGeom prst="rect">
            <a:avLst/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NAVIGATION BAR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21"/>
          <p:cNvSpPr txBox="1"/>
          <p:nvPr/>
        </p:nvSpPr>
        <p:spPr>
          <a:xfrm>
            <a:off x="5608288" y="909226"/>
            <a:ext cx="281700" cy="2949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2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168" name="Google Shape;168;p21"/>
          <p:cNvSpPr txBox="1"/>
          <p:nvPr/>
        </p:nvSpPr>
        <p:spPr>
          <a:xfrm>
            <a:off x="424476" y="4607476"/>
            <a:ext cx="281700" cy="2949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4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169" name="Google Shape;169;p21"/>
          <p:cNvSpPr/>
          <p:nvPr/>
        </p:nvSpPr>
        <p:spPr>
          <a:xfrm>
            <a:off x="2835150" y="1881650"/>
            <a:ext cx="5754300" cy="2246700"/>
          </a:xfrm>
          <a:prstGeom prst="rect">
            <a:avLst/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21"/>
          <p:cNvSpPr txBox="1"/>
          <p:nvPr/>
        </p:nvSpPr>
        <p:spPr>
          <a:xfrm>
            <a:off x="2592926" y="1881651"/>
            <a:ext cx="281700" cy="2949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3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2977175" y="2621171"/>
            <a:ext cx="51993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Structured weekly art programmes that build strong creative foundations through guided lessons, progressive skill development, and exploration of different art mediums.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p21"/>
          <p:cNvSpPr/>
          <p:nvPr/>
        </p:nvSpPr>
        <p:spPr>
          <a:xfrm>
            <a:off x="288626" y="5418064"/>
            <a:ext cx="10137600" cy="410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p21"/>
          <p:cNvSpPr/>
          <p:nvPr/>
        </p:nvSpPr>
        <p:spPr>
          <a:xfrm>
            <a:off x="292600" y="4407050"/>
            <a:ext cx="10193400" cy="3769800"/>
          </a:xfrm>
          <a:prstGeom prst="rect">
            <a:avLst/>
          </a:prstGeom>
          <a:solidFill>
            <a:srgbClr val="EEEEEE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174" name="Google Shape;174;p21"/>
          <p:cNvSpPr/>
          <p:nvPr/>
        </p:nvSpPr>
        <p:spPr>
          <a:xfrm>
            <a:off x="2835150" y="4594175"/>
            <a:ext cx="4703100" cy="362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Explore </a:t>
            </a: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Our Classes</a:t>
            </a:r>
            <a:endParaRPr sz="1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932125" y="4639725"/>
            <a:ext cx="9016800" cy="3318300"/>
          </a:xfrm>
          <a:prstGeom prst="rect">
            <a:avLst/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987125" y="4613227"/>
            <a:ext cx="354000" cy="3243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4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177" name="Google Shape;177;p21"/>
          <p:cNvSpPr/>
          <p:nvPr/>
        </p:nvSpPr>
        <p:spPr>
          <a:xfrm>
            <a:off x="932125" y="5217550"/>
            <a:ext cx="1660800" cy="1621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1"/>
          <p:cNvSpPr/>
          <p:nvPr/>
        </p:nvSpPr>
        <p:spPr>
          <a:xfrm>
            <a:off x="2779675" y="5217550"/>
            <a:ext cx="1660800" cy="1621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1"/>
          <p:cNvSpPr/>
          <p:nvPr/>
        </p:nvSpPr>
        <p:spPr>
          <a:xfrm>
            <a:off x="4594063" y="5217550"/>
            <a:ext cx="1660800" cy="1621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1"/>
          <p:cNvSpPr/>
          <p:nvPr/>
        </p:nvSpPr>
        <p:spPr>
          <a:xfrm>
            <a:off x="6408450" y="5217550"/>
            <a:ext cx="1660800" cy="1621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1"/>
          <p:cNvSpPr/>
          <p:nvPr/>
        </p:nvSpPr>
        <p:spPr>
          <a:xfrm>
            <a:off x="8222825" y="5217550"/>
            <a:ext cx="1660800" cy="1621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906025" y="6869600"/>
            <a:ext cx="17130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2"/>
                </a:solidFill>
              </a:rPr>
              <a:t>Regular Art Classes</a:t>
            </a:r>
            <a:endParaRPr sz="19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(Weekly)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2753575" y="6869600"/>
            <a:ext cx="1713000" cy="10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2"/>
                </a:solidFill>
              </a:rPr>
              <a:t>Art Camps</a:t>
            </a:r>
            <a:br>
              <a:rPr lang="en" sz="1900">
                <a:solidFill>
                  <a:schemeClr val="dk2"/>
                </a:solidFill>
              </a:rPr>
            </a:br>
            <a:r>
              <a:rPr lang="en" sz="1500">
                <a:solidFill>
                  <a:schemeClr val="dk2"/>
                </a:solidFill>
              </a:rPr>
              <a:t>(4/6/8 Lessons)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4528825" y="6869600"/>
            <a:ext cx="17130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2"/>
                </a:solidFill>
              </a:rPr>
              <a:t>Art Workshop</a:t>
            </a:r>
            <a:endParaRPr sz="19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2"/>
                </a:solidFill>
              </a:rPr>
              <a:t>(Single Session)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6382350" y="6869600"/>
            <a:ext cx="17130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2"/>
                </a:solidFill>
              </a:rPr>
              <a:t>Short Courses</a:t>
            </a:r>
            <a:endParaRPr sz="19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2"/>
                </a:solidFill>
              </a:rPr>
              <a:t>(Weekly)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86" name="Google Shape;186;p21"/>
          <p:cNvSpPr txBox="1"/>
          <p:nvPr/>
        </p:nvSpPr>
        <p:spPr>
          <a:xfrm>
            <a:off x="8235875" y="6873704"/>
            <a:ext cx="1713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2"/>
                </a:solidFill>
              </a:rPr>
              <a:t>Express Art Classes </a:t>
            </a:r>
            <a:endParaRPr sz="19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(Single Session)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1" name="Google Shape;191;p22"/>
          <p:cNvGraphicFramePr/>
          <p:nvPr/>
        </p:nvGraphicFramePr>
        <p:xfrm>
          <a:off x="10549575" y="152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{48FD2119-6418-421D-A403-E5465F0AB291}</a:tableStyleId>
              </a:tblPr>
              <a:tblGrid>
                <a:gridCol w="1174500"/>
                <a:gridCol w="2677250"/>
                <a:gridCol w="3245900"/>
              </a:tblGrid>
              <a:tr h="3231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HOMEPAGE DESIGN STRUCTURE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155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1 - Shop Feature - Seasonal Special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Background Image: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Suggested Banner Headline: Seasonal Special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Book now button leads to enquiry section of contact page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Button “View More Workshops ” links to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Shop page filtering to seasonal Special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133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2- 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Beyond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the canvas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Header: Beyond The Canvas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Description: Beyond The Canvas by The Artivity Collective brings together a unique family of creative brands and experiences designed to inspire self-expression, hands-on learning, and artistic exploration for all ages. From sensory play and abstract art to handmade crafts and young entrepreneurship, there’s a creative journey waiting for everyone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✔️ Expressive abstract art experiences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✔️ Custom hand-painted press-on nail artistry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✔️ Handmade charms &amp; creative accessories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✔️ Sensory play and messy art exploration for children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✔️ Young creator &amp; mini entrepreneurship programmes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✔️ Curated art gallery &amp; professional art showcases.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Logos to use: </a:t>
                      </a:r>
                      <a:r>
                        <a:rPr lang="en" sz="13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beyond the canvas logos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Image gallery: </a:t>
                      </a:r>
                      <a:r>
                        <a:rPr lang="en" sz="13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4"/>
                        </a:rPr>
                        <a:t>beyond the canvas image gallery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Click To See More leads to this website: </a:t>
                      </a:r>
                      <a:r>
                        <a:rPr lang="en" sz="13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5"/>
                        </a:rPr>
                        <a:t>Artivity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hMerge="1"/>
              </a:tr>
            </a:tbl>
          </a:graphicData>
        </a:graphic>
      </p:graphicFrame>
      <p:sp>
        <p:nvSpPr>
          <p:cNvPr id="192" name="Google Shape;192;p22"/>
          <p:cNvSpPr/>
          <p:nvPr/>
        </p:nvSpPr>
        <p:spPr>
          <a:xfrm>
            <a:off x="463125" y="152075"/>
            <a:ext cx="9153000" cy="4183500"/>
          </a:xfrm>
          <a:prstGeom prst="rect">
            <a:avLst/>
          </a:prstGeom>
          <a:solidFill>
            <a:srgbClr val="EEEEEE"/>
          </a:solidFill>
          <a:ln cap="flat" cmpd="sng" w="3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9375" lIns="159375" spcFirstLastPara="1" rIns="159375" wrap="square" tIns="159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44"/>
          </a:p>
        </p:txBody>
      </p:sp>
      <p:sp>
        <p:nvSpPr>
          <p:cNvPr id="193" name="Google Shape;193;p22"/>
          <p:cNvSpPr/>
          <p:nvPr/>
        </p:nvSpPr>
        <p:spPr>
          <a:xfrm>
            <a:off x="2786492" y="356373"/>
            <a:ext cx="4416900" cy="293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59375" lIns="159375" spcFirstLastPara="1" rIns="159375" wrap="square" tIns="159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9">
                <a:latin typeface="Montserrat"/>
                <a:ea typeface="Montserrat"/>
                <a:cs typeface="Montserrat"/>
                <a:sym typeface="Montserrat"/>
              </a:rPr>
              <a:t>Seasonal Special</a:t>
            </a:r>
            <a:endParaRPr sz="1448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22"/>
          <p:cNvSpPr/>
          <p:nvPr/>
        </p:nvSpPr>
        <p:spPr>
          <a:xfrm>
            <a:off x="537225" y="356375"/>
            <a:ext cx="8938200" cy="3757500"/>
          </a:xfrm>
          <a:prstGeom prst="rect">
            <a:avLst/>
          </a:prstGeom>
          <a:noFill/>
          <a:ln cap="flat" cmpd="sng" w="172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750" lIns="82750" spcFirstLastPara="1" rIns="82750" wrap="square" tIns="82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67"/>
              <a:t> </a:t>
            </a:r>
            <a:endParaRPr sz="1267"/>
          </a:p>
        </p:txBody>
      </p:sp>
      <p:sp>
        <p:nvSpPr>
          <p:cNvPr id="195" name="Google Shape;195;p22"/>
          <p:cNvSpPr txBox="1"/>
          <p:nvPr/>
        </p:nvSpPr>
        <p:spPr>
          <a:xfrm>
            <a:off x="638718" y="356034"/>
            <a:ext cx="262200" cy="2937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82750" lIns="82750" spcFirstLastPara="1" rIns="82750" wrap="square" tIns="82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15">
                <a:solidFill>
                  <a:srgbClr val="FFFFFF"/>
                </a:solidFill>
              </a:rPr>
              <a:t>1</a:t>
            </a:r>
            <a:endParaRPr b="1" sz="815">
              <a:solidFill>
                <a:srgbClr val="FFFFFF"/>
              </a:solidFill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4226641" y="3846816"/>
            <a:ext cx="1536600" cy="267000"/>
          </a:xfrm>
          <a:prstGeom prst="flowChartAlternateProcess">
            <a:avLst/>
          </a:prstGeom>
          <a:solidFill>
            <a:srgbClr val="FFFFFF"/>
          </a:solidFill>
          <a:ln cap="flat" cmpd="sng" w="6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275" lIns="65275" spcFirstLastPara="1" rIns="65275" wrap="square" tIns="6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5"/>
              <a:buFont typeface="Arial"/>
              <a:buNone/>
            </a:pPr>
            <a:r>
              <a:rPr lang="en" sz="928">
                <a:latin typeface="Montserrat"/>
                <a:ea typeface="Montserrat"/>
                <a:cs typeface="Montserrat"/>
                <a:sym typeface="Montserrat"/>
              </a:rPr>
              <a:t>View More Workshops</a:t>
            </a:r>
            <a:endParaRPr sz="928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97" name="Google Shape;197;p22"/>
          <p:cNvGrpSpPr/>
          <p:nvPr/>
        </p:nvGrpSpPr>
        <p:grpSpPr>
          <a:xfrm>
            <a:off x="5854125" y="872194"/>
            <a:ext cx="1766100" cy="2752500"/>
            <a:chOff x="7603800" y="1468969"/>
            <a:chExt cx="1766100" cy="2752500"/>
          </a:xfrm>
        </p:grpSpPr>
        <p:sp>
          <p:nvSpPr>
            <p:cNvPr id="198" name="Google Shape;198;p22"/>
            <p:cNvSpPr/>
            <p:nvPr/>
          </p:nvSpPr>
          <p:spPr>
            <a:xfrm>
              <a:off x="7727877" y="1556551"/>
              <a:ext cx="1536600" cy="1544100"/>
            </a:xfrm>
            <a:prstGeom prst="flowChartAlternateProcess">
              <a:avLst/>
            </a:prstGeom>
            <a:solidFill>
              <a:srgbClr val="FFFFFF"/>
            </a:solidFill>
            <a:ln cap="flat" cmpd="sng" w="6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5275" lIns="65275" spcFirstLastPara="1" rIns="65275" wrap="square" tIns="6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lang="en" sz="928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Product Image</a:t>
              </a:r>
              <a:endParaRPr sz="928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9" name="Google Shape;199;p22"/>
            <p:cNvSpPr/>
            <p:nvPr/>
          </p:nvSpPr>
          <p:spPr>
            <a:xfrm>
              <a:off x="7719932" y="3188329"/>
              <a:ext cx="1544700" cy="582900"/>
            </a:xfrm>
            <a:prstGeom prst="flowChartAlternateProcess">
              <a:avLst/>
            </a:prstGeom>
            <a:noFill/>
            <a:ln>
              <a:noFill/>
            </a:ln>
          </p:spPr>
          <p:txBody>
            <a:bodyPr anchorCtr="0" anchor="ctr" bIns="65275" lIns="65275" spcFirstLastPara="1" rIns="65275" wrap="square" tIns="6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b="1" lang="en" sz="928">
                  <a:latin typeface="Montserrat"/>
                  <a:ea typeface="Montserrat"/>
                  <a:cs typeface="Montserrat"/>
                  <a:sym typeface="Montserrat"/>
                </a:rPr>
                <a:t>Name of Product</a:t>
              </a:r>
              <a:endParaRPr b="1" sz="928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lang="en" sz="928">
                  <a:latin typeface="Montserrat"/>
                  <a:ea typeface="Montserrat"/>
                  <a:cs typeface="Montserrat"/>
                  <a:sym typeface="Montserrat"/>
                </a:rPr>
                <a:t>Category</a:t>
              </a:r>
              <a:br>
                <a:rPr lang="en" sz="928"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en" sz="928">
                  <a:latin typeface="Montserrat"/>
                  <a:ea typeface="Montserrat"/>
                  <a:cs typeface="Montserrat"/>
                  <a:sym typeface="Montserrat"/>
                </a:rPr>
                <a:t>Age + Time of workshop</a:t>
              </a:r>
              <a:endParaRPr sz="928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0" name="Google Shape;200;p22"/>
            <p:cNvSpPr/>
            <p:nvPr/>
          </p:nvSpPr>
          <p:spPr>
            <a:xfrm>
              <a:off x="7603800" y="1468969"/>
              <a:ext cx="1766100" cy="2752500"/>
            </a:xfrm>
            <a:prstGeom prst="rect">
              <a:avLst/>
            </a:prstGeom>
            <a:noFill/>
            <a:ln cap="flat" cmpd="sng" w="86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750" lIns="82750" spcFirstLastPara="1" rIns="82750" wrap="square" tIns="82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67"/>
            </a:p>
          </p:txBody>
        </p:sp>
        <p:sp>
          <p:nvSpPr>
            <p:cNvPr id="201" name="Google Shape;201;p22"/>
            <p:cNvSpPr/>
            <p:nvPr/>
          </p:nvSpPr>
          <p:spPr>
            <a:xfrm>
              <a:off x="7704549" y="3829040"/>
              <a:ext cx="1536600" cy="267000"/>
            </a:xfrm>
            <a:prstGeom prst="flowChartAlternateProcess">
              <a:avLst/>
            </a:prstGeom>
            <a:solidFill>
              <a:srgbClr val="FFFFFF"/>
            </a:solidFill>
            <a:ln cap="flat" cmpd="sng" w="6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5275" lIns="65275" spcFirstLastPara="1" rIns="65275" wrap="square" tIns="6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lang="en" sz="928">
                  <a:latin typeface="Montserrat"/>
                  <a:ea typeface="Montserrat"/>
                  <a:cs typeface="Montserrat"/>
                  <a:sym typeface="Montserrat"/>
                </a:rPr>
                <a:t>Book now</a:t>
              </a:r>
              <a:endParaRPr sz="928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02" name="Google Shape;202;p22"/>
          <p:cNvGrpSpPr/>
          <p:nvPr/>
        </p:nvGrpSpPr>
        <p:grpSpPr>
          <a:xfrm>
            <a:off x="4088025" y="872194"/>
            <a:ext cx="1766100" cy="2752500"/>
            <a:chOff x="7603800" y="1468969"/>
            <a:chExt cx="1766100" cy="2752500"/>
          </a:xfrm>
        </p:grpSpPr>
        <p:sp>
          <p:nvSpPr>
            <p:cNvPr id="203" name="Google Shape;203;p22"/>
            <p:cNvSpPr/>
            <p:nvPr/>
          </p:nvSpPr>
          <p:spPr>
            <a:xfrm>
              <a:off x="7727877" y="1556551"/>
              <a:ext cx="1536600" cy="1544100"/>
            </a:xfrm>
            <a:prstGeom prst="flowChartAlternateProcess">
              <a:avLst/>
            </a:prstGeom>
            <a:solidFill>
              <a:srgbClr val="FFFFFF"/>
            </a:solidFill>
            <a:ln cap="flat" cmpd="sng" w="6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5275" lIns="65275" spcFirstLastPara="1" rIns="65275" wrap="square" tIns="6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lang="en" sz="928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Product Image</a:t>
              </a:r>
              <a:endParaRPr sz="928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4" name="Google Shape;204;p22"/>
            <p:cNvSpPr/>
            <p:nvPr/>
          </p:nvSpPr>
          <p:spPr>
            <a:xfrm>
              <a:off x="7719932" y="3188329"/>
              <a:ext cx="1544700" cy="582900"/>
            </a:xfrm>
            <a:prstGeom prst="flowChartAlternateProcess">
              <a:avLst/>
            </a:prstGeom>
            <a:noFill/>
            <a:ln>
              <a:noFill/>
            </a:ln>
          </p:spPr>
          <p:txBody>
            <a:bodyPr anchorCtr="0" anchor="ctr" bIns="65275" lIns="65275" spcFirstLastPara="1" rIns="65275" wrap="square" tIns="6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b="1" lang="en" sz="928">
                  <a:latin typeface="Montserrat"/>
                  <a:ea typeface="Montserrat"/>
                  <a:cs typeface="Montserrat"/>
                  <a:sym typeface="Montserrat"/>
                </a:rPr>
                <a:t>Name of Product</a:t>
              </a:r>
              <a:endParaRPr b="1" sz="928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lang="en" sz="928">
                  <a:latin typeface="Montserrat"/>
                  <a:ea typeface="Montserrat"/>
                  <a:cs typeface="Montserrat"/>
                  <a:sym typeface="Montserrat"/>
                </a:rPr>
                <a:t>Category</a:t>
              </a:r>
              <a:br>
                <a:rPr lang="en" sz="928"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en" sz="928">
                  <a:latin typeface="Montserrat"/>
                  <a:ea typeface="Montserrat"/>
                  <a:cs typeface="Montserrat"/>
                  <a:sym typeface="Montserrat"/>
                </a:rPr>
                <a:t>Age + Time of workshop</a:t>
              </a:r>
              <a:endParaRPr sz="928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5" name="Google Shape;205;p22"/>
            <p:cNvSpPr/>
            <p:nvPr/>
          </p:nvSpPr>
          <p:spPr>
            <a:xfrm>
              <a:off x="7603800" y="1468969"/>
              <a:ext cx="1766100" cy="2752500"/>
            </a:xfrm>
            <a:prstGeom prst="rect">
              <a:avLst/>
            </a:prstGeom>
            <a:noFill/>
            <a:ln cap="flat" cmpd="sng" w="86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750" lIns="82750" spcFirstLastPara="1" rIns="82750" wrap="square" tIns="82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67"/>
            </a:p>
          </p:txBody>
        </p:sp>
        <p:sp>
          <p:nvSpPr>
            <p:cNvPr id="206" name="Google Shape;206;p22"/>
            <p:cNvSpPr/>
            <p:nvPr/>
          </p:nvSpPr>
          <p:spPr>
            <a:xfrm>
              <a:off x="7704549" y="3829040"/>
              <a:ext cx="1536600" cy="267000"/>
            </a:xfrm>
            <a:prstGeom prst="flowChartAlternateProcess">
              <a:avLst/>
            </a:prstGeom>
            <a:solidFill>
              <a:srgbClr val="FFFFFF"/>
            </a:solidFill>
            <a:ln cap="flat" cmpd="sng" w="6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5275" lIns="65275" spcFirstLastPara="1" rIns="65275" wrap="square" tIns="6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lang="en" sz="928">
                  <a:latin typeface="Montserrat"/>
                  <a:ea typeface="Montserrat"/>
                  <a:cs typeface="Montserrat"/>
                  <a:sym typeface="Montserrat"/>
                </a:rPr>
                <a:t>Book now</a:t>
              </a:r>
              <a:endParaRPr sz="928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07" name="Google Shape;207;p22"/>
          <p:cNvGrpSpPr/>
          <p:nvPr/>
        </p:nvGrpSpPr>
        <p:grpSpPr>
          <a:xfrm>
            <a:off x="2321925" y="872194"/>
            <a:ext cx="1766100" cy="2752500"/>
            <a:chOff x="7603800" y="1468969"/>
            <a:chExt cx="1766100" cy="2752500"/>
          </a:xfrm>
        </p:grpSpPr>
        <p:sp>
          <p:nvSpPr>
            <p:cNvPr id="208" name="Google Shape;208;p22"/>
            <p:cNvSpPr/>
            <p:nvPr/>
          </p:nvSpPr>
          <p:spPr>
            <a:xfrm>
              <a:off x="7727877" y="1556551"/>
              <a:ext cx="1536600" cy="1544100"/>
            </a:xfrm>
            <a:prstGeom prst="flowChartAlternateProcess">
              <a:avLst/>
            </a:prstGeom>
            <a:solidFill>
              <a:srgbClr val="FFFFFF"/>
            </a:solidFill>
            <a:ln cap="flat" cmpd="sng" w="6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5275" lIns="65275" spcFirstLastPara="1" rIns="65275" wrap="square" tIns="6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lang="en" sz="928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Product Image</a:t>
              </a:r>
              <a:endParaRPr sz="928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9" name="Google Shape;209;p22"/>
            <p:cNvSpPr/>
            <p:nvPr/>
          </p:nvSpPr>
          <p:spPr>
            <a:xfrm>
              <a:off x="7719932" y="3188329"/>
              <a:ext cx="1544700" cy="582900"/>
            </a:xfrm>
            <a:prstGeom prst="flowChartAlternateProcess">
              <a:avLst/>
            </a:prstGeom>
            <a:noFill/>
            <a:ln>
              <a:noFill/>
            </a:ln>
          </p:spPr>
          <p:txBody>
            <a:bodyPr anchorCtr="0" anchor="ctr" bIns="65275" lIns="65275" spcFirstLastPara="1" rIns="65275" wrap="square" tIns="6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b="1" lang="en" sz="928">
                  <a:latin typeface="Montserrat"/>
                  <a:ea typeface="Montserrat"/>
                  <a:cs typeface="Montserrat"/>
                  <a:sym typeface="Montserrat"/>
                </a:rPr>
                <a:t>Name of Product</a:t>
              </a:r>
              <a:endParaRPr b="1" sz="928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lang="en" sz="928">
                  <a:latin typeface="Montserrat"/>
                  <a:ea typeface="Montserrat"/>
                  <a:cs typeface="Montserrat"/>
                  <a:sym typeface="Montserrat"/>
                </a:rPr>
                <a:t>Category</a:t>
              </a:r>
              <a:br>
                <a:rPr lang="en" sz="928"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en" sz="928">
                  <a:latin typeface="Montserrat"/>
                  <a:ea typeface="Montserrat"/>
                  <a:cs typeface="Montserrat"/>
                  <a:sym typeface="Montserrat"/>
                </a:rPr>
                <a:t>Age + Time of workshop</a:t>
              </a:r>
              <a:endParaRPr sz="928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10" name="Google Shape;210;p22"/>
            <p:cNvSpPr/>
            <p:nvPr/>
          </p:nvSpPr>
          <p:spPr>
            <a:xfrm>
              <a:off x="7603800" y="1468969"/>
              <a:ext cx="1766100" cy="2752500"/>
            </a:xfrm>
            <a:prstGeom prst="rect">
              <a:avLst/>
            </a:prstGeom>
            <a:noFill/>
            <a:ln cap="flat" cmpd="sng" w="86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750" lIns="82750" spcFirstLastPara="1" rIns="82750" wrap="square" tIns="82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67"/>
            </a:p>
          </p:txBody>
        </p:sp>
        <p:sp>
          <p:nvSpPr>
            <p:cNvPr id="211" name="Google Shape;211;p22"/>
            <p:cNvSpPr/>
            <p:nvPr/>
          </p:nvSpPr>
          <p:spPr>
            <a:xfrm>
              <a:off x="7704549" y="3829040"/>
              <a:ext cx="1536600" cy="267000"/>
            </a:xfrm>
            <a:prstGeom prst="flowChartAlternateProcess">
              <a:avLst/>
            </a:prstGeom>
            <a:solidFill>
              <a:srgbClr val="FFFFFF"/>
            </a:solidFill>
            <a:ln cap="flat" cmpd="sng" w="6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5275" lIns="65275" spcFirstLastPara="1" rIns="65275" wrap="square" tIns="6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lang="en" sz="928">
                  <a:latin typeface="Montserrat"/>
                  <a:ea typeface="Montserrat"/>
                  <a:cs typeface="Montserrat"/>
                  <a:sym typeface="Montserrat"/>
                </a:rPr>
                <a:t>Book now</a:t>
              </a:r>
              <a:endParaRPr sz="928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12" name="Google Shape;212;p22"/>
          <p:cNvGrpSpPr/>
          <p:nvPr/>
        </p:nvGrpSpPr>
        <p:grpSpPr>
          <a:xfrm>
            <a:off x="7620225" y="872225"/>
            <a:ext cx="1766100" cy="2752500"/>
            <a:chOff x="7603800" y="1469000"/>
            <a:chExt cx="1766100" cy="2752500"/>
          </a:xfrm>
        </p:grpSpPr>
        <p:sp>
          <p:nvSpPr>
            <p:cNvPr id="213" name="Google Shape;213;p22"/>
            <p:cNvSpPr/>
            <p:nvPr/>
          </p:nvSpPr>
          <p:spPr>
            <a:xfrm>
              <a:off x="7727877" y="1556551"/>
              <a:ext cx="1536600" cy="1544100"/>
            </a:xfrm>
            <a:prstGeom prst="flowChartAlternateProcess">
              <a:avLst/>
            </a:prstGeom>
            <a:solidFill>
              <a:srgbClr val="FFFFFF"/>
            </a:solidFill>
            <a:ln cap="flat" cmpd="sng" w="6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5275" lIns="65275" spcFirstLastPara="1" rIns="65275" wrap="square" tIns="6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lang="en" sz="928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Product Image</a:t>
              </a:r>
              <a:endParaRPr sz="928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14" name="Google Shape;214;p22"/>
            <p:cNvSpPr/>
            <p:nvPr/>
          </p:nvSpPr>
          <p:spPr>
            <a:xfrm>
              <a:off x="7719932" y="3188329"/>
              <a:ext cx="1544700" cy="582900"/>
            </a:xfrm>
            <a:prstGeom prst="flowChartAlternateProcess">
              <a:avLst/>
            </a:prstGeom>
            <a:noFill/>
            <a:ln>
              <a:noFill/>
            </a:ln>
          </p:spPr>
          <p:txBody>
            <a:bodyPr anchorCtr="0" anchor="ctr" bIns="65275" lIns="65275" spcFirstLastPara="1" rIns="65275" wrap="square" tIns="6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b="1" lang="en" sz="928">
                  <a:latin typeface="Montserrat"/>
                  <a:ea typeface="Montserrat"/>
                  <a:cs typeface="Montserrat"/>
                  <a:sym typeface="Montserrat"/>
                </a:rPr>
                <a:t>Name of Product</a:t>
              </a:r>
              <a:endParaRPr b="1" sz="928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lang="en" sz="928">
                  <a:latin typeface="Montserrat"/>
                  <a:ea typeface="Montserrat"/>
                  <a:cs typeface="Montserrat"/>
                  <a:sym typeface="Montserrat"/>
                </a:rPr>
                <a:t>Category</a:t>
              </a:r>
              <a:br>
                <a:rPr lang="en" sz="928"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en" sz="928">
                  <a:latin typeface="Montserrat"/>
                  <a:ea typeface="Montserrat"/>
                  <a:cs typeface="Montserrat"/>
                  <a:sym typeface="Montserrat"/>
                </a:rPr>
                <a:t>Age + Time of workshop</a:t>
              </a:r>
              <a:endParaRPr sz="928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15" name="Google Shape;215;p22"/>
            <p:cNvSpPr/>
            <p:nvPr/>
          </p:nvSpPr>
          <p:spPr>
            <a:xfrm>
              <a:off x="7603800" y="1469000"/>
              <a:ext cx="1766100" cy="2752500"/>
            </a:xfrm>
            <a:prstGeom prst="rect">
              <a:avLst/>
            </a:prstGeom>
            <a:noFill/>
            <a:ln cap="flat" cmpd="sng" w="86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750" lIns="82750" spcFirstLastPara="1" rIns="82750" wrap="square" tIns="82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67"/>
            </a:p>
          </p:txBody>
        </p:sp>
        <p:sp>
          <p:nvSpPr>
            <p:cNvPr id="216" name="Google Shape;216;p22"/>
            <p:cNvSpPr/>
            <p:nvPr/>
          </p:nvSpPr>
          <p:spPr>
            <a:xfrm>
              <a:off x="7704549" y="3829040"/>
              <a:ext cx="1536600" cy="267000"/>
            </a:xfrm>
            <a:prstGeom prst="flowChartAlternateProcess">
              <a:avLst/>
            </a:prstGeom>
            <a:solidFill>
              <a:srgbClr val="FFFFFF"/>
            </a:solidFill>
            <a:ln cap="flat" cmpd="sng" w="6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5275" lIns="65275" spcFirstLastPara="1" rIns="65275" wrap="square" tIns="6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lang="en" sz="928">
                  <a:latin typeface="Montserrat"/>
                  <a:ea typeface="Montserrat"/>
                  <a:cs typeface="Montserrat"/>
                  <a:sym typeface="Montserrat"/>
                </a:rPr>
                <a:t>Book now</a:t>
              </a:r>
              <a:endParaRPr sz="928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17" name="Google Shape;217;p22"/>
          <p:cNvGrpSpPr/>
          <p:nvPr/>
        </p:nvGrpSpPr>
        <p:grpSpPr>
          <a:xfrm>
            <a:off x="555825" y="872194"/>
            <a:ext cx="1766100" cy="2752500"/>
            <a:chOff x="7603800" y="1468969"/>
            <a:chExt cx="1766100" cy="2752500"/>
          </a:xfrm>
        </p:grpSpPr>
        <p:sp>
          <p:nvSpPr>
            <p:cNvPr id="218" name="Google Shape;218;p22"/>
            <p:cNvSpPr/>
            <p:nvPr/>
          </p:nvSpPr>
          <p:spPr>
            <a:xfrm>
              <a:off x="7727877" y="1556551"/>
              <a:ext cx="1536600" cy="1544100"/>
            </a:xfrm>
            <a:prstGeom prst="flowChartAlternateProcess">
              <a:avLst/>
            </a:prstGeom>
            <a:solidFill>
              <a:srgbClr val="FFFFFF"/>
            </a:solidFill>
            <a:ln cap="flat" cmpd="sng" w="6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5275" lIns="65275" spcFirstLastPara="1" rIns="65275" wrap="square" tIns="6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lang="en" sz="928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Product Image</a:t>
              </a:r>
              <a:endParaRPr sz="928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19" name="Google Shape;219;p22"/>
            <p:cNvSpPr/>
            <p:nvPr/>
          </p:nvSpPr>
          <p:spPr>
            <a:xfrm>
              <a:off x="7719932" y="3188329"/>
              <a:ext cx="1544700" cy="582900"/>
            </a:xfrm>
            <a:prstGeom prst="flowChartAlternateProcess">
              <a:avLst/>
            </a:prstGeom>
            <a:noFill/>
            <a:ln>
              <a:noFill/>
            </a:ln>
          </p:spPr>
          <p:txBody>
            <a:bodyPr anchorCtr="0" anchor="ctr" bIns="65275" lIns="65275" spcFirstLastPara="1" rIns="65275" wrap="square" tIns="6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b="1" lang="en" sz="928">
                  <a:latin typeface="Montserrat"/>
                  <a:ea typeface="Montserrat"/>
                  <a:cs typeface="Montserrat"/>
                  <a:sym typeface="Montserrat"/>
                </a:rPr>
                <a:t>Name of Product</a:t>
              </a:r>
              <a:endParaRPr b="1" sz="928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lang="en" sz="928">
                  <a:latin typeface="Montserrat"/>
                  <a:ea typeface="Montserrat"/>
                  <a:cs typeface="Montserrat"/>
                  <a:sym typeface="Montserrat"/>
                </a:rPr>
                <a:t>Category</a:t>
              </a:r>
              <a:br>
                <a:rPr lang="en" sz="928"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en" sz="928">
                  <a:latin typeface="Montserrat"/>
                  <a:ea typeface="Montserrat"/>
                  <a:cs typeface="Montserrat"/>
                  <a:sym typeface="Montserrat"/>
                </a:rPr>
                <a:t>Age + Time of workshop</a:t>
              </a:r>
              <a:endParaRPr sz="928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0" name="Google Shape;220;p22"/>
            <p:cNvSpPr/>
            <p:nvPr/>
          </p:nvSpPr>
          <p:spPr>
            <a:xfrm>
              <a:off x="7603800" y="1468969"/>
              <a:ext cx="1766100" cy="2752500"/>
            </a:xfrm>
            <a:prstGeom prst="rect">
              <a:avLst/>
            </a:prstGeom>
            <a:noFill/>
            <a:ln cap="flat" cmpd="sng" w="86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750" lIns="82750" spcFirstLastPara="1" rIns="82750" wrap="square" tIns="82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67"/>
            </a:p>
          </p:txBody>
        </p:sp>
        <p:sp>
          <p:nvSpPr>
            <p:cNvPr id="221" name="Google Shape;221;p22"/>
            <p:cNvSpPr/>
            <p:nvPr/>
          </p:nvSpPr>
          <p:spPr>
            <a:xfrm>
              <a:off x="7704549" y="3829040"/>
              <a:ext cx="1536600" cy="267000"/>
            </a:xfrm>
            <a:prstGeom prst="flowChartAlternateProcess">
              <a:avLst/>
            </a:prstGeom>
            <a:solidFill>
              <a:srgbClr val="FFFFFF"/>
            </a:solidFill>
            <a:ln cap="flat" cmpd="sng" w="6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5275" lIns="65275" spcFirstLastPara="1" rIns="65275" wrap="square" tIns="6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lang="en" sz="928">
                  <a:latin typeface="Montserrat"/>
                  <a:ea typeface="Montserrat"/>
                  <a:cs typeface="Montserrat"/>
                  <a:sym typeface="Montserrat"/>
                </a:rPr>
                <a:t>Book now</a:t>
              </a:r>
              <a:endParaRPr sz="928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22" name="Google Shape;222;p22"/>
          <p:cNvSpPr/>
          <p:nvPr/>
        </p:nvSpPr>
        <p:spPr>
          <a:xfrm>
            <a:off x="466225" y="4366350"/>
            <a:ext cx="9146700" cy="4649700"/>
          </a:xfrm>
          <a:prstGeom prst="rect">
            <a:avLst/>
          </a:prstGeom>
          <a:solidFill>
            <a:srgbClr val="EEEEEE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cxnSp>
        <p:nvCxnSpPr>
          <p:cNvPr id="223" name="Google Shape;223;p22"/>
          <p:cNvCxnSpPr/>
          <p:nvPr/>
        </p:nvCxnSpPr>
        <p:spPr>
          <a:xfrm>
            <a:off x="477800" y="4846831"/>
            <a:ext cx="9138300" cy="2946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24" name="Google Shape;224;p22"/>
          <p:cNvCxnSpPr/>
          <p:nvPr/>
        </p:nvCxnSpPr>
        <p:spPr>
          <a:xfrm flipH="1" rot="10800000">
            <a:off x="463125" y="4846686"/>
            <a:ext cx="9153000" cy="2916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25" name="Google Shape;225;p22"/>
          <p:cNvSpPr/>
          <p:nvPr/>
        </p:nvSpPr>
        <p:spPr>
          <a:xfrm>
            <a:off x="7128178" y="6995688"/>
            <a:ext cx="1491600" cy="379800"/>
          </a:xfrm>
          <a:prstGeom prst="flowChartAlternateProcess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ontserrat"/>
                <a:ea typeface="Montserrat"/>
                <a:cs typeface="Montserrat"/>
                <a:sym typeface="Montserrat"/>
              </a:rPr>
              <a:t>Click To See More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p22"/>
          <p:cNvSpPr txBox="1"/>
          <p:nvPr/>
        </p:nvSpPr>
        <p:spPr>
          <a:xfrm>
            <a:off x="643366" y="4557010"/>
            <a:ext cx="252900" cy="2949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2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756325" y="5162275"/>
            <a:ext cx="5971800" cy="22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Beyond The Canvas by The Artivity Collective brings together a unique family of creative brands and experiences designed to inspire self-expression, hands-on learning, and artistic exploration for all ages. From sensory play and abstract art to handmade crafts and young entrepreneurship, there’s a creative journey waiting for everyone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-"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✔️ Expressive abstract art experiences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-"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✔️ Custom hand-painted press-on nail artistry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-"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✔️ Handmade charms &amp; creative accessories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-"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✔️ Sensory play and messy art exploration for children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-"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✔️ Young creator &amp; mini entrepreneurship programmes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-"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✔️ Curated art gallery &amp; professional art showcases.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670575" y="7601650"/>
            <a:ext cx="1536600" cy="1183500"/>
          </a:xfrm>
          <a:prstGeom prst="flowChartAlternateProcess">
            <a:avLst/>
          </a:prstGeom>
          <a:solidFill>
            <a:srgbClr val="FFFFFF"/>
          </a:solidFill>
          <a:ln cap="flat" cmpd="sng" w="6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275" lIns="65275" spcFirstLastPara="1" rIns="65275" wrap="square" tIns="6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85"/>
              <a:buFont typeface="Arial"/>
              <a:buNone/>
            </a:pPr>
            <a:r>
              <a:rPr lang="en" sz="928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Image gallery</a:t>
            </a:r>
            <a:endParaRPr sz="928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85"/>
              <a:buFont typeface="Arial"/>
              <a:buNone/>
            </a:pPr>
            <a:r>
              <a:rPr lang="en" sz="928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(scrollable)</a:t>
            </a:r>
            <a:endParaRPr sz="928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756325" y="4675925"/>
            <a:ext cx="3470400" cy="7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Roboto"/>
                <a:ea typeface="Roboto"/>
                <a:cs typeface="Roboto"/>
                <a:sym typeface="Roboto"/>
              </a:rPr>
              <a:t>Beyond</a:t>
            </a:r>
            <a:r>
              <a:rPr lang="en" sz="2700">
                <a:latin typeface="Roboto"/>
                <a:ea typeface="Roboto"/>
                <a:cs typeface="Roboto"/>
                <a:sym typeface="Roboto"/>
              </a:rPr>
              <a:t> The Canvas</a:t>
            </a:r>
            <a:endParaRPr sz="2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643375" y="4557000"/>
            <a:ext cx="8832000" cy="4459200"/>
          </a:xfrm>
          <a:prstGeom prst="rect">
            <a:avLst/>
          </a:prstGeom>
          <a:noFill/>
          <a:ln cap="flat" cmpd="sng" w="172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750" lIns="82750" spcFirstLastPara="1" rIns="82750" wrap="square" tIns="82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67"/>
              <a:t> </a:t>
            </a:r>
            <a:endParaRPr sz="1267"/>
          </a:p>
        </p:txBody>
      </p:sp>
      <p:grpSp>
        <p:nvGrpSpPr>
          <p:cNvPr id="231" name="Google Shape;231;p22"/>
          <p:cNvGrpSpPr/>
          <p:nvPr/>
        </p:nvGrpSpPr>
        <p:grpSpPr>
          <a:xfrm>
            <a:off x="6728125" y="5113347"/>
            <a:ext cx="2291716" cy="715800"/>
            <a:chOff x="7272975" y="4905929"/>
            <a:chExt cx="2291716" cy="715800"/>
          </a:xfrm>
        </p:grpSpPr>
        <p:sp>
          <p:nvSpPr>
            <p:cNvPr id="232" name="Google Shape;232;p22"/>
            <p:cNvSpPr/>
            <p:nvPr/>
          </p:nvSpPr>
          <p:spPr>
            <a:xfrm>
              <a:off x="7272975" y="4905954"/>
              <a:ext cx="691245" cy="715763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250" lIns="91250" spcFirstLastPara="1" rIns="91250" wrap="square" tIns="91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98"/>
                <a:t>Logo</a:t>
              </a:r>
              <a:endParaRPr sz="998"/>
            </a:p>
          </p:txBody>
        </p:sp>
        <p:sp>
          <p:nvSpPr>
            <p:cNvPr id="233" name="Google Shape;233;p22"/>
            <p:cNvSpPr/>
            <p:nvPr/>
          </p:nvSpPr>
          <p:spPr>
            <a:xfrm>
              <a:off x="8073242" y="4905954"/>
              <a:ext cx="691245" cy="715763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250" lIns="91250" spcFirstLastPara="1" rIns="91250" wrap="square" tIns="91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98"/>
                <a:t>Logo</a:t>
              </a:r>
              <a:endParaRPr sz="998"/>
            </a:p>
          </p:txBody>
        </p:sp>
        <p:sp>
          <p:nvSpPr>
            <p:cNvPr id="234" name="Google Shape;234;p22"/>
            <p:cNvSpPr/>
            <p:nvPr/>
          </p:nvSpPr>
          <p:spPr>
            <a:xfrm>
              <a:off x="8873492" y="4905929"/>
              <a:ext cx="691200" cy="715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250" lIns="91250" spcFirstLastPara="1" rIns="91250" wrap="square" tIns="91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98"/>
                <a:t>Logo</a:t>
              </a:r>
              <a:endParaRPr sz="998"/>
            </a:p>
          </p:txBody>
        </p:sp>
      </p:grpSp>
      <p:grpSp>
        <p:nvGrpSpPr>
          <p:cNvPr id="235" name="Google Shape;235;p22"/>
          <p:cNvGrpSpPr/>
          <p:nvPr/>
        </p:nvGrpSpPr>
        <p:grpSpPr>
          <a:xfrm>
            <a:off x="6316975" y="6053709"/>
            <a:ext cx="3114016" cy="715825"/>
            <a:chOff x="6029975" y="6333279"/>
            <a:chExt cx="3114016" cy="715825"/>
          </a:xfrm>
        </p:grpSpPr>
        <p:grpSp>
          <p:nvGrpSpPr>
            <p:cNvPr id="236" name="Google Shape;236;p22"/>
            <p:cNvGrpSpPr/>
            <p:nvPr/>
          </p:nvGrpSpPr>
          <p:grpSpPr>
            <a:xfrm>
              <a:off x="6029975" y="6333279"/>
              <a:ext cx="2291716" cy="715825"/>
              <a:chOff x="7272975" y="4905929"/>
              <a:chExt cx="2291716" cy="715825"/>
            </a:xfrm>
          </p:grpSpPr>
          <p:sp>
            <p:nvSpPr>
              <p:cNvPr id="237" name="Google Shape;237;p22"/>
              <p:cNvSpPr/>
              <p:nvPr/>
            </p:nvSpPr>
            <p:spPr>
              <a:xfrm>
                <a:off x="7272975" y="4905954"/>
                <a:ext cx="691200" cy="7158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250" lIns="91250" spcFirstLastPara="1" rIns="91250" wrap="square" tIns="912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98"/>
                  <a:t>Logo</a:t>
                </a:r>
                <a:endParaRPr sz="998"/>
              </a:p>
            </p:txBody>
          </p:sp>
          <p:sp>
            <p:nvSpPr>
              <p:cNvPr id="238" name="Google Shape;238;p22"/>
              <p:cNvSpPr/>
              <p:nvPr/>
            </p:nvSpPr>
            <p:spPr>
              <a:xfrm>
                <a:off x="8073242" y="4905954"/>
                <a:ext cx="691200" cy="7158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250" lIns="91250" spcFirstLastPara="1" rIns="91250" wrap="square" tIns="912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98"/>
                  <a:t>Logo</a:t>
                </a:r>
                <a:endParaRPr sz="998"/>
              </a:p>
            </p:txBody>
          </p:sp>
          <p:sp>
            <p:nvSpPr>
              <p:cNvPr id="239" name="Google Shape;239;p22"/>
              <p:cNvSpPr/>
              <p:nvPr/>
            </p:nvSpPr>
            <p:spPr>
              <a:xfrm>
                <a:off x="8873492" y="4905929"/>
                <a:ext cx="691200" cy="7158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250" lIns="91250" spcFirstLastPara="1" rIns="91250" wrap="square" tIns="912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98"/>
                  <a:t>Logo</a:t>
                </a:r>
                <a:endParaRPr sz="998"/>
              </a:p>
            </p:txBody>
          </p:sp>
        </p:grpSp>
        <p:sp>
          <p:nvSpPr>
            <p:cNvPr id="240" name="Google Shape;240;p22"/>
            <p:cNvSpPr/>
            <p:nvPr/>
          </p:nvSpPr>
          <p:spPr>
            <a:xfrm>
              <a:off x="8452792" y="6333292"/>
              <a:ext cx="691200" cy="7158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250" lIns="91250" spcFirstLastPara="1" rIns="91250" wrap="square" tIns="91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98"/>
                <a:t>Logo</a:t>
              </a:r>
              <a:endParaRPr sz="998"/>
            </a:p>
          </p:txBody>
        </p:sp>
      </p:grpSp>
      <p:sp>
        <p:nvSpPr>
          <p:cNvPr id="241" name="Google Shape;241;p22"/>
          <p:cNvSpPr/>
          <p:nvPr/>
        </p:nvSpPr>
        <p:spPr>
          <a:xfrm>
            <a:off x="2436675" y="7601650"/>
            <a:ext cx="1536600" cy="1183500"/>
          </a:xfrm>
          <a:prstGeom prst="flowChartAlternateProcess">
            <a:avLst/>
          </a:prstGeom>
          <a:solidFill>
            <a:srgbClr val="FFFFFF"/>
          </a:solidFill>
          <a:ln cap="flat" cmpd="sng" w="6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275" lIns="65275" spcFirstLastPara="1" rIns="65275" wrap="square" tIns="6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5"/>
              <a:buFont typeface="Arial"/>
              <a:buNone/>
            </a:pPr>
            <a:r>
              <a:rPr lang="en" sz="92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Image</a:t>
            </a:r>
            <a:r>
              <a:rPr lang="en" sz="928">
                <a:latin typeface="Montserrat"/>
                <a:ea typeface="Montserrat"/>
                <a:cs typeface="Montserrat"/>
                <a:sym typeface="Montserrat"/>
              </a:rPr>
              <a:t> gallery</a:t>
            </a:r>
            <a:endParaRPr sz="928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5"/>
              <a:buFont typeface="Arial"/>
              <a:buNone/>
            </a:pPr>
            <a:r>
              <a:rPr lang="en" sz="928">
                <a:latin typeface="Montserrat"/>
                <a:ea typeface="Montserrat"/>
                <a:cs typeface="Montserrat"/>
                <a:sym typeface="Montserrat"/>
              </a:rPr>
              <a:t>(scrollable)</a:t>
            </a:r>
            <a:endParaRPr sz="928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4202775" y="7601650"/>
            <a:ext cx="1536600" cy="1183500"/>
          </a:xfrm>
          <a:prstGeom prst="flowChartAlternateProcess">
            <a:avLst/>
          </a:prstGeom>
          <a:solidFill>
            <a:srgbClr val="FFFFFF"/>
          </a:solidFill>
          <a:ln cap="flat" cmpd="sng" w="6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275" lIns="65275" spcFirstLastPara="1" rIns="65275" wrap="square" tIns="6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5"/>
              <a:buFont typeface="Arial"/>
              <a:buNone/>
            </a:pPr>
            <a:r>
              <a:rPr lang="en" sz="92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Image</a:t>
            </a:r>
            <a:r>
              <a:rPr lang="en" sz="928">
                <a:latin typeface="Montserrat"/>
                <a:ea typeface="Montserrat"/>
                <a:cs typeface="Montserrat"/>
                <a:sym typeface="Montserrat"/>
              </a:rPr>
              <a:t> gallery</a:t>
            </a:r>
            <a:endParaRPr sz="928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5"/>
              <a:buFont typeface="Arial"/>
              <a:buNone/>
            </a:pPr>
            <a:r>
              <a:rPr lang="en" sz="928">
                <a:latin typeface="Montserrat"/>
                <a:ea typeface="Montserrat"/>
                <a:cs typeface="Montserrat"/>
                <a:sym typeface="Montserrat"/>
              </a:rPr>
              <a:t>(scrollable)</a:t>
            </a:r>
            <a:endParaRPr sz="928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5968875" y="7601650"/>
            <a:ext cx="1536600" cy="1183500"/>
          </a:xfrm>
          <a:prstGeom prst="flowChartAlternateProcess">
            <a:avLst/>
          </a:prstGeom>
          <a:solidFill>
            <a:srgbClr val="FFFFFF"/>
          </a:solidFill>
          <a:ln cap="flat" cmpd="sng" w="6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275" lIns="65275" spcFirstLastPara="1" rIns="65275" wrap="square" tIns="6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5"/>
              <a:buFont typeface="Arial"/>
              <a:buNone/>
            </a:pPr>
            <a:r>
              <a:rPr lang="en" sz="92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Image</a:t>
            </a:r>
            <a:r>
              <a:rPr lang="en" sz="928">
                <a:latin typeface="Montserrat"/>
                <a:ea typeface="Montserrat"/>
                <a:cs typeface="Montserrat"/>
                <a:sym typeface="Montserrat"/>
              </a:rPr>
              <a:t> gallery</a:t>
            </a:r>
            <a:endParaRPr sz="928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5"/>
              <a:buFont typeface="Arial"/>
              <a:buNone/>
            </a:pPr>
            <a:r>
              <a:rPr lang="en" sz="928">
                <a:latin typeface="Montserrat"/>
                <a:ea typeface="Montserrat"/>
                <a:cs typeface="Montserrat"/>
                <a:sym typeface="Montserrat"/>
              </a:rPr>
              <a:t>(scrollable)</a:t>
            </a:r>
            <a:endParaRPr sz="928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7734975" y="7601650"/>
            <a:ext cx="1536600" cy="1183500"/>
          </a:xfrm>
          <a:prstGeom prst="flowChartAlternateProcess">
            <a:avLst/>
          </a:prstGeom>
          <a:solidFill>
            <a:srgbClr val="FFFFFF"/>
          </a:solidFill>
          <a:ln cap="flat" cmpd="sng" w="6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275" lIns="65275" spcFirstLastPara="1" rIns="65275" wrap="square" tIns="6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5"/>
              <a:buFont typeface="Arial"/>
              <a:buNone/>
            </a:pPr>
            <a:r>
              <a:rPr lang="en" sz="92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Image</a:t>
            </a:r>
            <a:r>
              <a:rPr lang="en" sz="928">
                <a:latin typeface="Montserrat"/>
                <a:ea typeface="Montserrat"/>
                <a:cs typeface="Montserrat"/>
                <a:sym typeface="Montserrat"/>
              </a:rPr>
              <a:t> gallery</a:t>
            </a:r>
            <a:endParaRPr sz="928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5"/>
              <a:buFont typeface="Arial"/>
              <a:buNone/>
            </a:pPr>
            <a:r>
              <a:rPr lang="en" sz="928">
                <a:latin typeface="Montserrat"/>
                <a:ea typeface="Montserrat"/>
                <a:cs typeface="Montserrat"/>
                <a:sym typeface="Montserrat"/>
              </a:rPr>
              <a:t>(scrollable)</a:t>
            </a:r>
            <a:endParaRPr sz="928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9" name="Google Shape;249;p23"/>
          <p:cNvGraphicFramePr/>
          <p:nvPr/>
        </p:nvGraphicFramePr>
        <p:xfrm>
          <a:off x="10716050" y="748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{48FD2119-6418-421D-A403-E5465F0AB291}</a:tableStyleId>
              </a:tblPr>
              <a:tblGrid>
                <a:gridCol w="1174500"/>
                <a:gridCol w="2677250"/>
                <a:gridCol w="3245900"/>
              </a:tblGrid>
              <a:tr h="3231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HOMEPAGE DESIGN STRUCTURE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133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1 - Shop Feature - 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Our Best Sellers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Background Image: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Suggested Banner Headline: Seasonal Special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Book now button leads to enquiry section of contact page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Button “View More Workshops ” links to Shop page filtering to best sellers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133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2- Scrollable banner - Parties and Events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Images to put in: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Header:  IT’S PARTY TIME !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Offerings: Birthdays · Group Bookings · Corporate Events · Team Bonding · 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Celebrate with us links to Arty Events &amp; Parties Page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hMerge="1"/>
              </a:tr>
            </a:tbl>
          </a:graphicData>
        </a:graphic>
      </p:graphicFrame>
      <p:sp>
        <p:nvSpPr>
          <p:cNvPr id="250" name="Google Shape;250;p23"/>
          <p:cNvSpPr/>
          <p:nvPr/>
        </p:nvSpPr>
        <p:spPr>
          <a:xfrm>
            <a:off x="446700" y="748850"/>
            <a:ext cx="9153000" cy="4183500"/>
          </a:xfrm>
          <a:prstGeom prst="rect">
            <a:avLst/>
          </a:prstGeom>
          <a:solidFill>
            <a:srgbClr val="EEEEEE"/>
          </a:solidFill>
          <a:ln cap="flat" cmpd="sng" w="345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9375" lIns="159375" spcFirstLastPara="1" rIns="159375" wrap="square" tIns="159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44"/>
          </a:p>
        </p:txBody>
      </p:sp>
      <p:sp>
        <p:nvSpPr>
          <p:cNvPr id="251" name="Google Shape;251;p23"/>
          <p:cNvSpPr/>
          <p:nvPr/>
        </p:nvSpPr>
        <p:spPr>
          <a:xfrm>
            <a:off x="2770067" y="953148"/>
            <a:ext cx="4416900" cy="293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59375" lIns="159375" spcFirstLastPara="1" rIns="159375" wrap="square" tIns="159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39">
                <a:latin typeface="Montserrat"/>
                <a:ea typeface="Montserrat"/>
                <a:cs typeface="Montserrat"/>
                <a:sym typeface="Montserrat"/>
              </a:rPr>
              <a:t>Our Best Sellers</a:t>
            </a:r>
            <a:endParaRPr sz="1448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520800" y="872150"/>
            <a:ext cx="8938200" cy="3838500"/>
          </a:xfrm>
          <a:prstGeom prst="rect">
            <a:avLst/>
          </a:prstGeom>
          <a:noFill/>
          <a:ln cap="flat" cmpd="sng" w="172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750" lIns="82750" spcFirstLastPara="1" rIns="82750" wrap="square" tIns="82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67"/>
              <a:t> </a:t>
            </a:r>
            <a:endParaRPr sz="1267"/>
          </a:p>
        </p:txBody>
      </p:sp>
      <p:sp>
        <p:nvSpPr>
          <p:cNvPr id="253" name="Google Shape;253;p23"/>
          <p:cNvSpPr txBox="1"/>
          <p:nvPr/>
        </p:nvSpPr>
        <p:spPr>
          <a:xfrm>
            <a:off x="622293" y="952809"/>
            <a:ext cx="262200" cy="2937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82750" lIns="82750" spcFirstLastPara="1" rIns="82750" wrap="square" tIns="82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15">
                <a:solidFill>
                  <a:srgbClr val="FFFFFF"/>
                </a:solidFill>
              </a:rPr>
              <a:t>1</a:t>
            </a:r>
            <a:endParaRPr b="1" sz="815">
              <a:solidFill>
                <a:srgbClr val="FFFFFF"/>
              </a:solidFill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4210216" y="4443591"/>
            <a:ext cx="1536600" cy="267000"/>
          </a:xfrm>
          <a:prstGeom prst="flowChartAlternateProcess">
            <a:avLst/>
          </a:prstGeom>
          <a:solidFill>
            <a:srgbClr val="FFFFFF"/>
          </a:solidFill>
          <a:ln cap="flat" cmpd="sng" w="6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275" lIns="65275" spcFirstLastPara="1" rIns="65275" wrap="square" tIns="6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5"/>
              <a:buFont typeface="Arial"/>
              <a:buNone/>
            </a:pPr>
            <a:r>
              <a:rPr lang="en" sz="928">
                <a:latin typeface="Montserrat"/>
                <a:ea typeface="Montserrat"/>
                <a:cs typeface="Montserrat"/>
                <a:sym typeface="Montserrat"/>
              </a:rPr>
              <a:t>View More Workshops</a:t>
            </a:r>
            <a:endParaRPr sz="928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55" name="Google Shape;255;p23"/>
          <p:cNvGrpSpPr/>
          <p:nvPr/>
        </p:nvGrpSpPr>
        <p:grpSpPr>
          <a:xfrm>
            <a:off x="5837700" y="1468969"/>
            <a:ext cx="1766100" cy="2752500"/>
            <a:chOff x="7603800" y="1468969"/>
            <a:chExt cx="1766100" cy="2752500"/>
          </a:xfrm>
        </p:grpSpPr>
        <p:sp>
          <p:nvSpPr>
            <p:cNvPr id="256" name="Google Shape;256;p23"/>
            <p:cNvSpPr/>
            <p:nvPr/>
          </p:nvSpPr>
          <p:spPr>
            <a:xfrm>
              <a:off x="7727877" y="1556551"/>
              <a:ext cx="1536600" cy="1544100"/>
            </a:xfrm>
            <a:prstGeom prst="flowChartAlternateProcess">
              <a:avLst/>
            </a:prstGeom>
            <a:solidFill>
              <a:srgbClr val="FFFFFF"/>
            </a:solidFill>
            <a:ln cap="flat" cmpd="sng" w="6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5275" lIns="65275" spcFirstLastPara="1" rIns="65275" wrap="square" tIns="6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lang="en" sz="928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Product Image</a:t>
              </a:r>
              <a:endParaRPr sz="928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7" name="Google Shape;257;p23"/>
            <p:cNvSpPr/>
            <p:nvPr/>
          </p:nvSpPr>
          <p:spPr>
            <a:xfrm>
              <a:off x="7719932" y="3188329"/>
              <a:ext cx="1544700" cy="582900"/>
            </a:xfrm>
            <a:prstGeom prst="flowChartAlternateProcess">
              <a:avLst/>
            </a:prstGeom>
            <a:noFill/>
            <a:ln>
              <a:noFill/>
            </a:ln>
          </p:spPr>
          <p:txBody>
            <a:bodyPr anchorCtr="0" anchor="ctr" bIns="65275" lIns="65275" spcFirstLastPara="1" rIns="65275" wrap="square" tIns="6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b="1" lang="en" sz="928">
                  <a:latin typeface="Montserrat"/>
                  <a:ea typeface="Montserrat"/>
                  <a:cs typeface="Montserrat"/>
                  <a:sym typeface="Montserrat"/>
                </a:rPr>
                <a:t>Name of Product</a:t>
              </a:r>
              <a:endParaRPr b="1" sz="928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lang="en" sz="928">
                  <a:latin typeface="Montserrat"/>
                  <a:ea typeface="Montserrat"/>
                  <a:cs typeface="Montserrat"/>
                  <a:sym typeface="Montserrat"/>
                </a:rPr>
                <a:t>Category</a:t>
              </a:r>
              <a:br>
                <a:rPr lang="en" sz="928"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en" sz="928">
                  <a:latin typeface="Montserrat"/>
                  <a:ea typeface="Montserrat"/>
                  <a:cs typeface="Montserrat"/>
                  <a:sym typeface="Montserrat"/>
                </a:rPr>
                <a:t>Age + Time of workshop</a:t>
              </a:r>
              <a:endParaRPr sz="928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8" name="Google Shape;258;p23"/>
            <p:cNvSpPr/>
            <p:nvPr/>
          </p:nvSpPr>
          <p:spPr>
            <a:xfrm>
              <a:off x="7603800" y="1468969"/>
              <a:ext cx="1766100" cy="2752500"/>
            </a:xfrm>
            <a:prstGeom prst="rect">
              <a:avLst/>
            </a:prstGeom>
            <a:noFill/>
            <a:ln cap="flat" cmpd="sng" w="86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750" lIns="82750" spcFirstLastPara="1" rIns="82750" wrap="square" tIns="82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67"/>
            </a:p>
          </p:txBody>
        </p:sp>
        <p:sp>
          <p:nvSpPr>
            <p:cNvPr id="259" name="Google Shape;259;p23"/>
            <p:cNvSpPr/>
            <p:nvPr/>
          </p:nvSpPr>
          <p:spPr>
            <a:xfrm>
              <a:off x="7704549" y="3829040"/>
              <a:ext cx="1536600" cy="267000"/>
            </a:xfrm>
            <a:prstGeom prst="flowChartAlternateProcess">
              <a:avLst/>
            </a:prstGeom>
            <a:solidFill>
              <a:srgbClr val="FFFFFF"/>
            </a:solidFill>
            <a:ln cap="flat" cmpd="sng" w="6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5275" lIns="65275" spcFirstLastPara="1" rIns="65275" wrap="square" tIns="6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lang="en" sz="928">
                  <a:latin typeface="Montserrat"/>
                  <a:ea typeface="Montserrat"/>
                  <a:cs typeface="Montserrat"/>
                  <a:sym typeface="Montserrat"/>
                </a:rPr>
                <a:t>Book now</a:t>
              </a:r>
              <a:endParaRPr sz="928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60" name="Google Shape;260;p23"/>
          <p:cNvGrpSpPr/>
          <p:nvPr/>
        </p:nvGrpSpPr>
        <p:grpSpPr>
          <a:xfrm>
            <a:off x="4071600" y="1468969"/>
            <a:ext cx="1766100" cy="2752500"/>
            <a:chOff x="7603800" y="1468969"/>
            <a:chExt cx="1766100" cy="2752500"/>
          </a:xfrm>
        </p:grpSpPr>
        <p:sp>
          <p:nvSpPr>
            <p:cNvPr id="261" name="Google Shape;261;p23"/>
            <p:cNvSpPr/>
            <p:nvPr/>
          </p:nvSpPr>
          <p:spPr>
            <a:xfrm>
              <a:off x="7727877" y="1556551"/>
              <a:ext cx="1536600" cy="1544100"/>
            </a:xfrm>
            <a:prstGeom prst="flowChartAlternateProcess">
              <a:avLst/>
            </a:prstGeom>
            <a:solidFill>
              <a:srgbClr val="FFFFFF"/>
            </a:solidFill>
            <a:ln cap="flat" cmpd="sng" w="6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5275" lIns="65275" spcFirstLastPara="1" rIns="65275" wrap="square" tIns="6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lang="en" sz="928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Product Image</a:t>
              </a:r>
              <a:endParaRPr sz="928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2" name="Google Shape;262;p23"/>
            <p:cNvSpPr/>
            <p:nvPr/>
          </p:nvSpPr>
          <p:spPr>
            <a:xfrm>
              <a:off x="7719932" y="3188329"/>
              <a:ext cx="1544700" cy="582900"/>
            </a:xfrm>
            <a:prstGeom prst="flowChartAlternateProcess">
              <a:avLst/>
            </a:prstGeom>
            <a:noFill/>
            <a:ln>
              <a:noFill/>
            </a:ln>
          </p:spPr>
          <p:txBody>
            <a:bodyPr anchorCtr="0" anchor="ctr" bIns="65275" lIns="65275" spcFirstLastPara="1" rIns="65275" wrap="square" tIns="6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b="1" lang="en" sz="928">
                  <a:latin typeface="Montserrat"/>
                  <a:ea typeface="Montserrat"/>
                  <a:cs typeface="Montserrat"/>
                  <a:sym typeface="Montserrat"/>
                </a:rPr>
                <a:t>Name of Product</a:t>
              </a:r>
              <a:endParaRPr b="1" sz="928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lang="en" sz="928">
                  <a:latin typeface="Montserrat"/>
                  <a:ea typeface="Montserrat"/>
                  <a:cs typeface="Montserrat"/>
                  <a:sym typeface="Montserrat"/>
                </a:rPr>
                <a:t>Category</a:t>
              </a:r>
              <a:br>
                <a:rPr lang="en" sz="928"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en" sz="928">
                  <a:latin typeface="Montserrat"/>
                  <a:ea typeface="Montserrat"/>
                  <a:cs typeface="Montserrat"/>
                  <a:sym typeface="Montserrat"/>
                </a:rPr>
                <a:t>Age + Time of workshop</a:t>
              </a:r>
              <a:endParaRPr sz="928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3" name="Google Shape;263;p23"/>
            <p:cNvSpPr/>
            <p:nvPr/>
          </p:nvSpPr>
          <p:spPr>
            <a:xfrm>
              <a:off x="7603800" y="1468969"/>
              <a:ext cx="1766100" cy="2752500"/>
            </a:xfrm>
            <a:prstGeom prst="rect">
              <a:avLst/>
            </a:prstGeom>
            <a:noFill/>
            <a:ln cap="flat" cmpd="sng" w="86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750" lIns="82750" spcFirstLastPara="1" rIns="82750" wrap="square" tIns="82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67"/>
            </a:p>
          </p:txBody>
        </p:sp>
        <p:sp>
          <p:nvSpPr>
            <p:cNvPr id="264" name="Google Shape;264;p23"/>
            <p:cNvSpPr/>
            <p:nvPr/>
          </p:nvSpPr>
          <p:spPr>
            <a:xfrm>
              <a:off x="7704549" y="3829040"/>
              <a:ext cx="1536600" cy="267000"/>
            </a:xfrm>
            <a:prstGeom prst="flowChartAlternateProcess">
              <a:avLst/>
            </a:prstGeom>
            <a:solidFill>
              <a:srgbClr val="FFFFFF"/>
            </a:solidFill>
            <a:ln cap="flat" cmpd="sng" w="6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5275" lIns="65275" spcFirstLastPara="1" rIns="65275" wrap="square" tIns="6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lang="en" sz="928">
                  <a:latin typeface="Montserrat"/>
                  <a:ea typeface="Montserrat"/>
                  <a:cs typeface="Montserrat"/>
                  <a:sym typeface="Montserrat"/>
                </a:rPr>
                <a:t>Book now</a:t>
              </a:r>
              <a:endParaRPr sz="928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65" name="Google Shape;265;p23"/>
          <p:cNvGrpSpPr/>
          <p:nvPr/>
        </p:nvGrpSpPr>
        <p:grpSpPr>
          <a:xfrm>
            <a:off x="2305500" y="1468969"/>
            <a:ext cx="1766100" cy="2752500"/>
            <a:chOff x="7603800" y="1468969"/>
            <a:chExt cx="1766100" cy="2752500"/>
          </a:xfrm>
        </p:grpSpPr>
        <p:sp>
          <p:nvSpPr>
            <p:cNvPr id="266" name="Google Shape;266;p23"/>
            <p:cNvSpPr/>
            <p:nvPr/>
          </p:nvSpPr>
          <p:spPr>
            <a:xfrm>
              <a:off x="7727877" y="1556551"/>
              <a:ext cx="1536600" cy="1544100"/>
            </a:xfrm>
            <a:prstGeom prst="flowChartAlternateProcess">
              <a:avLst/>
            </a:prstGeom>
            <a:solidFill>
              <a:srgbClr val="FFFFFF"/>
            </a:solidFill>
            <a:ln cap="flat" cmpd="sng" w="6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5275" lIns="65275" spcFirstLastPara="1" rIns="65275" wrap="square" tIns="6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lang="en" sz="928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Product Image</a:t>
              </a:r>
              <a:endParaRPr sz="928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7" name="Google Shape;267;p23"/>
            <p:cNvSpPr/>
            <p:nvPr/>
          </p:nvSpPr>
          <p:spPr>
            <a:xfrm>
              <a:off x="7719932" y="3188329"/>
              <a:ext cx="1544700" cy="582900"/>
            </a:xfrm>
            <a:prstGeom prst="flowChartAlternateProcess">
              <a:avLst/>
            </a:prstGeom>
            <a:noFill/>
            <a:ln>
              <a:noFill/>
            </a:ln>
          </p:spPr>
          <p:txBody>
            <a:bodyPr anchorCtr="0" anchor="ctr" bIns="65275" lIns="65275" spcFirstLastPara="1" rIns="65275" wrap="square" tIns="6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b="1" lang="en" sz="928">
                  <a:latin typeface="Montserrat"/>
                  <a:ea typeface="Montserrat"/>
                  <a:cs typeface="Montserrat"/>
                  <a:sym typeface="Montserrat"/>
                </a:rPr>
                <a:t>Name of Product</a:t>
              </a:r>
              <a:endParaRPr b="1" sz="928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lang="en" sz="928">
                  <a:latin typeface="Montserrat"/>
                  <a:ea typeface="Montserrat"/>
                  <a:cs typeface="Montserrat"/>
                  <a:sym typeface="Montserrat"/>
                </a:rPr>
                <a:t>Category</a:t>
              </a:r>
              <a:br>
                <a:rPr lang="en" sz="928"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en" sz="928">
                  <a:latin typeface="Montserrat"/>
                  <a:ea typeface="Montserrat"/>
                  <a:cs typeface="Montserrat"/>
                  <a:sym typeface="Montserrat"/>
                </a:rPr>
                <a:t>Age + Time of workshop</a:t>
              </a:r>
              <a:endParaRPr sz="928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8" name="Google Shape;268;p23"/>
            <p:cNvSpPr/>
            <p:nvPr/>
          </p:nvSpPr>
          <p:spPr>
            <a:xfrm>
              <a:off x="7603800" y="1468969"/>
              <a:ext cx="1766100" cy="2752500"/>
            </a:xfrm>
            <a:prstGeom prst="rect">
              <a:avLst/>
            </a:prstGeom>
            <a:noFill/>
            <a:ln cap="flat" cmpd="sng" w="86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750" lIns="82750" spcFirstLastPara="1" rIns="82750" wrap="square" tIns="82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67"/>
            </a:p>
          </p:txBody>
        </p:sp>
        <p:sp>
          <p:nvSpPr>
            <p:cNvPr id="269" name="Google Shape;269;p23"/>
            <p:cNvSpPr/>
            <p:nvPr/>
          </p:nvSpPr>
          <p:spPr>
            <a:xfrm>
              <a:off x="7704549" y="3829040"/>
              <a:ext cx="1536600" cy="267000"/>
            </a:xfrm>
            <a:prstGeom prst="flowChartAlternateProcess">
              <a:avLst/>
            </a:prstGeom>
            <a:solidFill>
              <a:srgbClr val="FFFFFF"/>
            </a:solidFill>
            <a:ln cap="flat" cmpd="sng" w="6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5275" lIns="65275" spcFirstLastPara="1" rIns="65275" wrap="square" tIns="6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lang="en" sz="928">
                  <a:latin typeface="Montserrat"/>
                  <a:ea typeface="Montserrat"/>
                  <a:cs typeface="Montserrat"/>
                  <a:sym typeface="Montserrat"/>
                </a:rPr>
                <a:t>Book now</a:t>
              </a:r>
              <a:endParaRPr sz="928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70" name="Google Shape;270;p23"/>
          <p:cNvGrpSpPr/>
          <p:nvPr/>
        </p:nvGrpSpPr>
        <p:grpSpPr>
          <a:xfrm>
            <a:off x="7603800" y="1469000"/>
            <a:ext cx="1766100" cy="2752500"/>
            <a:chOff x="7603800" y="1469000"/>
            <a:chExt cx="1766100" cy="2752500"/>
          </a:xfrm>
        </p:grpSpPr>
        <p:sp>
          <p:nvSpPr>
            <p:cNvPr id="271" name="Google Shape;271;p23"/>
            <p:cNvSpPr/>
            <p:nvPr/>
          </p:nvSpPr>
          <p:spPr>
            <a:xfrm>
              <a:off x="7727877" y="1556551"/>
              <a:ext cx="1536600" cy="1544100"/>
            </a:xfrm>
            <a:prstGeom prst="flowChartAlternateProcess">
              <a:avLst/>
            </a:prstGeom>
            <a:solidFill>
              <a:srgbClr val="FFFFFF"/>
            </a:solidFill>
            <a:ln cap="flat" cmpd="sng" w="6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5275" lIns="65275" spcFirstLastPara="1" rIns="65275" wrap="square" tIns="6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lang="en" sz="928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Product Image</a:t>
              </a:r>
              <a:endParaRPr sz="928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72" name="Google Shape;272;p23"/>
            <p:cNvSpPr/>
            <p:nvPr/>
          </p:nvSpPr>
          <p:spPr>
            <a:xfrm>
              <a:off x="7719932" y="3188329"/>
              <a:ext cx="1544700" cy="582900"/>
            </a:xfrm>
            <a:prstGeom prst="flowChartAlternateProcess">
              <a:avLst/>
            </a:prstGeom>
            <a:noFill/>
            <a:ln>
              <a:noFill/>
            </a:ln>
          </p:spPr>
          <p:txBody>
            <a:bodyPr anchorCtr="0" anchor="ctr" bIns="65275" lIns="65275" spcFirstLastPara="1" rIns="65275" wrap="square" tIns="6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b="1" lang="en" sz="928">
                  <a:latin typeface="Montserrat"/>
                  <a:ea typeface="Montserrat"/>
                  <a:cs typeface="Montserrat"/>
                  <a:sym typeface="Montserrat"/>
                </a:rPr>
                <a:t>Name of Product</a:t>
              </a:r>
              <a:endParaRPr b="1" sz="928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lang="en" sz="928">
                  <a:latin typeface="Montserrat"/>
                  <a:ea typeface="Montserrat"/>
                  <a:cs typeface="Montserrat"/>
                  <a:sym typeface="Montserrat"/>
                </a:rPr>
                <a:t>Category</a:t>
              </a:r>
              <a:br>
                <a:rPr lang="en" sz="928"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en" sz="928">
                  <a:latin typeface="Montserrat"/>
                  <a:ea typeface="Montserrat"/>
                  <a:cs typeface="Montserrat"/>
                  <a:sym typeface="Montserrat"/>
                </a:rPr>
                <a:t>Age + Time of workshop</a:t>
              </a:r>
              <a:endParaRPr sz="928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73" name="Google Shape;273;p23"/>
            <p:cNvSpPr/>
            <p:nvPr/>
          </p:nvSpPr>
          <p:spPr>
            <a:xfrm>
              <a:off x="7603800" y="1469000"/>
              <a:ext cx="1766100" cy="2752500"/>
            </a:xfrm>
            <a:prstGeom prst="rect">
              <a:avLst/>
            </a:prstGeom>
            <a:noFill/>
            <a:ln cap="flat" cmpd="sng" w="86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750" lIns="82750" spcFirstLastPara="1" rIns="82750" wrap="square" tIns="82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67"/>
            </a:p>
          </p:txBody>
        </p:sp>
        <p:sp>
          <p:nvSpPr>
            <p:cNvPr id="274" name="Google Shape;274;p23"/>
            <p:cNvSpPr/>
            <p:nvPr/>
          </p:nvSpPr>
          <p:spPr>
            <a:xfrm>
              <a:off x="7704549" y="3829040"/>
              <a:ext cx="1536600" cy="267000"/>
            </a:xfrm>
            <a:prstGeom prst="flowChartAlternateProcess">
              <a:avLst/>
            </a:prstGeom>
            <a:solidFill>
              <a:srgbClr val="FFFFFF"/>
            </a:solidFill>
            <a:ln cap="flat" cmpd="sng" w="6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5275" lIns="65275" spcFirstLastPara="1" rIns="65275" wrap="square" tIns="6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lang="en" sz="928">
                  <a:latin typeface="Montserrat"/>
                  <a:ea typeface="Montserrat"/>
                  <a:cs typeface="Montserrat"/>
                  <a:sym typeface="Montserrat"/>
                </a:rPr>
                <a:t>Book now</a:t>
              </a:r>
              <a:endParaRPr sz="928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275" name="Google Shape;275;p23"/>
          <p:cNvGrpSpPr/>
          <p:nvPr/>
        </p:nvGrpSpPr>
        <p:grpSpPr>
          <a:xfrm>
            <a:off x="539400" y="1468969"/>
            <a:ext cx="1766100" cy="2752500"/>
            <a:chOff x="7603800" y="1468969"/>
            <a:chExt cx="1766100" cy="2752500"/>
          </a:xfrm>
        </p:grpSpPr>
        <p:sp>
          <p:nvSpPr>
            <p:cNvPr id="276" name="Google Shape;276;p23"/>
            <p:cNvSpPr/>
            <p:nvPr/>
          </p:nvSpPr>
          <p:spPr>
            <a:xfrm>
              <a:off x="7727877" y="1556551"/>
              <a:ext cx="1536600" cy="1544100"/>
            </a:xfrm>
            <a:prstGeom prst="flowChartAlternateProcess">
              <a:avLst/>
            </a:prstGeom>
            <a:solidFill>
              <a:srgbClr val="FFFFFF"/>
            </a:solidFill>
            <a:ln cap="flat" cmpd="sng" w="6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5275" lIns="65275" spcFirstLastPara="1" rIns="65275" wrap="square" tIns="6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lang="en" sz="928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Product Image</a:t>
              </a:r>
              <a:endParaRPr sz="928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77" name="Google Shape;277;p23"/>
            <p:cNvSpPr/>
            <p:nvPr/>
          </p:nvSpPr>
          <p:spPr>
            <a:xfrm>
              <a:off x="7719932" y="3188329"/>
              <a:ext cx="1544700" cy="582900"/>
            </a:xfrm>
            <a:prstGeom prst="flowChartAlternateProcess">
              <a:avLst/>
            </a:prstGeom>
            <a:noFill/>
            <a:ln>
              <a:noFill/>
            </a:ln>
          </p:spPr>
          <p:txBody>
            <a:bodyPr anchorCtr="0" anchor="ctr" bIns="65275" lIns="65275" spcFirstLastPara="1" rIns="65275" wrap="square" tIns="6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b="1" lang="en" sz="928">
                  <a:latin typeface="Montserrat"/>
                  <a:ea typeface="Montserrat"/>
                  <a:cs typeface="Montserrat"/>
                  <a:sym typeface="Montserrat"/>
                </a:rPr>
                <a:t>Name of Product</a:t>
              </a:r>
              <a:endParaRPr b="1" sz="928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lang="en" sz="928">
                  <a:latin typeface="Montserrat"/>
                  <a:ea typeface="Montserrat"/>
                  <a:cs typeface="Montserrat"/>
                  <a:sym typeface="Montserrat"/>
                </a:rPr>
                <a:t>Category</a:t>
              </a:r>
              <a:br>
                <a:rPr lang="en" sz="928"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en" sz="928">
                  <a:latin typeface="Montserrat"/>
                  <a:ea typeface="Montserrat"/>
                  <a:cs typeface="Montserrat"/>
                  <a:sym typeface="Montserrat"/>
                </a:rPr>
                <a:t>Age + Time of workshop</a:t>
              </a:r>
              <a:endParaRPr sz="928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78" name="Google Shape;278;p23"/>
            <p:cNvSpPr/>
            <p:nvPr/>
          </p:nvSpPr>
          <p:spPr>
            <a:xfrm>
              <a:off x="7603800" y="1468969"/>
              <a:ext cx="1766100" cy="2752500"/>
            </a:xfrm>
            <a:prstGeom prst="rect">
              <a:avLst/>
            </a:prstGeom>
            <a:noFill/>
            <a:ln cap="flat" cmpd="sng" w="86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2750" lIns="82750" spcFirstLastPara="1" rIns="82750" wrap="square" tIns="827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67"/>
            </a:p>
          </p:txBody>
        </p:sp>
        <p:sp>
          <p:nvSpPr>
            <p:cNvPr id="279" name="Google Shape;279;p23"/>
            <p:cNvSpPr/>
            <p:nvPr/>
          </p:nvSpPr>
          <p:spPr>
            <a:xfrm>
              <a:off x="7704549" y="3829040"/>
              <a:ext cx="1536600" cy="267000"/>
            </a:xfrm>
            <a:prstGeom prst="flowChartAlternateProcess">
              <a:avLst/>
            </a:prstGeom>
            <a:solidFill>
              <a:srgbClr val="FFFFFF"/>
            </a:solidFill>
            <a:ln cap="flat" cmpd="sng" w="680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5275" lIns="65275" spcFirstLastPara="1" rIns="65275" wrap="square" tIns="65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85"/>
                <a:buFont typeface="Arial"/>
                <a:buNone/>
              </a:pPr>
              <a:r>
                <a:rPr lang="en" sz="928">
                  <a:latin typeface="Montserrat"/>
                  <a:ea typeface="Montserrat"/>
                  <a:cs typeface="Montserrat"/>
                  <a:sym typeface="Montserrat"/>
                </a:rPr>
                <a:t>Book now</a:t>
              </a:r>
              <a:endParaRPr sz="928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80" name="Google Shape;280;p23"/>
          <p:cNvSpPr/>
          <p:nvPr/>
        </p:nvSpPr>
        <p:spPr>
          <a:xfrm>
            <a:off x="446700" y="4932725"/>
            <a:ext cx="9153000" cy="3951300"/>
          </a:xfrm>
          <a:prstGeom prst="rect">
            <a:avLst/>
          </a:prstGeom>
          <a:solidFill>
            <a:srgbClr val="FFFFFF"/>
          </a:solidFill>
          <a:ln cap="flat" cmpd="sng" w="360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6450" lIns="166450" spcFirstLastPara="1" rIns="166450" wrap="square" tIns="166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3"/>
          </a:p>
        </p:txBody>
      </p:sp>
      <p:sp>
        <p:nvSpPr>
          <p:cNvPr id="281" name="Google Shape;281;p23"/>
          <p:cNvSpPr/>
          <p:nvPr/>
        </p:nvSpPr>
        <p:spPr>
          <a:xfrm>
            <a:off x="578272" y="5550396"/>
            <a:ext cx="2442600" cy="2285700"/>
          </a:xfrm>
          <a:prstGeom prst="rect">
            <a:avLst/>
          </a:prstGeom>
          <a:solidFill>
            <a:srgbClr val="EEEEEE"/>
          </a:solidFill>
          <a:ln cap="flat" cmpd="sng" w="90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6450" lIns="166450" spcFirstLastPara="1" rIns="166450" wrap="square" tIns="166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8"/>
              <a:t>Image 1</a:t>
            </a:r>
            <a:endParaRPr sz="1418"/>
          </a:p>
        </p:txBody>
      </p:sp>
      <p:sp>
        <p:nvSpPr>
          <p:cNvPr id="282" name="Google Shape;282;p23"/>
          <p:cNvSpPr/>
          <p:nvPr/>
        </p:nvSpPr>
        <p:spPr>
          <a:xfrm>
            <a:off x="3285558" y="5550396"/>
            <a:ext cx="2442600" cy="2285700"/>
          </a:xfrm>
          <a:prstGeom prst="rect">
            <a:avLst/>
          </a:prstGeom>
          <a:solidFill>
            <a:srgbClr val="EEEEEE"/>
          </a:solidFill>
          <a:ln cap="flat" cmpd="sng" w="90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6450" lIns="166450" spcFirstLastPara="1" rIns="166450" wrap="square" tIns="166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Arial"/>
              <a:buNone/>
            </a:pPr>
            <a:r>
              <a:rPr lang="en" sz="1418">
                <a:solidFill>
                  <a:srgbClr val="000000"/>
                </a:solidFill>
              </a:rPr>
              <a:t> Image 2</a:t>
            </a:r>
            <a:endParaRPr sz="2553"/>
          </a:p>
        </p:txBody>
      </p:sp>
      <p:sp>
        <p:nvSpPr>
          <p:cNvPr id="283" name="Google Shape;283;p23"/>
          <p:cNvSpPr/>
          <p:nvPr/>
        </p:nvSpPr>
        <p:spPr>
          <a:xfrm>
            <a:off x="5992845" y="5550396"/>
            <a:ext cx="2442600" cy="2285700"/>
          </a:xfrm>
          <a:prstGeom prst="rect">
            <a:avLst/>
          </a:prstGeom>
          <a:solidFill>
            <a:srgbClr val="EEEEEE"/>
          </a:solidFill>
          <a:ln cap="flat" cmpd="sng" w="90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6450" lIns="166450" spcFirstLastPara="1" rIns="166450" wrap="square" tIns="166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Arial"/>
              <a:buNone/>
            </a:pPr>
            <a:r>
              <a:rPr lang="en" sz="1418">
                <a:solidFill>
                  <a:srgbClr val="000000"/>
                </a:solidFill>
              </a:rPr>
              <a:t>Image 3</a:t>
            </a:r>
            <a:endParaRPr sz="2553"/>
          </a:p>
        </p:txBody>
      </p:sp>
      <p:sp>
        <p:nvSpPr>
          <p:cNvPr id="284" name="Google Shape;284;p23"/>
          <p:cNvSpPr/>
          <p:nvPr/>
        </p:nvSpPr>
        <p:spPr>
          <a:xfrm>
            <a:off x="8700131" y="5550408"/>
            <a:ext cx="892800" cy="2285700"/>
          </a:xfrm>
          <a:prstGeom prst="rect">
            <a:avLst/>
          </a:prstGeom>
          <a:solidFill>
            <a:srgbClr val="EEEEEE"/>
          </a:solidFill>
          <a:ln cap="flat" cmpd="sng" w="90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6450" lIns="166450" spcFirstLastPara="1" rIns="166450" wrap="square" tIns="166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3"/>
          </a:p>
        </p:txBody>
      </p:sp>
      <p:cxnSp>
        <p:nvCxnSpPr>
          <p:cNvPr id="285" name="Google Shape;285;p23"/>
          <p:cNvCxnSpPr/>
          <p:nvPr/>
        </p:nvCxnSpPr>
        <p:spPr>
          <a:xfrm rot="10800000">
            <a:off x="3021141" y="6477109"/>
            <a:ext cx="6571800" cy="0"/>
          </a:xfrm>
          <a:prstGeom prst="straightConnector1">
            <a:avLst/>
          </a:prstGeom>
          <a:noFill/>
          <a:ln cap="flat" cmpd="sng" w="27025">
            <a:solidFill>
              <a:srgbClr val="595959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286" name="Google Shape;286;p23"/>
          <p:cNvSpPr txBox="1"/>
          <p:nvPr/>
        </p:nvSpPr>
        <p:spPr>
          <a:xfrm>
            <a:off x="6701590" y="6122736"/>
            <a:ext cx="17340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24" u="sng">
                <a:solidFill>
                  <a:srgbClr val="595959"/>
                </a:solidFill>
              </a:rPr>
              <a:t>Scrollable section</a:t>
            </a:r>
            <a:endParaRPr b="1" sz="1324" u="sng">
              <a:solidFill>
                <a:srgbClr val="595959"/>
              </a:solidFill>
            </a:endParaRPr>
          </a:p>
        </p:txBody>
      </p:sp>
      <p:sp>
        <p:nvSpPr>
          <p:cNvPr id="287" name="Google Shape;287;p23"/>
          <p:cNvSpPr/>
          <p:nvPr/>
        </p:nvSpPr>
        <p:spPr>
          <a:xfrm>
            <a:off x="2812375" y="5098685"/>
            <a:ext cx="4389600" cy="306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66450" lIns="166450" spcFirstLastPara="1" rIns="166450" wrap="square" tIns="166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7">
                <a:latin typeface="Montserrat"/>
                <a:ea typeface="Montserrat"/>
                <a:cs typeface="Montserrat"/>
                <a:sym typeface="Montserrat"/>
              </a:rPr>
              <a:t>IT’S PARTY TIME !</a:t>
            </a:r>
            <a:endParaRPr sz="1513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8" name="Google Shape;288;p23"/>
          <p:cNvSpPr/>
          <p:nvPr/>
        </p:nvSpPr>
        <p:spPr>
          <a:xfrm>
            <a:off x="844800" y="5109000"/>
            <a:ext cx="8299200" cy="3612300"/>
          </a:xfrm>
          <a:prstGeom prst="rect">
            <a:avLst/>
          </a:prstGeom>
          <a:noFill/>
          <a:ln cap="flat" cmpd="sng" w="180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425" lIns="86425" spcFirstLastPara="1" rIns="86425" wrap="square" tIns="86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4"/>
          </a:p>
        </p:txBody>
      </p:sp>
      <p:sp>
        <p:nvSpPr>
          <p:cNvPr id="289" name="Google Shape;289;p23"/>
          <p:cNvSpPr txBox="1"/>
          <p:nvPr/>
        </p:nvSpPr>
        <p:spPr>
          <a:xfrm>
            <a:off x="578273" y="5580516"/>
            <a:ext cx="260400" cy="306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1">
                <a:solidFill>
                  <a:srgbClr val="FFFFFF"/>
                </a:solidFill>
              </a:rPr>
              <a:t>2</a:t>
            </a:r>
            <a:endParaRPr b="1" sz="851">
              <a:solidFill>
                <a:srgbClr val="FFFFFF"/>
              </a:solidFill>
            </a:endParaRPr>
          </a:p>
        </p:txBody>
      </p:sp>
      <p:sp>
        <p:nvSpPr>
          <p:cNvPr id="290" name="Google Shape;290;p23"/>
          <p:cNvSpPr/>
          <p:nvPr/>
        </p:nvSpPr>
        <p:spPr>
          <a:xfrm>
            <a:off x="4186341" y="8454141"/>
            <a:ext cx="1536600" cy="267000"/>
          </a:xfrm>
          <a:prstGeom prst="flowChartAlternateProcess">
            <a:avLst/>
          </a:prstGeom>
          <a:solidFill>
            <a:srgbClr val="FFFFFF"/>
          </a:solidFill>
          <a:ln cap="flat" cmpd="sng" w="6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275" lIns="65275" spcFirstLastPara="1" rIns="65275" wrap="square" tIns="6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5"/>
              <a:buFont typeface="Arial"/>
              <a:buNone/>
            </a:pPr>
            <a:r>
              <a:rPr lang="en" sz="928">
                <a:latin typeface="Montserrat"/>
                <a:ea typeface="Montserrat"/>
                <a:cs typeface="Montserrat"/>
                <a:sym typeface="Montserrat"/>
              </a:rPr>
              <a:t>Celebrate With Us</a:t>
            </a:r>
            <a:endParaRPr sz="928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1" name="Google Shape;291;p23"/>
          <p:cNvSpPr/>
          <p:nvPr/>
        </p:nvSpPr>
        <p:spPr>
          <a:xfrm>
            <a:off x="1023900" y="7991825"/>
            <a:ext cx="7861500" cy="306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66450" lIns="166450" spcFirstLastPara="1" rIns="166450" wrap="square" tIns="166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7">
                <a:latin typeface="Montserrat"/>
                <a:ea typeface="Montserrat"/>
                <a:cs typeface="Montserrat"/>
                <a:sym typeface="Montserrat"/>
              </a:rPr>
              <a:t>Birthdays · Group Bookings · Corporate Events · Team Bonding · </a:t>
            </a:r>
            <a:endParaRPr sz="1607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"/>
          <p:cNvSpPr/>
          <p:nvPr/>
        </p:nvSpPr>
        <p:spPr>
          <a:xfrm>
            <a:off x="2570072" y="5710197"/>
            <a:ext cx="7418100" cy="19779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Contact Info</a:t>
            </a:r>
            <a:r>
              <a:rPr lang="en" sz="2700"/>
              <a:t> </a:t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297" name="Google Shape;297;p24"/>
          <p:cNvSpPr/>
          <p:nvPr/>
        </p:nvSpPr>
        <p:spPr>
          <a:xfrm>
            <a:off x="340725" y="5708800"/>
            <a:ext cx="2265300" cy="19779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908325" y="6351550"/>
            <a:ext cx="1207500" cy="588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Logo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9" name="Google Shape;299;p24"/>
          <p:cNvSpPr/>
          <p:nvPr/>
        </p:nvSpPr>
        <p:spPr>
          <a:xfrm>
            <a:off x="7645075" y="5708800"/>
            <a:ext cx="2827200" cy="19779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Opening Hours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0" name="Google Shape;300;p24"/>
          <p:cNvSpPr/>
          <p:nvPr/>
        </p:nvSpPr>
        <p:spPr>
          <a:xfrm>
            <a:off x="5259479" y="6105550"/>
            <a:ext cx="2122800" cy="15054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Montserrat"/>
                <a:ea typeface="Montserrat"/>
                <a:cs typeface="Montserrat"/>
                <a:sym typeface="Montserrat"/>
              </a:rPr>
              <a:t>Tampines Studio (OTH):  📞 6204 1662</a:t>
            </a:r>
            <a:endParaRPr sz="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Montserrat"/>
                <a:ea typeface="Montserrat"/>
                <a:cs typeface="Montserrat"/>
                <a:sym typeface="Montserrat"/>
              </a:rPr>
              <a:t>1 Tampines Walk, #02-86</a:t>
            </a:r>
            <a:endParaRPr sz="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Montserrat"/>
                <a:ea typeface="Montserrat"/>
                <a:cs typeface="Montserrat"/>
                <a:sym typeface="Montserrat"/>
              </a:rPr>
              <a:t>Our Tampines Hub</a:t>
            </a:r>
            <a:endParaRPr sz="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Montserrat"/>
                <a:ea typeface="Montserrat"/>
                <a:cs typeface="Montserrat"/>
                <a:sym typeface="Montserrat"/>
              </a:rPr>
              <a:t>Singapore 528523</a:t>
            </a:r>
            <a:endParaRPr sz="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Montserrat"/>
                <a:ea typeface="Montserrat"/>
                <a:cs typeface="Montserrat"/>
                <a:sym typeface="Montserrat"/>
              </a:rPr>
              <a:t> Pasir Ris Studio (DTE):  📞 6951 1732</a:t>
            </a:r>
            <a:endParaRPr sz="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Montserrat"/>
                <a:ea typeface="Montserrat"/>
                <a:cs typeface="Montserrat"/>
                <a:sym typeface="Montserrat"/>
              </a:rPr>
              <a:t>1 Pasir Ris Close, #03-102</a:t>
            </a:r>
            <a:endParaRPr sz="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Montserrat"/>
                <a:ea typeface="Montserrat"/>
                <a:cs typeface="Montserrat"/>
                <a:sym typeface="Montserrat"/>
              </a:rPr>
              <a:t>E!HUB @ Downtown East</a:t>
            </a:r>
            <a:endParaRPr sz="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Montserrat"/>
                <a:ea typeface="Montserrat"/>
                <a:cs typeface="Montserrat"/>
                <a:sym typeface="Montserrat"/>
              </a:rPr>
              <a:t>Singapore 519599</a:t>
            </a:r>
            <a:endParaRPr sz="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Montserrat"/>
                <a:ea typeface="Montserrat"/>
                <a:cs typeface="Montserrat"/>
                <a:sym typeface="Montserrat"/>
              </a:rPr>
              <a:t> Bedok Studio (HBB):  📞 6929 3225</a:t>
            </a:r>
            <a:endParaRPr sz="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Montserrat"/>
                <a:ea typeface="Montserrat"/>
                <a:cs typeface="Montserrat"/>
                <a:sym typeface="Montserrat"/>
              </a:rPr>
              <a:t>11 Bedok North Street 1, #01-22</a:t>
            </a:r>
            <a:endParaRPr sz="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Montserrat"/>
                <a:ea typeface="Montserrat"/>
                <a:cs typeface="Montserrat"/>
                <a:sym typeface="Montserrat"/>
              </a:rPr>
              <a:t>Heartbeat @ Bedok</a:t>
            </a:r>
            <a:endParaRPr sz="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Montserrat"/>
                <a:ea typeface="Montserrat"/>
                <a:cs typeface="Montserrat"/>
                <a:sym typeface="Montserrat"/>
              </a:rPr>
              <a:t>Singapore 469662</a:t>
            </a:r>
            <a:endParaRPr sz="600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01" name="Google Shape;301;p24"/>
          <p:cNvGraphicFramePr/>
          <p:nvPr/>
        </p:nvGraphicFramePr>
        <p:xfrm>
          <a:off x="10741100" y="3374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{48FD2119-6418-421D-A403-E5465F0AB291}</a:tableStyleId>
              </a:tblPr>
              <a:tblGrid>
                <a:gridCol w="1201100"/>
                <a:gridCol w="2650650"/>
                <a:gridCol w="3245900"/>
              </a:tblGrid>
              <a:tr h="323825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HOMEPAGE DESIGN STRUCTURE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638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1 -  Google review Section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Header: 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WHAT OUR CLIENT LOVE ABOUT US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Link to google profile: </a:t>
                      </a:r>
                      <a:r>
                        <a:rPr lang="en" sz="13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https://share.google/pnzcMwKZ42Gba6Xp5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Only show all 5*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74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2 - Instagram section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Header: FOLLOW US ON INSTAGRAM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Link to Instagram profile:  </a:t>
                      </a:r>
                      <a:r>
                        <a:rPr lang="en" sz="13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4"/>
                        </a:rPr>
                        <a:t>https://www.instagram.com/achieversarts/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b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5031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- 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Footer 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Quicklinks: Should link to each individual landing page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Contact information: 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Tampines Studio (OTH):  📞 6204 1662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 Tampines Walk, #02-86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Our Tampines Hub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Singapore 528523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Pasir Ris Studio (DTE):  📞 6951 1732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 Pasir Ris Close, #03-102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E!HUB @ Downtown East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Singapore 519599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Bedok Studio (HBB):  📞 6929 3225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11 Bedok North Street 1, #01-22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Heartbeat @ Bedok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Singapore 469662</a:t>
                      </a:r>
                      <a:b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b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Wednesdays to Fridays 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12:00pm to 9:00pm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Saturdays 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9:00am to 6:00pm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Sundays 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9:00am to 5:30pm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836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4- Whatsapp link navigation button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Put whatsapp icon to be a navigational button to the whatsapp number: </a:t>
                      </a:r>
                      <a:endParaRPr sz="130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FF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+65 9123 4537 </a:t>
                      </a:r>
                      <a:endParaRPr sz="1300">
                        <a:solidFill>
                          <a:srgbClr val="FF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sp>
        <p:nvSpPr>
          <p:cNvPr id="302" name="Google Shape;302;p24"/>
          <p:cNvSpPr/>
          <p:nvPr/>
        </p:nvSpPr>
        <p:spPr>
          <a:xfrm>
            <a:off x="692825" y="5807975"/>
            <a:ext cx="9558900" cy="1977900"/>
          </a:xfrm>
          <a:prstGeom prst="rect">
            <a:avLst/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4"/>
          <p:cNvSpPr txBox="1"/>
          <p:nvPr/>
        </p:nvSpPr>
        <p:spPr>
          <a:xfrm>
            <a:off x="342737" y="5778551"/>
            <a:ext cx="350100" cy="280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3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304" name="Google Shape;304;p24"/>
          <p:cNvSpPr/>
          <p:nvPr/>
        </p:nvSpPr>
        <p:spPr>
          <a:xfrm>
            <a:off x="9270770" y="6976100"/>
            <a:ext cx="1207500" cy="837900"/>
          </a:xfrm>
          <a:prstGeom prst="rect">
            <a:avLst/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4"/>
          <p:cNvSpPr txBox="1"/>
          <p:nvPr/>
        </p:nvSpPr>
        <p:spPr>
          <a:xfrm>
            <a:off x="9270770" y="6976101"/>
            <a:ext cx="279600" cy="357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4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9631841" y="7011950"/>
            <a:ext cx="619800" cy="588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</a:t>
            </a:r>
            <a:endParaRPr/>
          </a:p>
        </p:txBody>
      </p:sp>
      <p:sp>
        <p:nvSpPr>
          <p:cNvPr id="307" name="Google Shape;307;p24"/>
          <p:cNvSpPr/>
          <p:nvPr/>
        </p:nvSpPr>
        <p:spPr>
          <a:xfrm>
            <a:off x="2613538" y="5719775"/>
            <a:ext cx="2485800" cy="19779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Montserrat"/>
                <a:ea typeface="Montserrat"/>
                <a:cs typeface="Montserrat"/>
                <a:sym typeface="Montserrat"/>
              </a:rPr>
              <a:t>Quicklinks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4"/>
          <p:cNvSpPr/>
          <p:nvPr/>
        </p:nvSpPr>
        <p:spPr>
          <a:xfrm>
            <a:off x="2945347" y="6105550"/>
            <a:ext cx="1926300" cy="2460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Contact us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p24"/>
          <p:cNvSpPr/>
          <p:nvPr/>
        </p:nvSpPr>
        <p:spPr>
          <a:xfrm>
            <a:off x="2945347" y="6387387"/>
            <a:ext cx="1926300" cy="2460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Our Art Classes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0" name="Google Shape;310;p24"/>
          <p:cNvSpPr/>
          <p:nvPr/>
        </p:nvSpPr>
        <p:spPr>
          <a:xfrm>
            <a:off x="2924634" y="6669224"/>
            <a:ext cx="1926300" cy="2460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Our Camps &amp; Courses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1" name="Google Shape;311;p24"/>
          <p:cNvSpPr/>
          <p:nvPr/>
        </p:nvSpPr>
        <p:spPr>
          <a:xfrm>
            <a:off x="2924634" y="7232900"/>
            <a:ext cx="1926300" cy="3243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Shop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2" name="Google Shape;312;p24"/>
          <p:cNvSpPr/>
          <p:nvPr/>
        </p:nvSpPr>
        <p:spPr>
          <a:xfrm>
            <a:off x="2924634" y="6951062"/>
            <a:ext cx="1926300" cy="2460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Arty Events &amp; Parties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3" name="Google Shape;313;p24"/>
          <p:cNvSpPr/>
          <p:nvPr/>
        </p:nvSpPr>
        <p:spPr>
          <a:xfrm>
            <a:off x="340701" y="1348464"/>
            <a:ext cx="10137600" cy="410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4" name="Google Shape;314;p24"/>
          <p:cNvSpPr/>
          <p:nvPr/>
        </p:nvSpPr>
        <p:spPr>
          <a:xfrm>
            <a:off x="344675" y="337450"/>
            <a:ext cx="10137600" cy="2549400"/>
          </a:xfrm>
          <a:prstGeom prst="rect">
            <a:avLst/>
          </a:prstGeom>
          <a:solidFill>
            <a:srgbClr val="EEEEEE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315" name="Google Shape;315;p24"/>
          <p:cNvSpPr/>
          <p:nvPr/>
        </p:nvSpPr>
        <p:spPr>
          <a:xfrm>
            <a:off x="2887225" y="524575"/>
            <a:ext cx="4940700" cy="362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WHAT OUR CLIENT LOVE ABOUT US</a:t>
            </a:r>
            <a:endParaRPr sz="1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24"/>
          <p:cNvSpPr/>
          <p:nvPr/>
        </p:nvSpPr>
        <p:spPr>
          <a:xfrm>
            <a:off x="1710986" y="1077775"/>
            <a:ext cx="1616400" cy="1548900"/>
          </a:xfrm>
          <a:prstGeom prst="flowChartAlternateProcess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Reviews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7" name="Google Shape;317;p24"/>
          <p:cNvSpPr/>
          <p:nvPr/>
        </p:nvSpPr>
        <p:spPr>
          <a:xfrm>
            <a:off x="3539042" y="1077775"/>
            <a:ext cx="1616400" cy="1548900"/>
          </a:xfrm>
          <a:prstGeom prst="flowChartAlternateProcess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Reviews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8" name="Google Shape;318;p24"/>
          <p:cNvSpPr/>
          <p:nvPr/>
        </p:nvSpPr>
        <p:spPr>
          <a:xfrm>
            <a:off x="5367098" y="1077775"/>
            <a:ext cx="1616400" cy="1548900"/>
          </a:xfrm>
          <a:prstGeom prst="flowChartAlternateProcess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Reviews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9" name="Google Shape;319;p24"/>
          <p:cNvSpPr/>
          <p:nvPr/>
        </p:nvSpPr>
        <p:spPr>
          <a:xfrm>
            <a:off x="7195155" y="1077775"/>
            <a:ext cx="1616400" cy="1548900"/>
          </a:xfrm>
          <a:prstGeom prst="flowChartAlternateProcess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Reviews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1323100" y="522450"/>
            <a:ext cx="8227200" cy="2199600"/>
          </a:xfrm>
          <a:prstGeom prst="rect">
            <a:avLst/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4"/>
          <p:cNvSpPr txBox="1"/>
          <p:nvPr/>
        </p:nvSpPr>
        <p:spPr>
          <a:xfrm>
            <a:off x="1039200" y="543627"/>
            <a:ext cx="354000" cy="3243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1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342688" y="3885026"/>
            <a:ext cx="10137600" cy="410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346675" y="2874025"/>
            <a:ext cx="10137600" cy="2827200"/>
          </a:xfrm>
          <a:prstGeom prst="rect">
            <a:avLst/>
          </a:prstGeom>
          <a:solidFill>
            <a:srgbClr val="EEEEEE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324" name="Google Shape;324;p24"/>
          <p:cNvSpPr/>
          <p:nvPr/>
        </p:nvSpPr>
        <p:spPr>
          <a:xfrm>
            <a:off x="2889213" y="3061138"/>
            <a:ext cx="4703100" cy="362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Montserrat"/>
                <a:ea typeface="Montserrat"/>
                <a:cs typeface="Montserrat"/>
                <a:sym typeface="Montserrat"/>
              </a:rPr>
              <a:t>FOLLOW US ON INSTAGRAM</a:t>
            </a:r>
            <a:endParaRPr sz="1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1712973" y="3614338"/>
            <a:ext cx="1616400" cy="1548900"/>
          </a:xfrm>
          <a:prstGeom prst="flowChartAlternateProcess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Posts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6" name="Google Shape;326;p24"/>
          <p:cNvSpPr/>
          <p:nvPr/>
        </p:nvSpPr>
        <p:spPr>
          <a:xfrm>
            <a:off x="3541030" y="3614338"/>
            <a:ext cx="1616400" cy="1548900"/>
          </a:xfrm>
          <a:prstGeom prst="flowChartAlternateProcess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Posts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7" name="Google Shape;327;p24"/>
          <p:cNvSpPr/>
          <p:nvPr/>
        </p:nvSpPr>
        <p:spPr>
          <a:xfrm>
            <a:off x="5369086" y="3614338"/>
            <a:ext cx="1616400" cy="1548900"/>
          </a:xfrm>
          <a:prstGeom prst="flowChartAlternateProcess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Posts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8" name="Google Shape;328;p24"/>
          <p:cNvSpPr/>
          <p:nvPr/>
        </p:nvSpPr>
        <p:spPr>
          <a:xfrm>
            <a:off x="7197142" y="3614338"/>
            <a:ext cx="1616400" cy="1548900"/>
          </a:xfrm>
          <a:prstGeom prst="flowChartAlternateProcess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Posts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9" name="Google Shape;329;p24"/>
          <p:cNvSpPr/>
          <p:nvPr/>
        </p:nvSpPr>
        <p:spPr>
          <a:xfrm>
            <a:off x="1325425" y="3059025"/>
            <a:ext cx="7704000" cy="2549400"/>
          </a:xfrm>
          <a:prstGeom prst="rect">
            <a:avLst/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4"/>
          <p:cNvSpPr txBox="1"/>
          <p:nvPr/>
        </p:nvSpPr>
        <p:spPr>
          <a:xfrm>
            <a:off x="1041188" y="3080189"/>
            <a:ext cx="354000" cy="3243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2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331" name="Google Shape;331;p24"/>
          <p:cNvSpPr/>
          <p:nvPr/>
        </p:nvSpPr>
        <p:spPr>
          <a:xfrm>
            <a:off x="4511366" y="5316078"/>
            <a:ext cx="1536600" cy="267000"/>
          </a:xfrm>
          <a:prstGeom prst="flowChartAlternateProcess">
            <a:avLst/>
          </a:prstGeom>
          <a:solidFill>
            <a:srgbClr val="FFFFFF"/>
          </a:solidFill>
          <a:ln cap="flat" cmpd="sng" w="6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275" lIns="65275" spcFirstLastPara="1" rIns="65275" wrap="square" tIns="6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5"/>
              <a:buFont typeface="Arial"/>
              <a:buNone/>
            </a:pPr>
            <a:r>
              <a:rPr lang="en" sz="928">
                <a:latin typeface="Montserrat"/>
                <a:ea typeface="Montserrat"/>
                <a:cs typeface="Montserrat"/>
                <a:sym typeface="Montserrat"/>
              </a:rPr>
              <a:t>See More</a:t>
            </a:r>
            <a:endParaRPr sz="928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2" name="Google Shape;332;p24"/>
          <p:cNvSpPr/>
          <p:nvPr/>
        </p:nvSpPr>
        <p:spPr>
          <a:xfrm>
            <a:off x="8000292" y="6150925"/>
            <a:ext cx="2122800" cy="1505400"/>
          </a:xfrm>
          <a:prstGeom prst="flowChartAlternateProcess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Montserrat"/>
                <a:ea typeface="Montserrat"/>
                <a:cs typeface="Montserrat"/>
                <a:sym typeface="Montserrat"/>
              </a:rPr>
              <a:t>Wednesdays to Fridays 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Montserrat"/>
                <a:ea typeface="Montserrat"/>
                <a:cs typeface="Montserrat"/>
                <a:sym typeface="Montserrat"/>
              </a:rPr>
              <a:t>12:00pm to 9:00pm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Montserrat"/>
                <a:ea typeface="Montserrat"/>
                <a:cs typeface="Montserrat"/>
                <a:sym typeface="Montserrat"/>
              </a:rPr>
              <a:t> Saturdays 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Montserrat"/>
                <a:ea typeface="Montserrat"/>
                <a:cs typeface="Montserrat"/>
                <a:sym typeface="Montserrat"/>
              </a:rPr>
              <a:t>9:00am to 6:00pm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Montserrat"/>
                <a:ea typeface="Montserrat"/>
                <a:cs typeface="Montserrat"/>
                <a:sym typeface="Montserrat"/>
              </a:rPr>
              <a:t> Sundays 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Montserrat"/>
                <a:ea typeface="Montserrat"/>
                <a:cs typeface="Montserrat"/>
                <a:sym typeface="Montserrat"/>
              </a:rPr>
              <a:t>9:00am to 5:30pm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5"/>
          <p:cNvSpPr txBox="1"/>
          <p:nvPr/>
        </p:nvSpPr>
        <p:spPr>
          <a:xfrm>
            <a:off x="3637800" y="8100267"/>
            <a:ext cx="110124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19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PREPARED BY EPOS </a:t>
            </a:r>
            <a:endParaRPr sz="19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19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8" name="Google Shape;338;p25"/>
          <p:cNvSpPr txBox="1"/>
          <p:nvPr/>
        </p:nvSpPr>
        <p:spPr>
          <a:xfrm>
            <a:off x="3637800" y="4183200"/>
            <a:ext cx="110124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889000" lvl="0" marL="3517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About us</a:t>
            </a:r>
            <a:endParaRPr b="1" sz="3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6"/>
          <p:cNvSpPr/>
          <p:nvPr/>
        </p:nvSpPr>
        <p:spPr>
          <a:xfrm>
            <a:off x="312375" y="757300"/>
            <a:ext cx="10174800" cy="7239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344" name="Google Shape;344;p26"/>
          <p:cNvSpPr txBox="1"/>
          <p:nvPr/>
        </p:nvSpPr>
        <p:spPr>
          <a:xfrm>
            <a:off x="-533400" y="0"/>
            <a:ext cx="182880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202124"/>
                </a:solidFill>
                <a:latin typeface="Montserrat"/>
                <a:ea typeface="Montserrat"/>
                <a:cs typeface="Montserrat"/>
                <a:sym typeface="Montserrat"/>
              </a:rPr>
              <a:t>About us page  </a:t>
            </a:r>
            <a:endParaRPr b="1" sz="2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5" name="Google Shape;345;p26"/>
          <p:cNvSpPr/>
          <p:nvPr/>
        </p:nvSpPr>
        <p:spPr>
          <a:xfrm>
            <a:off x="10094050" y="757305"/>
            <a:ext cx="387600" cy="35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346" name="Google Shape;346;p26"/>
          <p:cNvSpPr/>
          <p:nvPr/>
        </p:nvSpPr>
        <p:spPr>
          <a:xfrm>
            <a:off x="9706430" y="757305"/>
            <a:ext cx="387600" cy="35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347" name="Google Shape;347;p26"/>
          <p:cNvSpPr/>
          <p:nvPr/>
        </p:nvSpPr>
        <p:spPr>
          <a:xfrm>
            <a:off x="304125" y="1481325"/>
            <a:ext cx="10174800" cy="25032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cxnSp>
        <p:nvCxnSpPr>
          <p:cNvPr id="348" name="Google Shape;348;p26"/>
          <p:cNvCxnSpPr/>
          <p:nvPr/>
        </p:nvCxnSpPr>
        <p:spPr>
          <a:xfrm>
            <a:off x="320465" y="1481325"/>
            <a:ext cx="10174800" cy="2946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49" name="Google Shape;349;p26"/>
          <p:cNvCxnSpPr/>
          <p:nvPr/>
        </p:nvCxnSpPr>
        <p:spPr>
          <a:xfrm flipH="1" rot="10800000">
            <a:off x="304125" y="1481190"/>
            <a:ext cx="10191300" cy="2916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50" name="Google Shape;350;p26"/>
          <p:cNvSpPr/>
          <p:nvPr/>
        </p:nvSpPr>
        <p:spPr>
          <a:xfrm>
            <a:off x="3462625" y="2425574"/>
            <a:ext cx="3845400" cy="1058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About us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Home &gt; About us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1" name="Google Shape;351;p26"/>
          <p:cNvSpPr/>
          <p:nvPr/>
        </p:nvSpPr>
        <p:spPr>
          <a:xfrm>
            <a:off x="300150" y="757300"/>
            <a:ext cx="1103700" cy="723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Logo</a:t>
            </a:r>
            <a:endParaRPr sz="1500"/>
          </a:p>
        </p:txBody>
      </p:sp>
      <p:graphicFrame>
        <p:nvGraphicFramePr>
          <p:cNvPr id="352" name="Google Shape;352;p26"/>
          <p:cNvGraphicFramePr/>
          <p:nvPr/>
        </p:nvGraphicFramePr>
        <p:xfrm>
          <a:off x="10809075" y="376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{48FD2119-6418-421D-A403-E5465F0AB291}</a:tableStyleId>
              </a:tblPr>
              <a:tblGrid>
                <a:gridCol w="1016550"/>
                <a:gridCol w="2835200"/>
                <a:gridCol w="3245900"/>
              </a:tblGrid>
              <a:tr h="5785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ABOUT US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DESIGN STRUCTURE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 hMerge="1"/>
                <a:tc hMerge="1"/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1 -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About us Main banner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Header: ABOUT US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Subheader: Home &gt; About us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Banner Image: 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 hMerge="1"/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2 - About us section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Image: logo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 hMerge="1"/>
              </a:tr>
              <a:tr h="5392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3- 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About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us Section writeup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About Achiever’s Art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Achievers Art is a creative enrichment studio dedicated to inspiring imagination, confidence, and self-expression through meaningful, hands-on art experiences. Beyond traditional art classes, we offer a diverse range of programmes—from crafting and sensory play to creative entrepreneurship—designed to nurture creativity for learners of all ages in a supportive and engaging environment.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USP: </a:t>
                      </a:r>
                      <a:b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Creative Beyond Art Classes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We go beyond traditional art lessons by offering diverse, hands-on experiences across art, crafting, sensory play, and entrepreneurship to spark imagination and exploration.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Curated Multi-Experience Programmes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Our ecosystem of programmes brings together art, design, play, and business-inspired activities, allowing learners to explore creativity in different, meaningful ways.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Safe &amp; Supportive Creative Environment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We provide a nurturing space where learners of all ages can express themselves freely, build confidence, and grow creatively under guided support.</a:t>
                      </a:r>
                      <a:b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b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Icons to use placeholders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 hMerge="1"/>
              </a:tr>
            </a:tbl>
          </a:graphicData>
        </a:graphic>
      </p:graphicFrame>
      <p:sp>
        <p:nvSpPr>
          <p:cNvPr id="353" name="Google Shape;353;p26"/>
          <p:cNvSpPr txBox="1"/>
          <p:nvPr/>
        </p:nvSpPr>
        <p:spPr>
          <a:xfrm>
            <a:off x="489851" y="1644701"/>
            <a:ext cx="281700" cy="2949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1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354" name="Google Shape;354;p26"/>
          <p:cNvSpPr/>
          <p:nvPr/>
        </p:nvSpPr>
        <p:spPr>
          <a:xfrm>
            <a:off x="4497750" y="756400"/>
            <a:ext cx="59907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NAVIGATION BAR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5" name="Google Shape;355;p26"/>
          <p:cNvSpPr/>
          <p:nvPr/>
        </p:nvSpPr>
        <p:spPr>
          <a:xfrm>
            <a:off x="302125" y="3984625"/>
            <a:ext cx="10174800" cy="45039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356" name="Google Shape;356;p26"/>
          <p:cNvSpPr/>
          <p:nvPr/>
        </p:nvSpPr>
        <p:spPr>
          <a:xfrm>
            <a:off x="770575" y="1720900"/>
            <a:ext cx="8694000" cy="1978800"/>
          </a:xfrm>
          <a:prstGeom prst="rect">
            <a:avLst/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6"/>
          <p:cNvSpPr txBox="1"/>
          <p:nvPr/>
        </p:nvSpPr>
        <p:spPr>
          <a:xfrm>
            <a:off x="532525" y="4257276"/>
            <a:ext cx="281700" cy="357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2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358" name="Google Shape;358;p26"/>
          <p:cNvSpPr/>
          <p:nvPr/>
        </p:nvSpPr>
        <p:spPr>
          <a:xfrm>
            <a:off x="4223975" y="4182700"/>
            <a:ext cx="5990700" cy="15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About </a:t>
            </a: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Achievers’</a:t>
            </a: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 Art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ontserrat"/>
                <a:ea typeface="Montserrat"/>
                <a:cs typeface="Montserrat"/>
                <a:sym typeface="Montserrat"/>
              </a:rPr>
              <a:t>Achievers Art is a creative enrichment studio dedicated to inspiring imagination, confidence, and self-expression through meaningful, hands-on art experiences. Beyond traditional art classes, we offer a diverse range of programmes—from crafting and sensory play to creative entrepreneurship—designed to nurture creativity for learners of all ages in a supportive and engaging environment.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9" name="Google Shape;359;p26"/>
          <p:cNvSpPr/>
          <p:nvPr/>
        </p:nvSpPr>
        <p:spPr>
          <a:xfrm>
            <a:off x="771475" y="4257275"/>
            <a:ext cx="2858100" cy="386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Put logo</a:t>
            </a:r>
            <a:endParaRPr sz="1500"/>
          </a:p>
        </p:txBody>
      </p:sp>
      <p:sp>
        <p:nvSpPr>
          <p:cNvPr id="360" name="Google Shape;360;p26"/>
          <p:cNvSpPr txBox="1"/>
          <p:nvPr/>
        </p:nvSpPr>
        <p:spPr>
          <a:xfrm>
            <a:off x="3942275" y="4164601"/>
            <a:ext cx="281700" cy="357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3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361" name="Google Shape;361;p26"/>
          <p:cNvSpPr/>
          <p:nvPr/>
        </p:nvSpPr>
        <p:spPr>
          <a:xfrm>
            <a:off x="714150" y="4311000"/>
            <a:ext cx="3086700" cy="40128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2" name="Google Shape;362;p26"/>
          <p:cNvGrpSpPr/>
          <p:nvPr/>
        </p:nvGrpSpPr>
        <p:grpSpPr>
          <a:xfrm>
            <a:off x="4238025" y="5651647"/>
            <a:ext cx="5855994" cy="792000"/>
            <a:chOff x="4238025" y="5651647"/>
            <a:chExt cx="5855994" cy="792000"/>
          </a:xfrm>
        </p:grpSpPr>
        <p:sp>
          <p:nvSpPr>
            <p:cNvPr id="363" name="Google Shape;363;p26"/>
            <p:cNvSpPr/>
            <p:nvPr/>
          </p:nvSpPr>
          <p:spPr>
            <a:xfrm>
              <a:off x="4238025" y="5753500"/>
              <a:ext cx="578400" cy="588300"/>
            </a:xfrm>
            <a:prstGeom prst="ellipse">
              <a:avLst/>
            </a:prstGeom>
            <a:solidFill>
              <a:schemeClr val="lt2"/>
            </a:solidFill>
            <a:ln cap="flat" cmpd="sng" w="58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5825" lIns="55825" spcFirstLastPara="1" rIns="55825" wrap="square" tIns="55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55"/>
            </a:p>
          </p:txBody>
        </p:sp>
        <p:sp>
          <p:nvSpPr>
            <p:cNvPr id="364" name="Google Shape;364;p26"/>
            <p:cNvSpPr/>
            <p:nvPr/>
          </p:nvSpPr>
          <p:spPr>
            <a:xfrm>
              <a:off x="4816419" y="5651647"/>
              <a:ext cx="5277600" cy="7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6075" lIns="176075" spcFirstLastPara="1" rIns="176075" wrap="square" tIns="17607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1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100">
                  <a:solidFill>
                    <a:schemeClr val="dk1"/>
                  </a:solidFill>
                </a:rPr>
                <a:t>Creative Beyond Art Classes</a:t>
              </a:r>
              <a:endParaRPr b="1" sz="11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900">
                  <a:solidFill>
                    <a:schemeClr val="dk1"/>
                  </a:solidFill>
                </a:rPr>
                <a:t>We go beyond traditional art lessons by offering diverse, hands-on experiences across art, crafting, sensory play, and entrepreneurship to spark imagination and exploration.</a:t>
              </a:r>
              <a:endParaRPr sz="15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65" name="Google Shape;365;p26"/>
          <p:cNvGrpSpPr/>
          <p:nvPr/>
        </p:nvGrpSpPr>
        <p:grpSpPr>
          <a:xfrm>
            <a:off x="4223975" y="6543297"/>
            <a:ext cx="5855994" cy="792000"/>
            <a:chOff x="4238025" y="5651647"/>
            <a:chExt cx="5855994" cy="792000"/>
          </a:xfrm>
        </p:grpSpPr>
        <p:sp>
          <p:nvSpPr>
            <p:cNvPr id="366" name="Google Shape;366;p26"/>
            <p:cNvSpPr/>
            <p:nvPr/>
          </p:nvSpPr>
          <p:spPr>
            <a:xfrm>
              <a:off x="4238025" y="5753500"/>
              <a:ext cx="578400" cy="588300"/>
            </a:xfrm>
            <a:prstGeom prst="ellipse">
              <a:avLst/>
            </a:prstGeom>
            <a:solidFill>
              <a:schemeClr val="lt2"/>
            </a:solidFill>
            <a:ln cap="flat" cmpd="sng" w="58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5825" lIns="55825" spcFirstLastPara="1" rIns="55825" wrap="square" tIns="55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55"/>
            </a:p>
          </p:txBody>
        </p:sp>
        <p:sp>
          <p:nvSpPr>
            <p:cNvPr id="367" name="Google Shape;367;p26"/>
            <p:cNvSpPr/>
            <p:nvPr/>
          </p:nvSpPr>
          <p:spPr>
            <a:xfrm>
              <a:off x="4816419" y="5651647"/>
              <a:ext cx="5277600" cy="7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6075" lIns="176075" spcFirstLastPara="1" rIns="176075" wrap="square" tIns="17607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200">
                  <a:solidFill>
                    <a:schemeClr val="dk1"/>
                  </a:solidFill>
                </a:rPr>
                <a:t>Curated Multi-Experience Programmes</a:t>
              </a:r>
              <a:endParaRPr b="1" sz="12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000">
                  <a:solidFill>
                    <a:schemeClr val="dk1"/>
                  </a:solidFill>
                </a:rPr>
                <a:t>Our ecosystem of programmes brings together art, design, play, and business-inspired activities, allowing learners to explore creativity in different, meaningful ways.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68" name="Google Shape;368;p26"/>
          <p:cNvGrpSpPr/>
          <p:nvPr/>
        </p:nvGrpSpPr>
        <p:grpSpPr>
          <a:xfrm>
            <a:off x="4223975" y="7434947"/>
            <a:ext cx="5855994" cy="792000"/>
            <a:chOff x="4238025" y="5651647"/>
            <a:chExt cx="5855994" cy="792000"/>
          </a:xfrm>
        </p:grpSpPr>
        <p:sp>
          <p:nvSpPr>
            <p:cNvPr id="369" name="Google Shape;369;p26"/>
            <p:cNvSpPr/>
            <p:nvPr/>
          </p:nvSpPr>
          <p:spPr>
            <a:xfrm>
              <a:off x="4238025" y="5753500"/>
              <a:ext cx="578400" cy="588300"/>
            </a:xfrm>
            <a:prstGeom prst="ellipse">
              <a:avLst/>
            </a:prstGeom>
            <a:solidFill>
              <a:schemeClr val="lt2"/>
            </a:solidFill>
            <a:ln cap="flat" cmpd="sng" w="58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5825" lIns="55825" spcFirstLastPara="1" rIns="55825" wrap="square" tIns="558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55"/>
            </a:p>
          </p:txBody>
        </p:sp>
        <p:sp>
          <p:nvSpPr>
            <p:cNvPr id="370" name="Google Shape;370;p26"/>
            <p:cNvSpPr/>
            <p:nvPr/>
          </p:nvSpPr>
          <p:spPr>
            <a:xfrm>
              <a:off x="4816419" y="5651647"/>
              <a:ext cx="5277600" cy="79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6075" lIns="176075" spcFirstLastPara="1" rIns="176075" wrap="square" tIns="17607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200">
                  <a:solidFill>
                    <a:schemeClr val="dk1"/>
                  </a:solidFill>
                </a:rPr>
                <a:t>Safe &amp; Supportive Creative Environment</a:t>
              </a:r>
              <a:endParaRPr b="1" sz="12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000">
                  <a:solidFill>
                    <a:schemeClr val="dk1"/>
                  </a:solidFill>
                </a:rPr>
                <a:t>We provide a nurturing space where learners of all ages can express themselves freely, build confidence, and grow creatively under guided support.</a:t>
              </a:r>
              <a:endParaRPr b="1" sz="10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5" name="Google Shape;375;p27"/>
          <p:cNvGraphicFramePr/>
          <p:nvPr/>
        </p:nvGraphicFramePr>
        <p:xfrm>
          <a:off x="10680850" y="882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{48FD2119-6418-421D-A403-E5465F0AB291}</a:tableStyleId>
              </a:tblPr>
              <a:tblGrid>
                <a:gridCol w="1200225"/>
                <a:gridCol w="2651525"/>
                <a:gridCol w="3245900"/>
              </a:tblGrid>
              <a:tr h="26105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About us PAGE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DESIGN STRUCTURE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126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- Scrollable banner - Gallery 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Images to put in: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Header:  Your Smile, Our Passion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126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- Appointment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Section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Header: Ask us questions/ Book an appointment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Elements: 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Name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Phone Number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Email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Children Age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Preferred Mode of contact: Whatsapp (checkbox)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Our Studio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Dropdown:’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Tampines Studio (Our Tampines Hub)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Pasir Ris (Downtown East)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Bedok (Bedok HeartBeat)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Programme Type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Dropdown: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Regular Art Class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Art Workshop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Art Camp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Art Short Course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Beyond the Canvas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Parties/Events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Message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Button “Send Enquiry”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Can follow the reference of this site: </a:t>
                      </a:r>
                      <a:r>
                        <a:rPr lang="en" sz="13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Art Studio Our Tampines Hub | Downtown East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sp>
        <p:nvSpPr>
          <p:cNvPr id="376" name="Google Shape;376;p27"/>
          <p:cNvSpPr txBox="1"/>
          <p:nvPr/>
        </p:nvSpPr>
        <p:spPr>
          <a:xfrm>
            <a:off x="0" y="0"/>
            <a:ext cx="182880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300">
                <a:solidFill>
                  <a:srgbClr val="202124"/>
                </a:solidFill>
                <a:latin typeface="Montserrat"/>
                <a:ea typeface="Montserrat"/>
                <a:cs typeface="Montserrat"/>
                <a:sym typeface="Montserrat"/>
              </a:rPr>
              <a:t>About us</a:t>
            </a:r>
            <a:r>
              <a:rPr b="1" lang="en" sz="3300">
                <a:solidFill>
                  <a:srgbClr val="202124"/>
                </a:solidFill>
                <a:latin typeface="Montserrat"/>
                <a:ea typeface="Montserrat"/>
                <a:cs typeface="Montserrat"/>
                <a:sym typeface="Montserrat"/>
              </a:rPr>
              <a:t> PAGE</a:t>
            </a:r>
            <a:endParaRPr b="1" sz="3300">
              <a:solidFill>
                <a:srgbClr val="20212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7" name="Google Shape;377;p27"/>
          <p:cNvSpPr/>
          <p:nvPr/>
        </p:nvSpPr>
        <p:spPr>
          <a:xfrm>
            <a:off x="390580" y="769550"/>
            <a:ext cx="9120900" cy="3548100"/>
          </a:xfrm>
          <a:prstGeom prst="rect">
            <a:avLst/>
          </a:prstGeom>
          <a:solidFill>
            <a:schemeClr val="lt1"/>
          </a:solidFill>
          <a:ln cap="flat" cmpd="sng" w="341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7825" lIns="157825" spcFirstLastPara="1" rIns="157825" wrap="square" tIns="157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20"/>
          </a:p>
        </p:txBody>
      </p:sp>
      <p:sp>
        <p:nvSpPr>
          <p:cNvPr id="378" name="Google Shape;378;p27"/>
          <p:cNvSpPr txBox="1"/>
          <p:nvPr/>
        </p:nvSpPr>
        <p:spPr>
          <a:xfrm>
            <a:off x="597117" y="1106540"/>
            <a:ext cx="252600" cy="3204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81950" lIns="81950" spcFirstLastPara="1" rIns="81950" wrap="square" tIns="81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7">
                <a:solidFill>
                  <a:srgbClr val="FFFFFF"/>
                </a:solidFill>
              </a:rPr>
              <a:t>2</a:t>
            </a:r>
            <a:endParaRPr b="1" sz="807">
              <a:solidFill>
                <a:srgbClr val="FFFFFF"/>
              </a:solidFill>
            </a:endParaRPr>
          </a:p>
        </p:txBody>
      </p:sp>
      <p:sp>
        <p:nvSpPr>
          <p:cNvPr id="379" name="Google Shape;379;p27"/>
          <p:cNvSpPr/>
          <p:nvPr/>
        </p:nvSpPr>
        <p:spPr>
          <a:xfrm>
            <a:off x="2265950" y="995514"/>
            <a:ext cx="5370300" cy="67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57825" lIns="157825" spcFirstLastPara="1" rIns="157825" wrap="square" tIns="157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41">
                <a:latin typeface="Montserrat"/>
                <a:ea typeface="Montserrat"/>
                <a:cs typeface="Montserrat"/>
                <a:sym typeface="Montserrat"/>
              </a:rPr>
              <a:t>Your Smile, Our Passion</a:t>
            </a:r>
            <a:endParaRPr sz="224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24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0" name="Google Shape;380;p27"/>
          <p:cNvSpPr/>
          <p:nvPr/>
        </p:nvSpPr>
        <p:spPr>
          <a:xfrm>
            <a:off x="512090" y="1543769"/>
            <a:ext cx="2298600" cy="2227500"/>
          </a:xfrm>
          <a:prstGeom prst="rect">
            <a:avLst/>
          </a:prstGeom>
          <a:solidFill>
            <a:schemeClr val="lt2"/>
          </a:solidFill>
          <a:ln cap="flat" cmpd="sng" w="8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7825" lIns="157825" spcFirstLastPara="1" rIns="157825" wrap="square" tIns="157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5"/>
              <a:t>Gallery Image</a:t>
            </a:r>
            <a:endParaRPr sz="1345"/>
          </a:p>
        </p:txBody>
      </p:sp>
      <p:sp>
        <p:nvSpPr>
          <p:cNvPr id="381" name="Google Shape;381;p27"/>
          <p:cNvSpPr/>
          <p:nvPr/>
        </p:nvSpPr>
        <p:spPr>
          <a:xfrm>
            <a:off x="849640" y="858498"/>
            <a:ext cx="8446500" cy="3115800"/>
          </a:xfrm>
          <a:prstGeom prst="rect">
            <a:avLst/>
          </a:prstGeom>
          <a:noFill/>
          <a:ln cap="flat" cmpd="sng" w="170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950" lIns="81950" spcFirstLastPara="1" rIns="81950" wrap="square" tIns="81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5"/>
          </a:p>
        </p:txBody>
      </p:sp>
      <p:sp>
        <p:nvSpPr>
          <p:cNvPr id="382" name="Google Shape;382;p27"/>
          <p:cNvSpPr/>
          <p:nvPr/>
        </p:nvSpPr>
        <p:spPr>
          <a:xfrm>
            <a:off x="2946943" y="1543769"/>
            <a:ext cx="2298600" cy="2227500"/>
          </a:xfrm>
          <a:prstGeom prst="rect">
            <a:avLst/>
          </a:prstGeom>
          <a:solidFill>
            <a:schemeClr val="lt2"/>
          </a:solidFill>
          <a:ln cap="flat" cmpd="sng" w="8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7825" lIns="157825" spcFirstLastPara="1" rIns="157825" wrap="square" tIns="157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5"/>
              <a:t>Gallery Image</a:t>
            </a:r>
            <a:endParaRPr sz="1345"/>
          </a:p>
        </p:txBody>
      </p:sp>
      <p:sp>
        <p:nvSpPr>
          <p:cNvPr id="383" name="Google Shape;383;p27"/>
          <p:cNvSpPr/>
          <p:nvPr/>
        </p:nvSpPr>
        <p:spPr>
          <a:xfrm>
            <a:off x="5381797" y="1543769"/>
            <a:ext cx="2298600" cy="2227500"/>
          </a:xfrm>
          <a:prstGeom prst="rect">
            <a:avLst/>
          </a:prstGeom>
          <a:solidFill>
            <a:schemeClr val="lt2"/>
          </a:solidFill>
          <a:ln cap="flat" cmpd="sng" w="8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7825" lIns="157825" spcFirstLastPara="1" rIns="157825" wrap="square" tIns="157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5"/>
              <a:t>Gallery Image</a:t>
            </a:r>
            <a:endParaRPr sz="1345"/>
          </a:p>
        </p:txBody>
      </p:sp>
      <p:sp>
        <p:nvSpPr>
          <p:cNvPr id="384" name="Google Shape;384;p27"/>
          <p:cNvSpPr/>
          <p:nvPr/>
        </p:nvSpPr>
        <p:spPr>
          <a:xfrm>
            <a:off x="7816650" y="1543771"/>
            <a:ext cx="1694700" cy="2227500"/>
          </a:xfrm>
          <a:prstGeom prst="rect">
            <a:avLst/>
          </a:prstGeom>
          <a:solidFill>
            <a:schemeClr val="lt2"/>
          </a:solidFill>
          <a:ln cap="flat" cmpd="sng" w="8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7825" lIns="157825" spcFirstLastPara="1" rIns="157825" wrap="square" tIns="157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5"/>
              <a:t>Gallery Image</a:t>
            </a:r>
            <a:endParaRPr sz="1345"/>
          </a:p>
        </p:txBody>
      </p:sp>
      <p:sp>
        <p:nvSpPr>
          <p:cNvPr id="385" name="Google Shape;385;p27"/>
          <p:cNvSpPr/>
          <p:nvPr/>
        </p:nvSpPr>
        <p:spPr>
          <a:xfrm>
            <a:off x="390583" y="8362527"/>
            <a:ext cx="9120900" cy="554700"/>
          </a:xfrm>
          <a:prstGeom prst="rect">
            <a:avLst/>
          </a:prstGeom>
          <a:solidFill>
            <a:schemeClr val="lt2"/>
          </a:solidFill>
          <a:ln cap="flat" cmpd="sng" w="359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6025" lIns="166025" spcFirstLastPara="1" rIns="166025" wrap="square" tIns="16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86">
                <a:latin typeface="Montserrat"/>
                <a:ea typeface="Montserrat"/>
                <a:cs typeface="Montserrat"/>
                <a:sym typeface="Montserrat"/>
              </a:rPr>
              <a:t>As per default footer in mainpage</a:t>
            </a:r>
            <a:endParaRPr sz="188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6" name="Google Shape;386;p27"/>
          <p:cNvSpPr/>
          <p:nvPr/>
        </p:nvSpPr>
        <p:spPr>
          <a:xfrm>
            <a:off x="3962232" y="4308382"/>
            <a:ext cx="1974000" cy="410700"/>
          </a:xfrm>
          <a:prstGeom prst="flowChartAlternateProcess">
            <a:avLst/>
          </a:prstGeom>
          <a:solidFill>
            <a:srgbClr val="FFFFFF"/>
          </a:solidFill>
          <a:ln cap="flat" cmpd="sng" w="89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225" lIns="86225" spcFirstLastPara="1" rIns="86225" wrap="square" tIns="86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26">
                <a:latin typeface="Montserrat"/>
                <a:ea typeface="Montserrat"/>
                <a:cs typeface="Montserrat"/>
                <a:sym typeface="Montserrat"/>
              </a:rPr>
              <a:t>Click to see more</a:t>
            </a:r>
            <a:endParaRPr sz="1226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26">
                <a:latin typeface="Montserrat"/>
                <a:ea typeface="Montserrat"/>
                <a:cs typeface="Montserrat"/>
                <a:sym typeface="Montserrat"/>
              </a:rPr>
              <a:t>(Navigational button) </a:t>
            </a:r>
            <a:endParaRPr sz="122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7" name="Google Shape;387;p27"/>
          <p:cNvSpPr/>
          <p:nvPr/>
        </p:nvSpPr>
        <p:spPr>
          <a:xfrm>
            <a:off x="387000" y="4573389"/>
            <a:ext cx="9120900" cy="265200"/>
          </a:xfrm>
          <a:prstGeom prst="rect">
            <a:avLst/>
          </a:prstGeom>
          <a:solidFill>
            <a:srgbClr val="FFFFFF"/>
          </a:solidFill>
          <a:ln cap="flat" cmpd="sng" w="89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6025" lIns="166025" spcFirstLastPara="1" rIns="166025" wrap="square" tIns="16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2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8" name="Google Shape;388;p27"/>
          <p:cNvSpPr/>
          <p:nvPr/>
        </p:nvSpPr>
        <p:spPr>
          <a:xfrm>
            <a:off x="390583" y="4308385"/>
            <a:ext cx="9120900" cy="4054200"/>
          </a:xfrm>
          <a:prstGeom prst="rect">
            <a:avLst/>
          </a:prstGeom>
          <a:solidFill>
            <a:srgbClr val="EEEEEE"/>
          </a:solidFill>
          <a:ln cap="flat" cmpd="sng" w="359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6025" lIns="166025" spcFirstLastPara="1" rIns="166025" wrap="square" tIns="16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46"/>
          </a:p>
        </p:txBody>
      </p:sp>
      <p:sp>
        <p:nvSpPr>
          <p:cNvPr id="389" name="Google Shape;389;p27"/>
          <p:cNvSpPr/>
          <p:nvPr/>
        </p:nvSpPr>
        <p:spPr>
          <a:xfrm>
            <a:off x="2352635" y="4409267"/>
            <a:ext cx="4776300" cy="265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66025" lIns="166025" spcFirstLastPara="1" rIns="166025" wrap="square" tIns="16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3">
                <a:latin typeface="Montserrat"/>
                <a:ea typeface="Montserrat"/>
                <a:cs typeface="Montserrat"/>
                <a:sym typeface="Montserrat"/>
              </a:rPr>
              <a:t>Ask us questions/ Book an appointment</a:t>
            </a:r>
            <a:endParaRPr sz="150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0" name="Google Shape;390;p27"/>
          <p:cNvSpPr txBox="1"/>
          <p:nvPr/>
        </p:nvSpPr>
        <p:spPr>
          <a:xfrm>
            <a:off x="1008895" y="4407048"/>
            <a:ext cx="259500" cy="265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86225" lIns="86225" spcFirstLastPara="1" rIns="86225" wrap="square" tIns="86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49">
                <a:solidFill>
                  <a:srgbClr val="FFFFFF"/>
                </a:solidFill>
              </a:rPr>
              <a:t>1</a:t>
            </a:r>
            <a:endParaRPr b="1" sz="849">
              <a:solidFill>
                <a:srgbClr val="FFFFFF"/>
              </a:solidFill>
            </a:endParaRPr>
          </a:p>
        </p:txBody>
      </p:sp>
      <p:sp>
        <p:nvSpPr>
          <p:cNvPr id="391" name="Google Shape;391;p27"/>
          <p:cNvSpPr/>
          <p:nvPr/>
        </p:nvSpPr>
        <p:spPr>
          <a:xfrm>
            <a:off x="1420286" y="5096279"/>
            <a:ext cx="7279200" cy="220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294"/>
              <a:buFont typeface="Arial"/>
              <a:buNone/>
            </a:pPr>
            <a:r>
              <a:rPr b="0" i="0" lang="en" sz="1294" u="none" cap="none" strike="noStrike">
                <a:solidFill>
                  <a:srgbClr val="8A9880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 b="0" i="0" sz="129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7"/>
          <p:cNvSpPr/>
          <p:nvPr/>
        </p:nvSpPr>
        <p:spPr>
          <a:xfrm>
            <a:off x="1420286" y="5459334"/>
            <a:ext cx="7279200" cy="220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294"/>
              <a:buFont typeface="Arial"/>
              <a:buNone/>
            </a:pPr>
            <a:r>
              <a:rPr lang="en" sz="1294">
                <a:solidFill>
                  <a:srgbClr val="8A9880"/>
                </a:solidFill>
              </a:rPr>
              <a:t>Phone Number</a:t>
            </a:r>
            <a:endParaRPr b="0" i="0" sz="129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7"/>
          <p:cNvSpPr/>
          <p:nvPr/>
        </p:nvSpPr>
        <p:spPr>
          <a:xfrm>
            <a:off x="1420286" y="5743377"/>
            <a:ext cx="7279200" cy="220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294"/>
              <a:buFont typeface="Arial"/>
              <a:buNone/>
            </a:pPr>
            <a:r>
              <a:rPr b="0" i="0" lang="en" sz="1294" u="none" cap="none" strike="noStrike">
                <a:solidFill>
                  <a:srgbClr val="8A9880"/>
                </a:solidFill>
                <a:latin typeface="Arial"/>
                <a:ea typeface="Arial"/>
                <a:cs typeface="Arial"/>
                <a:sym typeface="Arial"/>
              </a:rPr>
              <a:t>Email</a:t>
            </a:r>
            <a:endParaRPr b="0" i="0" sz="129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7"/>
          <p:cNvSpPr/>
          <p:nvPr/>
        </p:nvSpPr>
        <p:spPr>
          <a:xfrm>
            <a:off x="1420286" y="6043222"/>
            <a:ext cx="7279200" cy="220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294"/>
              <a:buFont typeface="Arial"/>
              <a:buNone/>
            </a:pPr>
            <a:r>
              <a:rPr lang="en" sz="1294">
                <a:solidFill>
                  <a:srgbClr val="8A9880"/>
                </a:solidFill>
              </a:rPr>
              <a:t>Children Age</a:t>
            </a:r>
            <a:endParaRPr b="0" i="0" sz="129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7"/>
          <p:cNvSpPr/>
          <p:nvPr/>
        </p:nvSpPr>
        <p:spPr>
          <a:xfrm>
            <a:off x="1420286" y="6358869"/>
            <a:ext cx="7279200" cy="220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294"/>
              <a:buFont typeface="Arial"/>
              <a:buNone/>
            </a:pPr>
            <a:r>
              <a:rPr lang="en" sz="1294">
                <a:solidFill>
                  <a:srgbClr val="8A9880"/>
                </a:solidFill>
              </a:rPr>
              <a:t>Our Studio</a:t>
            </a:r>
            <a:endParaRPr b="0" i="0" sz="129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7"/>
          <p:cNvSpPr/>
          <p:nvPr/>
        </p:nvSpPr>
        <p:spPr>
          <a:xfrm>
            <a:off x="1420282" y="7684886"/>
            <a:ext cx="2184300" cy="3480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410"/>
              </a:buClr>
              <a:buSzPts val="1493"/>
              <a:buFont typeface="Arial"/>
              <a:buNone/>
            </a:pPr>
            <a:r>
              <a:rPr b="1" i="0" lang="en" sz="1493" u="none" cap="none" strike="noStrike">
                <a:solidFill>
                  <a:srgbClr val="1A2410"/>
                </a:solidFill>
                <a:latin typeface="Arial"/>
                <a:ea typeface="Arial"/>
                <a:cs typeface="Arial"/>
                <a:sym typeface="Arial"/>
              </a:rPr>
              <a:t>SEND ENQUIRY</a:t>
            </a:r>
            <a:endParaRPr b="0" i="0" sz="149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7"/>
          <p:cNvSpPr/>
          <p:nvPr/>
        </p:nvSpPr>
        <p:spPr>
          <a:xfrm>
            <a:off x="1420290" y="7030519"/>
            <a:ext cx="7279200" cy="5547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294"/>
              <a:buFont typeface="Arial"/>
              <a:buNone/>
            </a:pPr>
            <a:r>
              <a:rPr lang="en" sz="1294">
                <a:solidFill>
                  <a:srgbClr val="8A9880"/>
                </a:solidFill>
              </a:rPr>
              <a:t>Message</a:t>
            </a:r>
            <a:endParaRPr b="0" i="0" sz="129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7"/>
          <p:cNvSpPr/>
          <p:nvPr/>
        </p:nvSpPr>
        <p:spPr>
          <a:xfrm flipH="1">
            <a:off x="1155791" y="4441278"/>
            <a:ext cx="7968600" cy="3689400"/>
          </a:xfrm>
          <a:prstGeom prst="rect">
            <a:avLst/>
          </a:prstGeom>
          <a:noFill/>
          <a:ln cap="flat" cmpd="sng" w="179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225" lIns="86225" spcFirstLastPara="1" rIns="86225" wrap="square" tIns="8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9" name="Google Shape;399;p27"/>
          <p:cNvSpPr/>
          <p:nvPr/>
        </p:nvSpPr>
        <p:spPr>
          <a:xfrm>
            <a:off x="1424170" y="6657898"/>
            <a:ext cx="7279200" cy="220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294"/>
              <a:buFont typeface="Arial"/>
              <a:buNone/>
            </a:pPr>
            <a:r>
              <a:rPr lang="en" sz="1294">
                <a:solidFill>
                  <a:srgbClr val="8A9880"/>
                </a:solidFill>
              </a:rPr>
              <a:t>Programme Type</a:t>
            </a:r>
            <a:endParaRPr b="0" i="0" sz="129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8"/>
          <p:cNvSpPr txBox="1"/>
          <p:nvPr/>
        </p:nvSpPr>
        <p:spPr>
          <a:xfrm>
            <a:off x="3637800" y="8100267"/>
            <a:ext cx="110124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19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PREPARED BY EPOS </a:t>
            </a:r>
            <a:endParaRPr sz="19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19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5" name="Google Shape;405;p28"/>
          <p:cNvSpPr txBox="1"/>
          <p:nvPr/>
        </p:nvSpPr>
        <p:spPr>
          <a:xfrm>
            <a:off x="3637800" y="4183200"/>
            <a:ext cx="110124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Regular Art Class </a:t>
            </a:r>
            <a:r>
              <a:rPr b="1" lang="en" sz="3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  <a:endParaRPr b="1" sz="3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0" name="Google Shape;410;p29"/>
          <p:cNvGraphicFramePr/>
          <p:nvPr/>
        </p:nvGraphicFramePr>
        <p:xfrm>
          <a:off x="10716050" y="748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{48FD2119-6418-421D-A403-E5465F0AB291}</a:tableStyleId>
              </a:tblPr>
              <a:tblGrid>
                <a:gridCol w="1174500"/>
                <a:gridCol w="2677250"/>
                <a:gridCol w="3245900"/>
              </a:tblGrid>
              <a:tr h="3231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Regular Art Class Page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DESIGN STRUCTURE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133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1- Scrollable banner - Parties and Events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Header: REGULAR ART CLASSES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Classes: 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Artventurer (Age 3 &amp; up) – Explore the world of Arts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Image: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Canvas Wizard (Age 6 &amp; up) – For the Painters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Image: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Foundation Art Class (Age 4–6) – For Strong Art Beginnings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Image: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Sketcher Master (Age 7 &amp; up) – For the Sketch Enthusiast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Image: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Little Draws (Age 5 &amp; up) – Joyful Little Draws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Image: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Junior Fine Arts (Age 8 &amp; up) – For the Prodigy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Image: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DrawVinci (Age 6 &amp; up) – The Art of Drawing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Image: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Portfolio Art (Age 10 &amp; up) – For the Future Artist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Image: 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Each activity leads to their individual page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hMerge="1"/>
              </a:tr>
            </a:tbl>
          </a:graphicData>
        </a:graphic>
      </p:graphicFrame>
      <p:sp>
        <p:nvSpPr>
          <p:cNvPr id="411" name="Google Shape;411;p29"/>
          <p:cNvSpPr/>
          <p:nvPr/>
        </p:nvSpPr>
        <p:spPr>
          <a:xfrm>
            <a:off x="879125" y="3550725"/>
            <a:ext cx="9153000" cy="4280700"/>
          </a:xfrm>
          <a:prstGeom prst="rect">
            <a:avLst/>
          </a:prstGeom>
          <a:solidFill>
            <a:srgbClr val="FFFFFF"/>
          </a:solidFill>
          <a:ln cap="flat" cmpd="sng" w="360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6450" lIns="166450" spcFirstLastPara="1" rIns="166450" wrap="square" tIns="166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3"/>
          </a:p>
        </p:txBody>
      </p:sp>
      <p:sp>
        <p:nvSpPr>
          <p:cNvPr id="412" name="Google Shape;412;p29"/>
          <p:cNvSpPr/>
          <p:nvPr/>
        </p:nvSpPr>
        <p:spPr>
          <a:xfrm>
            <a:off x="1010697" y="4168396"/>
            <a:ext cx="2442600" cy="2285700"/>
          </a:xfrm>
          <a:prstGeom prst="rect">
            <a:avLst/>
          </a:prstGeom>
          <a:solidFill>
            <a:srgbClr val="EEEEEE"/>
          </a:solidFill>
          <a:ln cap="flat" cmpd="sng" w="90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6450" lIns="166450" spcFirstLastPara="1" rIns="166450" wrap="square" tIns="166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8"/>
              <a:t>Image 1</a:t>
            </a:r>
            <a:endParaRPr sz="1418"/>
          </a:p>
        </p:txBody>
      </p:sp>
      <p:sp>
        <p:nvSpPr>
          <p:cNvPr id="413" name="Google Shape;413;p29"/>
          <p:cNvSpPr/>
          <p:nvPr/>
        </p:nvSpPr>
        <p:spPr>
          <a:xfrm>
            <a:off x="3717983" y="4168396"/>
            <a:ext cx="2442600" cy="2285700"/>
          </a:xfrm>
          <a:prstGeom prst="rect">
            <a:avLst/>
          </a:prstGeom>
          <a:solidFill>
            <a:srgbClr val="EEEEEE"/>
          </a:solidFill>
          <a:ln cap="flat" cmpd="sng" w="90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6450" lIns="166450" spcFirstLastPara="1" rIns="166450" wrap="square" tIns="166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Arial"/>
              <a:buNone/>
            </a:pPr>
            <a:r>
              <a:rPr lang="en" sz="1418">
                <a:solidFill>
                  <a:srgbClr val="000000"/>
                </a:solidFill>
              </a:rPr>
              <a:t> Image 2</a:t>
            </a:r>
            <a:endParaRPr sz="2553"/>
          </a:p>
        </p:txBody>
      </p:sp>
      <p:sp>
        <p:nvSpPr>
          <p:cNvPr id="414" name="Google Shape;414;p29"/>
          <p:cNvSpPr/>
          <p:nvPr/>
        </p:nvSpPr>
        <p:spPr>
          <a:xfrm>
            <a:off x="6425270" y="4168396"/>
            <a:ext cx="2442600" cy="2285700"/>
          </a:xfrm>
          <a:prstGeom prst="rect">
            <a:avLst/>
          </a:prstGeom>
          <a:solidFill>
            <a:srgbClr val="EEEEEE"/>
          </a:solidFill>
          <a:ln cap="flat" cmpd="sng" w="90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6450" lIns="166450" spcFirstLastPara="1" rIns="166450" wrap="square" tIns="166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Arial"/>
              <a:buNone/>
            </a:pPr>
            <a:r>
              <a:rPr lang="en" sz="1418">
                <a:solidFill>
                  <a:srgbClr val="000000"/>
                </a:solidFill>
              </a:rPr>
              <a:t>Image 3</a:t>
            </a:r>
            <a:endParaRPr sz="2553"/>
          </a:p>
        </p:txBody>
      </p:sp>
      <p:sp>
        <p:nvSpPr>
          <p:cNvPr id="415" name="Google Shape;415;p29"/>
          <p:cNvSpPr/>
          <p:nvPr/>
        </p:nvSpPr>
        <p:spPr>
          <a:xfrm>
            <a:off x="9132556" y="4168408"/>
            <a:ext cx="892800" cy="2285700"/>
          </a:xfrm>
          <a:prstGeom prst="rect">
            <a:avLst/>
          </a:prstGeom>
          <a:solidFill>
            <a:srgbClr val="EEEEEE"/>
          </a:solidFill>
          <a:ln cap="flat" cmpd="sng" w="90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6450" lIns="166450" spcFirstLastPara="1" rIns="166450" wrap="square" tIns="166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3"/>
          </a:p>
        </p:txBody>
      </p:sp>
      <p:cxnSp>
        <p:nvCxnSpPr>
          <p:cNvPr id="416" name="Google Shape;416;p29"/>
          <p:cNvCxnSpPr/>
          <p:nvPr/>
        </p:nvCxnSpPr>
        <p:spPr>
          <a:xfrm rot="10800000">
            <a:off x="3453566" y="5095109"/>
            <a:ext cx="6571800" cy="0"/>
          </a:xfrm>
          <a:prstGeom prst="straightConnector1">
            <a:avLst/>
          </a:prstGeom>
          <a:noFill/>
          <a:ln cap="flat" cmpd="sng" w="27025">
            <a:solidFill>
              <a:srgbClr val="595959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417" name="Google Shape;417;p29"/>
          <p:cNvSpPr txBox="1"/>
          <p:nvPr/>
        </p:nvSpPr>
        <p:spPr>
          <a:xfrm>
            <a:off x="7134015" y="4740736"/>
            <a:ext cx="17340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24" u="sng">
                <a:solidFill>
                  <a:srgbClr val="595959"/>
                </a:solidFill>
              </a:rPr>
              <a:t>Scrollable section</a:t>
            </a:r>
            <a:endParaRPr b="1" sz="1324" u="sng">
              <a:solidFill>
                <a:srgbClr val="595959"/>
              </a:solidFill>
            </a:endParaRPr>
          </a:p>
        </p:txBody>
      </p:sp>
      <p:sp>
        <p:nvSpPr>
          <p:cNvPr id="418" name="Google Shape;418;p29"/>
          <p:cNvSpPr/>
          <p:nvPr/>
        </p:nvSpPr>
        <p:spPr>
          <a:xfrm>
            <a:off x="3244800" y="3716685"/>
            <a:ext cx="4389600" cy="306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66450" lIns="166450" spcFirstLastPara="1" rIns="166450" wrap="square" tIns="166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7">
                <a:latin typeface="Montserrat"/>
                <a:ea typeface="Montserrat"/>
                <a:cs typeface="Montserrat"/>
                <a:sym typeface="Montserrat"/>
              </a:rPr>
              <a:t>REGULAR ART CLASSES</a:t>
            </a:r>
            <a:endParaRPr sz="1513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9" name="Google Shape;419;p29"/>
          <p:cNvSpPr/>
          <p:nvPr/>
        </p:nvSpPr>
        <p:spPr>
          <a:xfrm>
            <a:off x="896600" y="4198525"/>
            <a:ext cx="8736900" cy="3204600"/>
          </a:xfrm>
          <a:prstGeom prst="rect">
            <a:avLst/>
          </a:prstGeom>
          <a:noFill/>
          <a:ln cap="flat" cmpd="sng" w="180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425" lIns="86425" spcFirstLastPara="1" rIns="86425" wrap="square" tIns="86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4"/>
          </a:p>
        </p:txBody>
      </p:sp>
      <p:sp>
        <p:nvSpPr>
          <p:cNvPr id="420" name="Google Shape;420;p29"/>
          <p:cNvSpPr txBox="1"/>
          <p:nvPr/>
        </p:nvSpPr>
        <p:spPr>
          <a:xfrm>
            <a:off x="1010698" y="4198516"/>
            <a:ext cx="260400" cy="306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1">
                <a:solidFill>
                  <a:srgbClr val="FFFFFF"/>
                </a:solidFill>
              </a:rPr>
              <a:t>1</a:t>
            </a:r>
            <a:endParaRPr b="1" sz="851">
              <a:solidFill>
                <a:srgbClr val="FFFFFF"/>
              </a:solidFill>
            </a:endParaRPr>
          </a:p>
        </p:txBody>
      </p:sp>
      <p:sp>
        <p:nvSpPr>
          <p:cNvPr id="421" name="Google Shape;421;p29"/>
          <p:cNvSpPr/>
          <p:nvPr/>
        </p:nvSpPr>
        <p:spPr>
          <a:xfrm>
            <a:off x="1463700" y="6582007"/>
            <a:ext cx="1536600" cy="490200"/>
          </a:xfrm>
          <a:prstGeom prst="flowChartAlternateProcess">
            <a:avLst/>
          </a:prstGeom>
          <a:solidFill>
            <a:srgbClr val="FFFFFF"/>
          </a:solidFill>
          <a:ln cap="flat" cmpd="sng" w="6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275" lIns="65275" spcFirstLastPara="1" rIns="65275" wrap="square" tIns="6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5"/>
              <a:buFont typeface="Arial"/>
              <a:buNone/>
            </a:pPr>
            <a:r>
              <a:rPr lang="en" sz="928">
                <a:latin typeface="Montserrat"/>
                <a:ea typeface="Montserrat"/>
                <a:cs typeface="Montserrat"/>
                <a:sym typeface="Montserrat"/>
              </a:rPr>
              <a:t>Class Name</a:t>
            </a:r>
            <a:endParaRPr sz="928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5"/>
              <a:buFont typeface="Arial"/>
              <a:buNone/>
            </a:pPr>
            <a:r>
              <a:rPr lang="en" sz="928">
                <a:latin typeface="Montserrat"/>
                <a:ea typeface="Montserrat"/>
                <a:cs typeface="Montserrat"/>
                <a:sym typeface="Montserrat"/>
              </a:rPr>
              <a:t>Age</a:t>
            </a:r>
            <a:endParaRPr sz="928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5"/>
              <a:buFont typeface="Arial"/>
              <a:buNone/>
            </a:pPr>
            <a:r>
              <a:rPr lang="en" sz="928">
                <a:latin typeface="Montserrat"/>
                <a:ea typeface="Montserrat"/>
                <a:cs typeface="Montserrat"/>
                <a:sym typeface="Montserrat"/>
              </a:rPr>
              <a:t>Description</a:t>
            </a:r>
            <a:endParaRPr sz="928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2" name="Google Shape;422;p29"/>
          <p:cNvSpPr/>
          <p:nvPr/>
        </p:nvSpPr>
        <p:spPr>
          <a:xfrm>
            <a:off x="4170975" y="6599232"/>
            <a:ext cx="1536600" cy="490200"/>
          </a:xfrm>
          <a:prstGeom prst="flowChartAlternateProcess">
            <a:avLst/>
          </a:prstGeom>
          <a:solidFill>
            <a:srgbClr val="FFFFFF"/>
          </a:solidFill>
          <a:ln cap="flat" cmpd="sng" w="6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275" lIns="65275" spcFirstLastPara="1" rIns="65275" wrap="square" tIns="6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5"/>
              <a:buFont typeface="Arial"/>
              <a:buNone/>
            </a:pPr>
            <a:r>
              <a:rPr lang="en" sz="928">
                <a:latin typeface="Montserrat"/>
                <a:ea typeface="Montserrat"/>
                <a:cs typeface="Montserrat"/>
                <a:sym typeface="Montserrat"/>
              </a:rPr>
              <a:t>Class Name</a:t>
            </a:r>
            <a:endParaRPr sz="928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5"/>
              <a:buFont typeface="Arial"/>
              <a:buNone/>
            </a:pPr>
            <a:r>
              <a:rPr lang="en" sz="928">
                <a:latin typeface="Montserrat"/>
                <a:ea typeface="Montserrat"/>
                <a:cs typeface="Montserrat"/>
                <a:sym typeface="Montserrat"/>
              </a:rPr>
              <a:t>Age</a:t>
            </a:r>
            <a:endParaRPr sz="928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5"/>
              <a:buFont typeface="Arial"/>
              <a:buNone/>
            </a:pPr>
            <a:r>
              <a:rPr lang="en" sz="928">
                <a:latin typeface="Montserrat"/>
                <a:ea typeface="Montserrat"/>
                <a:cs typeface="Montserrat"/>
                <a:sym typeface="Montserrat"/>
              </a:rPr>
              <a:t>Description</a:t>
            </a:r>
            <a:endParaRPr sz="928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3" name="Google Shape;423;p29"/>
          <p:cNvSpPr/>
          <p:nvPr/>
        </p:nvSpPr>
        <p:spPr>
          <a:xfrm>
            <a:off x="6878250" y="6582007"/>
            <a:ext cx="1536600" cy="490200"/>
          </a:xfrm>
          <a:prstGeom prst="flowChartAlternateProcess">
            <a:avLst/>
          </a:prstGeom>
          <a:solidFill>
            <a:srgbClr val="FFFFFF"/>
          </a:solidFill>
          <a:ln cap="flat" cmpd="sng" w="6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275" lIns="65275" spcFirstLastPara="1" rIns="65275" wrap="square" tIns="6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5"/>
              <a:buFont typeface="Arial"/>
              <a:buNone/>
            </a:pPr>
            <a:r>
              <a:rPr lang="en" sz="928">
                <a:latin typeface="Montserrat"/>
                <a:ea typeface="Montserrat"/>
                <a:cs typeface="Montserrat"/>
                <a:sym typeface="Montserrat"/>
              </a:rPr>
              <a:t>Class Name</a:t>
            </a:r>
            <a:endParaRPr sz="928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5"/>
              <a:buFont typeface="Arial"/>
              <a:buNone/>
            </a:pPr>
            <a:r>
              <a:rPr lang="en" sz="928">
                <a:latin typeface="Montserrat"/>
                <a:ea typeface="Montserrat"/>
                <a:cs typeface="Montserrat"/>
                <a:sym typeface="Montserrat"/>
              </a:rPr>
              <a:t>Age</a:t>
            </a:r>
            <a:endParaRPr sz="928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5"/>
              <a:buFont typeface="Arial"/>
              <a:buNone/>
            </a:pPr>
            <a:r>
              <a:rPr lang="en" sz="928">
                <a:latin typeface="Montserrat"/>
                <a:ea typeface="Montserrat"/>
                <a:cs typeface="Montserrat"/>
                <a:sym typeface="Montserrat"/>
              </a:rPr>
              <a:t>Description</a:t>
            </a:r>
            <a:endParaRPr sz="928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4" name="Google Shape;424;p29"/>
          <p:cNvSpPr/>
          <p:nvPr/>
        </p:nvSpPr>
        <p:spPr>
          <a:xfrm>
            <a:off x="879760" y="856981"/>
            <a:ext cx="9138300" cy="688200"/>
          </a:xfrm>
          <a:prstGeom prst="rect">
            <a:avLst/>
          </a:prstGeom>
          <a:solidFill>
            <a:schemeClr val="lt2"/>
          </a:solidFill>
          <a:ln cap="flat" cmpd="sng" w="362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7400" lIns="167400" spcFirstLastPara="1" rIns="167400" wrap="square" tIns="167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67"/>
          </a:p>
        </p:txBody>
      </p:sp>
      <p:sp>
        <p:nvSpPr>
          <p:cNvPr id="425" name="Google Shape;425;p29"/>
          <p:cNvSpPr/>
          <p:nvPr/>
        </p:nvSpPr>
        <p:spPr>
          <a:xfrm>
            <a:off x="9623975" y="856991"/>
            <a:ext cx="387600" cy="339900"/>
          </a:xfrm>
          <a:prstGeom prst="rect">
            <a:avLst/>
          </a:prstGeom>
          <a:solidFill>
            <a:schemeClr val="lt2"/>
          </a:solidFill>
          <a:ln cap="flat" cmpd="sng" w="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7400" lIns="167400" spcFirstLastPara="1" rIns="167400" wrap="square" tIns="167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67"/>
          </a:p>
        </p:txBody>
      </p:sp>
      <p:sp>
        <p:nvSpPr>
          <p:cNvPr id="426" name="Google Shape;426;p29"/>
          <p:cNvSpPr/>
          <p:nvPr/>
        </p:nvSpPr>
        <p:spPr>
          <a:xfrm>
            <a:off x="9316738" y="856985"/>
            <a:ext cx="348000" cy="339900"/>
          </a:xfrm>
          <a:prstGeom prst="rect">
            <a:avLst/>
          </a:prstGeom>
          <a:solidFill>
            <a:schemeClr val="lt2"/>
          </a:solidFill>
          <a:ln cap="flat" cmpd="sng" w="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7400" lIns="167400" spcFirstLastPara="1" rIns="167400" wrap="square" tIns="167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67"/>
          </a:p>
        </p:txBody>
      </p:sp>
      <p:sp>
        <p:nvSpPr>
          <p:cNvPr id="427" name="Google Shape;427;p29"/>
          <p:cNvSpPr/>
          <p:nvPr/>
        </p:nvSpPr>
        <p:spPr>
          <a:xfrm>
            <a:off x="872350" y="1545300"/>
            <a:ext cx="9153000" cy="2033700"/>
          </a:xfrm>
          <a:prstGeom prst="rect">
            <a:avLst/>
          </a:prstGeom>
          <a:solidFill>
            <a:schemeClr val="lt2"/>
          </a:solidFill>
          <a:ln cap="flat" cmpd="sng" w="362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7400" lIns="167400" spcFirstLastPara="1" rIns="167400" wrap="square" tIns="167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67"/>
          </a:p>
        </p:txBody>
      </p:sp>
      <p:cxnSp>
        <p:nvCxnSpPr>
          <p:cNvPr id="428" name="Google Shape;428;p29"/>
          <p:cNvCxnSpPr/>
          <p:nvPr/>
        </p:nvCxnSpPr>
        <p:spPr>
          <a:xfrm>
            <a:off x="887025" y="1545294"/>
            <a:ext cx="9138300" cy="2801400"/>
          </a:xfrm>
          <a:prstGeom prst="straightConnector1">
            <a:avLst/>
          </a:prstGeom>
          <a:noFill/>
          <a:ln cap="flat" cmpd="sng" w="9050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29" name="Google Shape;429;p29"/>
          <p:cNvCxnSpPr/>
          <p:nvPr/>
        </p:nvCxnSpPr>
        <p:spPr>
          <a:xfrm flipH="1" rot="10800000">
            <a:off x="872350" y="1545293"/>
            <a:ext cx="9153000" cy="2772900"/>
          </a:xfrm>
          <a:prstGeom prst="straightConnector1">
            <a:avLst/>
          </a:prstGeom>
          <a:noFill/>
          <a:ln cap="flat" cmpd="sng" w="9050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30" name="Google Shape;430;p29"/>
          <p:cNvSpPr/>
          <p:nvPr/>
        </p:nvSpPr>
        <p:spPr>
          <a:xfrm>
            <a:off x="3230002" y="2298087"/>
            <a:ext cx="4498200" cy="1005900"/>
          </a:xfrm>
          <a:prstGeom prst="rect">
            <a:avLst/>
          </a:prstGeom>
          <a:solidFill>
            <a:schemeClr val="lt1"/>
          </a:solidFill>
          <a:ln cap="flat" cmpd="sng" w="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7400" lIns="167400" spcFirstLastPara="1" rIns="167400" wrap="square" tIns="167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72">
                <a:latin typeface="Montserrat"/>
                <a:ea typeface="Montserrat"/>
                <a:cs typeface="Montserrat"/>
                <a:sym typeface="Montserrat"/>
              </a:rPr>
              <a:t>Regular Art Classes</a:t>
            </a:r>
            <a:endParaRPr sz="2472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6">
                <a:latin typeface="Montserrat"/>
                <a:ea typeface="Montserrat"/>
                <a:cs typeface="Montserrat"/>
                <a:sym typeface="Montserrat"/>
              </a:rPr>
              <a:t>Home &gt;</a:t>
            </a:r>
            <a:r>
              <a:rPr lang="en" sz="1236">
                <a:latin typeface="Montserrat"/>
                <a:ea typeface="Montserrat"/>
                <a:cs typeface="Montserrat"/>
                <a:sym typeface="Montserrat"/>
              </a:rPr>
              <a:t>Regular Art Classes</a:t>
            </a:r>
            <a:endParaRPr sz="123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1" name="Google Shape;431;p29"/>
          <p:cNvSpPr/>
          <p:nvPr/>
        </p:nvSpPr>
        <p:spPr>
          <a:xfrm>
            <a:off x="887034" y="856125"/>
            <a:ext cx="991200" cy="688200"/>
          </a:xfrm>
          <a:prstGeom prst="rect">
            <a:avLst/>
          </a:prstGeom>
          <a:solidFill>
            <a:schemeClr val="lt2"/>
          </a:solidFill>
          <a:ln cap="flat" cmpd="sng" w="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7400" lIns="167400" spcFirstLastPara="1" rIns="167400" wrap="square" tIns="167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26"/>
              <a:t>Logo</a:t>
            </a:r>
            <a:endParaRPr sz="1426"/>
          </a:p>
        </p:txBody>
      </p:sp>
      <p:sp>
        <p:nvSpPr>
          <p:cNvPr id="432" name="Google Shape;432;p29"/>
          <p:cNvSpPr/>
          <p:nvPr/>
        </p:nvSpPr>
        <p:spPr>
          <a:xfrm>
            <a:off x="4638725" y="856125"/>
            <a:ext cx="53805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6925" lIns="86925" spcFirstLastPara="1" rIns="86925" wrap="square" tIns="8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31">
                <a:latin typeface="Montserrat"/>
                <a:ea typeface="Montserrat"/>
                <a:cs typeface="Montserrat"/>
                <a:sym typeface="Montserrat"/>
              </a:rPr>
              <a:t>NAVIGATION BAR</a:t>
            </a:r>
            <a:endParaRPr sz="133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7" name="Google Shape;437;p30"/>
          <p:cNvGraphicFramePr/>
          <p:nvPr/>
        </p:nvGraphicFramePr>
        <p:xfrm>
          <a:off x="10716050" y="748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{48FD2119-6418-421D-A403-E5465F0AB291}</a:tableStyleId>
              </a:tblPr>
              <a:tblGrid>
                <a:gridCol w="1174500"/>
                <a:gridCol w="2677250"/>
                <a:gridCol w="3245900"/>
              </a:tblGrid>
              <a:tr h="3231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Regular Art Class Page DESIGN STRUCTURE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133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1 -  Class Offerings: 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Refer to: </a:t>
                      </a:r>
                      <a:r>
                        <a:rPr lang="en" sz="13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https://docs.google.com/document/d/1XZTotmI19L3qqWeifwS1BPGSjUP07Xktb7MSWogVzWE/edit?tab=t.44h07ljttmpx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See more button leads to individual class page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Image are to extract from reference website: </a:t>
                      </a:r>
                      <a:r>
                        <a:rPr lang="en" sz="13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4"/>
                        </a:rPr>
                        <a:t>https://www.achieversarts.com/artclass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sp>
        <p:nvSpPr>
          <p:cNvPr id="438" name="Google Shape;438;p30"/>
          <p:cNvSpPr/>
          <p:nvPr/>
        </p:nvSpPr>
        <p:spPr>
          <a:xfrm>
            <a:off x="614550" y="797226"/>
            <a:ext cx="9146700" cy="3838500"/>
          </a:xfrm>
          <a:prstGeom prst="rect">
            <a:avLst/>
          </a:prstGeom>
          <a:solidFill>
            <a:srgbClr val="EEEEEE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cxnSp>
        <p:nvCxnSpPr>
          <p:cNvPr id="439" name="Google Shape;439;p30"/>
          <p:cNvCxnSpPr/>
          <p:nvPr/>
        </p:nvCxnSpPr>
        <p:spPr>
          <a:xfrm>
            <a:off x="626125" y="1277706"/>
            <a:ext cx="9138300" cy="2946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40" name="Google Shape;440;p30"/>
          <p:cNvCxnSpPr/>
          <p:nvPr/>
        </p:nvCxnSpPr>
        <p:spPr>
          <a:xfrm flipH="1" rot="10800000">
            <a:off x="611450" y="1277561"/>
            <a:ext cx="9153000" cy="2916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41" name="Google Shape;441;p30"/>
          <p:cNvSpPr/>
          <p:nvPr/>
        </p:nvSpPr>
        <p:spPr>
          <a:xfrm>
            <a:off x="869436" y="1765362"/>
            <a:ext cx="46695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Roboto"/>
                <a:ea typeface="Roboto"/>
                <a:cs typeface="Roboto"/>
                <a:sym typeface="Roboto"/>
              </a:rPr>
              <a:t>Class Name</a:t>
            </a:r>
            <a:endParaRPr sz="2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2" name="Google Shape;442;p30"/>
          <p:cNvSpPr/>
          <p:nvPr/>
        </p:nvSpPr>
        <p:spPr>
          <a:xfrm>
            <a:off x="1044590" y="3938525"/>
            <a:ext cx="1491600" cy="379800"/>
          </a:xfrm>
          <a:prstGeom prst="flowChartAlternateProcess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ontserrat"/>
                <a:ea typeface="Montserrat"/>
                <a:cs typeface="Montserrat"/>
                <a:sym typeface="Montserrat"/>
              </a:rPr>
              <a:t>See More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3" name="Google Shape;443;p30"/>
          <p:cNvSpPr txBox="1"/>
          <p:nvPr/>
        </p:nvSpPr>
        <p:spPr>
          <a:xfrm>
            <a:off x="791691" y="987885"/>
            <a:ext cx="252900" cy="2949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1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444" name="Google Shape;444;p30"/>
          <p:cNvSpPr/>
          <p:nvPr/>
        </p:nvSpPr>
        <p:spPr>
          <a:xfrm>
            <a:off x="904642" y="2402082"/>
            <a:ext cx="46695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&lt;Description&gt;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5" name="Google Shape;445;p30"/>
          <p:cNvSpPr/>
          <p:nvPr/>
        </p:nvSpPr>
        <p:spPr>
          <a:xfrm>
            <a:off x="5574150" y="1498625"/>
            <a:ext cx="3602700" cy="2770500"/>
          </a:xfrm>
          <a:prstGeom prst="flowChartAlternateProcess">
            <a:avLst/>
          </a:prstGeom>
          <a:solidFill>
            <a:srgbClr val="FFFFFF"/>
          </a:solidFill>
          <a:ln cap="flat" cmpd="sng" w="6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275" lIns="65275" spcFirstLastPara="1" rIns="65275" wrap="square" tIns="6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5"/>
              <a:buFont typeface="Arial"/>
              <a:buNone/>
            </a:pPr>
            <a:r>
              <a:rPr lang="en" sz="92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Product Image</a:t>
            </a:r>
            <a:endParaRPr sz="928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6" name="Google Shape;446;p30"/>
          <p:cNvSpPr/>
          <p:nvPr/>
        </p:nvSpPr>
        <p:spPr>
          <a:xfrm>
            <a:off x="2784661" y="748840"/>
            <a:ext cx="46695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Roboto"/>
                <a:ea typeface="Roboto"/>
                <a:cs typeface="Roboto"/>
                <a:sym typeface="Roboto"/>
              </a:rPr>
              <a:t>Category(Age)</a:t>
            </a:r>
            <a:endParaRPr sz="2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7" name="Google Shape;447;p30"/>
          <p:cNvSpPr/>
          <p:nvPr/>
        </p:nvSpPr>
        <p:spPr>
          <a:xfrm>
            <a:off x="621875" y="4684101"/>
            <a:ext cx="9146700" cy="3838500"/>
          </a:xfrm>
          <a:prstGeom prst="rect">
            <a:avLst/>
          </a:prstGeom>
          <a:solidFill>
            <a:srgbClr val="EEEEEE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cxnSp>
        <p:nvCxnSpPr>
          <p:cNvPr id="448" name="Google Shape;448;p30"/>
          <p:cNvCxnSpPr/>
          <p:nvPr/>
        </p:nvCxnSpPr>
        <p:spPr>
          <a:xfrm>
            <a:off x="633450" y="5164581"/>
            <a:ext cx="9138300" cy="2946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49" name="Google Shape;449;p30"/>
          <p:cNvCxnSpPr/>
          <p:nvPr/>
        </p:nvCxnSpPr>
        <p:spPr>
          <a:xfrm flipH="1" rot="10800000">
            <a:off x="618775" y="5164436"/>
            <a:ext cx="9153000" cy="2916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50" name="Google Shape;450;p30"/>
          <p:cNvSpPr/>
          <p:nvPr/>
        </p:nvSpPr>
        <p:spPr>
          <a:xfrm>
            <a:off x="876761" y="5652237"/>
            <a:ext cx="46695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Roboto"/>
                <a:ea typeface="Roboto"/>
                <a:cs typeface="Roboto"/>
                <a:sym typeface="Roboto"/>
              </a:rPr>
              <a:t>Class Name</a:t>
            </a:r>
            <a:endParaRPr sz="2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1" name="Google Shape;451;p30"/>
          <p:cNvSpPr/>
          <p:nvPr/>
        </p:nvSpPr>
        <p:spPr>
          <a:xfrm>
            <a:off x="1051915" y="7825400"/>
            <a:ext cx="1491600" cy="379800"/>
          </a:xfrm>
          <a:prstGeom prst="flowChartAlternateProcess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ontserrat"/>
                <a:ea typeface="Montserrat"/>
                <a:cs typeface="Montserrat"/>
                <a:sym typeface="Montserrat"/>
              </a:rPr>
              <a:t>See More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2" name="Google Shape;452;p30"/>
          <p:cNvSpPr/>
          <p:nvPr/>
        </p:nvSpPr>
        <p:spPr>
          <a:xfrm>
            <a:off x="911967" y="6288957"/>
            <a:ext cx="46695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&lt;Description&gt;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3" name="Google Shape;453;p30"/>
          <p:cNvSpPr/>
          <p:nvPr/>
        </p:nvSpPr>
        <p:spPr>
          <a:xfrm>
            <a:off x="5581475" y="5385500"/>
            <a:ext cx="3602700" cy="2770500"/>
          </a:xfrm>
          <a:prstGeom prst="flowChartAlternateProcess">
            <a:avLst/>
          </a:prstGeom>
          <a:solidFill>
            <a:srgbClr val="FFFFFF"/>
          </a:solidFill>
          <a:ln cap="flat" cmpd="sng" w="6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275" lIns="65275" spcFirstLastPara="1" rIns="65275" wrap="square" tIns="6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5"/>
              <a:buFont typeface="Arial"/>
              <a:buNone/>
            </a:pPr>
            <a:r>
              <a:rPr lang="en" sz="92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Product Image</a:t>
            </a:r>
            <a:endParaRPr sz="928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4" name="Google Shape;454;p30"/>
          <p:cNvSpPr/>
          <p:nvPr/>
        </p:nvSpPr>
        <p:spPr>
          <a:xfrm>
            <a:off x="2791986" y="4635715"/>
            <a:ext cx="46695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Roboto"/>
                <a:ea typeface="Roboto"/>
                <a:cs typeface="Roboto"/>
                <a:sym typeface="Roboto"/>
              </a:rPr>
              <a:t>Category(Age)</a:t>
            </a:r>
            <a:endParaRPr sz="2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5" name="Google Shape;455;p30"/>
          <p:cNvSpPr/>
          <p:nvPr/>
        </p:nvSpPr>
        <p:spPr>
          <a:xfrm>
            <a:off x="791700" y="987875"/>
            <a:ext cx="8747700" cy="7707000"/>
          </a:xfrm>
          <a:prstGeom prst="rect">
            <a:avLst/>
          </a:prstGeom>
          <a:noFill/>
          <a:ln cap="flat" cmpd="sng" w="172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750" lIns="82750" spcFirstLastPara="1" rIns="82750" wrap="square" tIns="82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67"/>
              <a:t> </a:t>
            </a:r>
            <a:endParaRPr sz="1267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0" name="Google Shape;460;p31"/>
          <p:cNvGraphicFramePr/>
          <p:nvPr/>
        </p:nvGraphicFramePr>
        <p:xfrm>
          <a:off x="10680850" y="882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{48FD2119-6418-421D-A403-E5465F0AB291}</a:tableStyleId>
              </a:tblPr>
              <a:tblGrid>
                <a:gridCol w="1200225"/>
                <a:gridCol w="2651525"/>
                <a:gridCol w="3245900"/>
              </a:tblGrid>
              <a:tr h="26105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Regular Art Class Page DESIGN STRUCTURE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126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1- Scrollable banner - Gallery 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Images to put in: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Header:  Your Smile, Our Passion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sp>
        <p:nvSpPr>
          <p:cNvPr id="461" name="Google Shape;461;p31"/>
          <p:cNvSpPr txBox="1"/>
          <p:nvPr/>
        </p:nvSpPr>
        <p:spPr>
          <a:xfrm>
            <a:off x="0" y="0"/>
            <a:ext cx="182880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300">
                <a:solidFill>
                  <a:srgbClr val="202124"/>
                </a:solidFill>
                <a:latin typeface="Montserrat"/>
                <a:ea typeface="Montserrat"/>
                <a:cs typeface="Montserrat"/>
                <a:sym typeface="Montserrat"/>
              </a:rPr>
              <a:t>Regular Art Class Page</a:t>
            </a:r>
            <a:endParaRPr b="1" sz="3300">
              <a:solidFill>
                <a:srgbClr val="20212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2" name="Google Shape;462;p31"/>
          <p:cNvSpPr/>
          <p:nvPr/>
        </p:nvSpPr>
        <p:spPr>
          <a:xfrm>
            <a:off x="834605" y="882750"/>
            <a:ext cx="9120900" cy="3548100"/>
          </a:xfrm>
          <a:prstGeom prst="rect">
            <a:avLst/>
          </a:prstGeom>
          <a:solidFill>
            <a:schemeClr val="lt1"/>
          </a:solidFill>
          <a:ln cap="flat" cmpd="sng" w="341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7825" lIns="157825" spcFirstLastPara="1" rIns="157825" wrap="square" tIns="157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20"/>
          </a:p>
        </p:txBody>
      </p:sp>
      <p:sp>
        <p:nvSpPr>
          <p:cNvPr id="463" name="Google Shape;463;p31"/>
          <p:cNvSpPr txBox="1"/>
          <p:nvPr/>
        </p:nvSpPr>
        <p:spPr>
          <a:xfrm>
            <a:off x="1041142" y="1219740"/>
            <a:ext cx="252600" cy="3204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81950" lIns="81950" spcFirstLastPara="1" rIns="81950" wrap="square" tIns="81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7">
                <a:solidFill>
                  <a:srgbClr val="FFFFFF"/>
                </a:solidFill>
              </a:rPr>
              <a:t>1</a:t>
            </a:r>
            <a:endParaRPr b="1" sz="807">
              <a:solidFill>
                <a:srgbClr val="FFFFFF"/>
              </a:solidFill>
            </a:endParaRPr>
          </a:p>
        </p:txBody>
      </p:sp>
      <p:sp>
        <p:nvSpPr>
          <p:cNvPr id="464" name="Google Shape;464;p31"/>
          <p:cNvSpPr/>
          <p:nvPr/>
        </p:nvSpPr>
        <p:spPr>
          <a:xfrm>
            <a:off x="2709975" y="1108714"/>
            <a:ext cx="5370300" cy="67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57825" lIns="157825" spcFirstLastPara="1" rIns="157825" wrap="square" tIns="157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41">
                <a:latin typeface="Montserrat"/>
                <a:ea typeface="Montserrat"/>
                <a:cs typeface="Montserrat"/>
                <a:sym typeface="Montserrat"/>
              </a:rPr>
              <a:t>Your Smile, Our Passion</a:t>
            </a:r>
            <a:endParaRPr sz="224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24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5" name="Google Shape;465;p31"/>
          <p:cNvSpPr/>
          <p:nvPr/>
        </p:nvSpPr>
        <p:spPr>
          <a:xfrm>
            <a:off x="956115" y="1656969"/>
            <a:ext cx="2298600" cy="2227500"/>
          </a:xfrm>
          <a:prstGeom prst="rect">
            <a:avLst/>
          </a:prstGeom>
          <a:solidFill>
            <a:schemeClr val="lt2"/>
          </a:solidFill>
          <a:ln cap="flat" cmpd="sng" w="8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7825" lIns="157825" spcFirstLastPara="1" rIns="157825" wrap="square" tIns="157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5"/>
              <a:t>Gallery Image</a:t>
            </a:r>
            <a:endParaRPr sz="1345"/>
          </a:p>
        </p:txBody>
      </p:sp>
      <p:sp>
        <p:nvSpPr>
          <p:cNvPr id="466" name="Google Shape;466;p31"/>
          <p:cNvSpPr/>
          <p:nvPr/>
        </p:nvSpPr>
        <p:spPr>
          <a:xfrm>
            <a:off x="1293665" y="971698"/>
            <a:ext cx="8446500" cy="3115800"/>
          </a:xfrm>
          <a:prstGeom prst="rect">
            <a:avLst/>
          </a:prstGeom>
          <a:noFill/>
          <a:ln cap="flat" cmpd="sng" w="170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950" lIns="81950" spcFirstLastPara="1" rIns="81950" wrap="square" tIns="81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5"/>
          </a:p>
        </p:txBody>
      </p:sp>
      <p:sp>
        <p:nvSpPr>
          <p:cNvPr id="467" name="Google Shape;467;p31"/>
          <p:cNvSpPr/>
          <p:nvPr/>
        </p:nvSpPr>
        <p:spPr>
          <a:xfrm>
            <a:off x="3390968" y="1656969"/>
            <a:ext cx="2298600" cy="2227500"/>
          </a:xfrm>
          <a:prstGeom prst="rect">
            <a:avLst/>
          </a:prstGeom>
          <a:solidFill>
            <a:schemeClr val="lt2"/>
          </a:solidFill>
          <a:ln cap="flat" cmpd="sng" w="8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7825" lIns="157825" spcFirstLastPara="1" rIns="157825" wrap="square" tIns="157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5"/>
              <a:t>Gallery Image</a:t>
            </a:r>
            <a:endParaRPr sz="1345"/>
          </a:p>
        </p:txBody>
      </p:sp>
      <p:sp>
        <p:nvSpPr>
          <p:cNvPr id="468" name="Google Shape;468;p31"/>
          <p:cNvSpPr/>
          <p:nvPr/>
        </p:nvSpPr>
        <p:spPr>
          <a:xfrm>
            <a:off x="5825822" y="1656969"/>
            <a:ext cx="2298600" cy="2227500"/>
          </a:xfrm>
          <a:prstGeom prst="rect">
            <a:avLst/>
          </a:prstGeom>
          <a:solidFill>
            <a:schemeClr val="lt2"/>
          </a:solidFill>
          <a:ln cap="flat" cmpd="sng" w="8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7825" lIns="157825" spcFirstLastPara="1" rIns="157825" wrap="square" tIns="157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5"/>
              <a:t>Gallery Image</a:t>
            </a:r>
            <a:endParaRPr sz="1345"/>
          </a:p>
        </p:txBody>
      </p:sp>
      <p:sp>
        <p:nvSpPr>
          <p:cNvPr id="469" name="Google Shape;469;p31"/>
          <p:cNvSpPr/>
          <p:nvPr/>
        </p:nvSpPr>
        <p:spPr>
          <a:xfrm>
            <a:off x="8260675" y="1656971"/>
            <a:ext cx="1694700" cy="2227500"/>
          </a:xfrm>
          <a:prstGeom prst="rect">
            <a:avLst/>
          </a:prstGeom>
          <a:solidFill>
            <a:schemeClr val="lt2"/>
          </a:solidFill>
          <a:ln cap="flat" cmpd="sng" w="8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7825" lIns="157825" spcFirstLastPara="1" rIns="157825" wrap="square" tIns="157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5"/>
              <a:t>Gallery Image</a:t>
            </a:r>
            <a:endParaRPr sz="1345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2"/>
          <p:cNvSpPr txBox="1"/>
          <p:nvPr/>
        </p:nvSpPr>
        <p:spPr>
          <a:xfrm>
            <a:off x="3637800" y="8100267"/>
            <a:ext cx="110124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19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PREPARED BY EPOS </a:t>
            </a:r>
            <a:endParaRPr sz="19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19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5" name="Google Shape;475;p32"/>
          <p:cNvSpPr txBox="1"/>
          <p:nvPr/>
        </p:nvSpPr>
        <p:spPr>
          <a:xfrm>
            <a:off x="3637800" y="2851075"/>
            <a:ext cx="11012400" cy="44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Individual Landing Pages (</a:t>
            </a:r>
            <a:r>
              <a:rPr b="1" lang="en" sz="3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Regular Art Class)</a:t>
            </a:r>
            <a:endParaRPr b="1" sz="3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Pages to create: 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AutoNum type="arabicPeriod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Artventurer (Age 3 &amp; up) 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AutoNum type="arabicPeriod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Canvas Wizard (Age 6 &amp; up) 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AutoNum type="arabicPeriod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 Art Class (Age 4–6) 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AutoNum type="arabicPeriod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Sketcher Master (Age 7 &amp; up) 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AutoNum type="arabicPeriod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Little Draws (Age 5 &amp; up) 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AutoNum type="arabicPeriod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Junior Fine Arts (Age 8 &amp; up) 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AutoNum type="arabicPeriod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DrawVinci (Age 6 &amp; up) 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AutoNum type="arabicPeriod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Portfolio Art (Age 10 &amp; up) 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*All to be same format*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3"/>
          <p:cNvSpPr txBox="1"/>
          <p:nvPr/>
        </p:nvSpPr>
        <p:spPr>
          <a:xfrm>
            <a:off x="0" y="0"/>
            <a:ext cx="182880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02124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202124"/>
                </a:solidFill>
                <a:latin typeface="Montserrat"/>
                <a:ea typeface="Montserrat"/>
                <a:cs typeface="Montserrat"/>
                <a:sym typeface="Montserrat"/>
              </a:rPr>
              <a:t>Individual Landing Page(example)</a:t>
            </a:r>
            <a:endParaRPr b="1" sz="3300">
              <a:solidFill>
                <a:srgbClr val="20212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1" name="Google Shape;481;p33"/>
          <p:cNvSpPr/>
          <p:nvPr/>
        </p:nvSpPr>
        <p:spPr>
          <a:xfrm>
            <a:off x="247025" y="1314675"/>
            <a:ext cx="12133200" cy="72975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482" name="Google Shape;482;p33"/>
          <p:cNvSpPr/>
          <p:nvPr/>
        </p:nvSpPr>
        <p:spPr>
          <a:xfrm>
            <a:off x="260727" y="1314656"/>
            <a:ext cx="12123000" cy="410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NAVIGATION BAR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3" name="Google Shape;483;p33"/>
          <p:cNvSpPr/>
          <p:nvPr/>
        </p:nvSpPr>
        <p:spPr>
          <a:xfrm>
            <a:off x="260727" y="1724789"/>
            <a:ext cx="12123000" cy="410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4" name="Google Shape;484;p33"/>
          <p:cNvSpPr/>
          <p:nvPr/>
        </p:nvSpPr>
        <p:spPr>
          <a:xfrm>
            <a:off x="11918825" y="1314656"/>
            <a:ext cx="461400" cy="41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485" name="Google Shape;485;p33"/>
          <p:cNvSpPr/>
          <p:nvPr/>
        </p:nvSpPr>
        <p:spPr>
          <a:xfrm>
            <a:off x="11457425" y="1314656"/>
            <a:ext cx="461400" cy="41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486" name="Google Shape;486;p33"/>
          <p:cNvSpPr/>
          <p:nvPr/>
        </p:nvSpPr>
        <p:spPr>
          <a:xfrm>
            <a:off x="10996025" y="1314656"/>
            <a:ext cx="461400" cy="41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487" name="Google Shape;487;p33"/>
          <p:cNvSpPr/>
          <p:nvPr/>
        </p:nvSpPr>
        <p:spPr>
          <a:xfrm>
            <a:off x="10534625" y="1314656"/>
            <a:ext cx="461400" cy="41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488" name="Google Shape;488;p33"/>
          <p:cNvSpPr/>
          <p:nvPr/>
        </p:nvSpPr>
        <p:spPr>
          <a:xfrm>
            <a:off x="10073225" y="1314656"/>
            <a:ext cx="461400" cy="41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489" name="Google Shape;489;p33"/>
          <p:cNvSpPr/>
          <p:nvPr/>
        </p:nvSpPr>
        <p:spPr>
          <a:xfrm>
            <a:off x="9611825" y="1314656"/>
            <a:ext cx="461400" cy="41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490" name="Google Shape;490;p33"/>
          <p:cNvSpPr/>
          <p:nvPr/>
        </p:nvSpPr>
        <p:spPr>
          <a:xfrm>
            <a:off x="3439625" y="2568475"/>
            <a:ext cx="6741600" cy="588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Headline: &lt;Service Name&gt;</a:t>
            </a: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&lt;Description&gt;</a:t>
            </a: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1" name="Google Shape;491;p33"/>
          <p:cNvSpPr/>
          <p:nvPr/>
        </p:nvSpPr>
        <p:spPr>
          <a:xfrm>
            <a:off x="838100" y="2568475"/>
            <a:ext cx="2325300" cy="5181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Header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&lt;Our Lessons&gt;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2" name="Google Shape;492;p33"/>
          <p:cNvSpPr/>
          <p:nvPr/>
        </p:nvSpPr>
        <p:spPr>
          <a:xfrm>
            <a:off x="260725" y="1314650"/>
            <a:ext cx="968400" cy="41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Logo</a:t>
            </a:r>
            <a:endParaRPr sz="1700"/>
          </a:p>
        </p:txBody>
      </p:sp>
      <p:sp>
        <p:nvSpPr>
          <p:cNvPr id="493" name="Google Shape;493;p33"/>
          <p:cNvSpPr/>
          <p:nvPr/>
        </p:nvSpPr>
        <p:spPr>
          <a:xfrm>
            <a:off x="3439625" y="3372100"/>
            <a:ext cx="6741600" cy="18951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Montserrat"/>
                <a:ea typeface="Montserrat"/>
                <a:cs typeface="Montserrat"/>
                <a:sym typeface="Montserrat"/>
              </a:rPr>
              <a:t>Image</a:t>
            </a:r>
            <a:endParaRPr sz="2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4" name="Google Shape;494;p33"/>
          <p:cNvSpPr/>
          <p:nvPr/>
        </p:nvSpPr>
        <p:spPr>
          <a:xfrm>
            <a:off x="3439625" y="5336854"/>
            <a:ext cx="6741600" cy="23457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Montserrat"/>
                <a:ea typeface="Montserrat"/>
                <a:cs typeface="Montserrat"/>
                <a:sym typeface="Montserrat"/>
              </a:rPr>
              <a:t>Lesson Description</a:t>
            </a:r>
            <a:endParaRPr sz="2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5" name="Google Shape;495;p33"/>
          <p:cNvSpPr/>
          <p:nvPr/>
        </p:nvSpPr>
        <p:spPr>
          <a:xfrm>
            <a:off x="1012250" y="3266718"/>
            <a:ext cx="1977000" cy="4008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Navigational button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&lt;Other classes&gt;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6" name="Google Shape;496;p33"/>
          <p:cNvSpPr/>
          <p:nvPr/>
        </p:nvSpPr>
        <p:spPr>
          <a:xfrm>
            <a:off x="1012250" y="3776846"/>
            <a:ext cx="1977000" cy="4008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Navigational button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&lt;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Other classes</a:t>
            </a: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7" name="Google Shape;497;p33"/>
          <p:cNvSpPr/>
          <p:nvPr/>
        </p:nvSpPr>
        <p:spPr>
          <a:xfrm>
            <a:off x="1012250" y="4286971"/>
            <a:ext cx="1977000" cy="4008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ontserrat"/>
                <a:ea typeface="Montserrat"/>
                <a:cs typeface="Montserrat"/>
                <a:sym typeface="Montserrat"/>
              </a:rPr>
              <a:t>Navigational button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ontserrat"/>
                <a:ea typeface="Montserrat"/>
                <a:cs typeface="Montserrat"/>
                <a:sym typeface="Montserrat"/>
              </a:rPr>
              <a:t>&lt;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Other classes</a:t>
            </a:r>
            <a:r>
              <a:rPr lang="en" sz="1100"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p33"/>
          <p:cNvSpPr/>
          <p:nvPr/>
        </p:nvSpPr>
        <p:spPr>
          <a:xfrm>
            <a:off x="1012250" y="4866421"/>
            <a:ext cx="1977000" cy="4008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Navigational button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&lt;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Other classes</a:t>
            </a: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99" name="Google Shape;499;p33"/>
          <p:cNvGraphicFramePr/>
          <p:nvPr/>
        </p:nvGraphicFramePr>
        <p:xfrm>
          <a:off x="12841625" y="1196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{48FD2119-6418-421D-A403-E5465F0AB291}</a:tableStyleId>
              </a:tblPr>
              <a:tblGrid>
                <a:gridCol w="848475"/>
                <a:gridCol w="1874425"/>
                <a:gridCol w="2294600"/>
              </a:tblGrid>
              <a:tr h="563225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PAGE DESIGN STRUCTURE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6581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1 - Individual service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Section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Images and descriptions and hyperlinks to be based on the previous websites: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SzPts val="1300"/>
                        <a:buFont typeface="Roboto"/>
                        <a:buAutoNum type="arabicPeriod"/>
                      </a:pPr>
                      <a:r>
                        <a:rPr lang="en" sz="13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https://www.achieversarts.com/foundationartcourse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Roboto"/>
                        <a:buAutoNum type="arabicPeriod"/>
                      </a:pPr>
                      <a:r>
                        <a:rPr lang="en" sz="13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4"/>
                        </a:rPr>
                        <a:t>https://www.achieversarts.com/artventurer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Roboto"/>
                        <a:buAutoNum type="arabicPeriod"/>
                      </a:pPr>
                      <a:r>
                        <a:rPr lang="en" sz="13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5"/>
                        </a:rPr>
                        <a:t>https://www.achieversarts.com/little-draws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Roboto"/>
                        <a:buAutoNum type="arabicPeriod"/>
                      </a:pPr>
                      <a:r>
                        <a:rPr lang="en" sz="13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6"/>
                        </a:rPr>
                        <a:t>https://www.achieversarts.com/drawvinci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Roboto"/>
                        <a:buAutoNum type="arabicPeriod"/>
                      </a:pPr>
                      <a:r>
                        <a:rPr lang="en" sz="13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7"/>
                        </a:rPr>
                        <a:t>https://www.achieversarts.com/canvaswizard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Roboto"/>
                        <a:buAutoNum type="arabicPeriod"/>
                      </a:pPr>
                      <a:r>
                        <a:rPr lang="en" sz="13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8"/>
                        </a:rPr>
                        <a:t>https://www.achieversarts.com/sketchermaster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Roboto"/>
                        <a:buAutoNum type="arabicPeriod"/>
                      </a:pPr>
                      <a:r>
                        <a:rPr lang="en" sz="13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9"/>
                        </a:rPr>
                        <a:t>https://www.achieversarts.com/juniorfineart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Font typeface="Roboto"/>
                        <a:buAutoNum type="arabicPeriod"/>
                      </a:pPr>
                      <a:r>
                        <a:rPr lang="en" sz="13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10"/>
                        </a:rPr>
                        <a:t>https://www.achieversarts.com/portfolioart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Other lessons should include all others except for the current lesson. Hyperlinks to their individual pages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sp>
        <p:nvSpPr>
          <p:cNvPr id="500" name="Google Shape;500;p33"/>
          <p:cNvSpPr/>
          <p:nvPr/>
        </p:nvSpPr>
        <p:spPr>
          <a:xfrm>
            <a:off x="1012250" y="5445868"/>
            <a:ext cx="1977000" cy="4008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Navigational button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&lt;Other classes&gt;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Google Shape;501;p33"/>
          <p:cNvSpPr/>
          <p:nvPr/>
        </p:nvSpPr>
        <p:spPr>
          <a:xfrm>
            <a:off x="1012250" y="5955996"/>
            <a:ext cx="1977000" cy="4008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Navigational button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&lt;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Other classes</a:t>
            </a: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2" name="Google Shape;502;p33"/>
          <p:cNvSpPr/>
          <p:nvPr/>
        </p:nvSpPr>
        <p:spPr>
          <a:xfrm>
            <a:off x="1012250" y="6466121"/>
            <a:ext cx="1977000" cy="4008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ontserrat"/>
                <a:ea typeface="Montserrat"/>
                <a:cs typeface="Montserrat"/>
                <a:sym typeface="Montserrat"/>
              </a:rPr>
              <a:t>Navigational button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ontserrat"/>
                <a:ea typeface="Montserrat"/>
                <a:cs typeface="Montserrat"/>
                <a:sym typeface="Montserrat"/>
              </a:rPr>
              <a:t>&lt;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Other classes</a:t>
            </a:r>
            <a:r>
              <a:rPr lang="en" sz="1100"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3" name="Google Shape;503;p33"/>
          <p:cNvSpPr/>
          <p:nvPr/>
        </p:nvSpPr>
        <p:spPr>
          <a:xfrm>
            <a:off x="1012250" y="7045571"/>
            <a:ext cx="1977000" cy="4008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Navigational button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&lt;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Other classes</a:t>
            </a: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8" name="Google Shape;508;p34"/>
          <p:cNvGraphicFramePr/>
          <p:nvPr/>
        </p:nvGraphicFramePr>
        <p:xfrm>
          <a:off x="10680850" y="882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{48FD2119-6418-421D-A403-E5465F0AB291}</a:tableStyleId>
              </a:tblPr>
              <a:tblGrid>
                <a:gridCol w="1200225"/>
                <a:gridCol w="2651525"/>
                <a:gridCol w="3245900"/>
              </a:tblGrid>
              <a:tr h="26105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Individual Landing Page DESIGN STRUCTURE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673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1- Scrollable banner - Gallery 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Images to put in: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Header:  Your Smile, Our Passion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126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2 - Appointment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Section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Header: Ask us questions/ Book an appointment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Elements: 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Name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Phone Number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Email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Children Age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Preferred Mode of contact: Whatsapp (checkbox)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Our Studio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Dropdown:’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Tampines Studio (Our Tampines Hub)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Pasir Ris (Downtown East)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Bedok (Bedok HeartBeat)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Programme Type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Dropdown: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Artventurer (Age 3 &amp; up)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Canvas Wizard (Age 6 &amp; up)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Foundation Art Class (Age 4–6)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Sketcher Master (Age 7 &amp; up)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Little Draws (Age 5 &amp; up)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Junior Fine Arts (Age 8 &amp; up)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DrawVinci (Age 6 &amp; up)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Portfolio Art (Age 10 &amp; up)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Message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Button “Send Enquiry”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Can follow the reference of this site: </a:t>
                      </a:r>
                      <a:r>
                        <a:rPr lang="en" sz="13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Art Studio Our Tampines Hub | Downtown East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sp>
        <p:nvSpPr>
          <p:cNvPr id="509" name="Google Shape;509;p34"/>
          <p:cNvSpPr txBox="1"/>
          <p:nvPr/>
        </p:nvSpPr>
        <p:spPr>
          <a:xfrm>
            <a:off x="0" y="0"/>
            <a:ext cx="182880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300">
                <a:solidFill>
                  <a:srgbClr val="202124"/>
                </a:solidFill>
                <a:latin typeface="Montserrat"/>
                <a:ea typeface="Montserrat"/>
                <a:cs typeface="Montserrat"/>
                <a:sym typeface="Montserrat"/>
              </a:rPr>
              <a:t>Individual Landing Page(example)</a:t>
            </a:r>
            <a:endParaRPr b="1" sz="3300">
              <a:solidFill>
                <a:srgbClr val="20212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0" name="Google Shape;510;p34"/>
          <p:cNvSpPr/>
          <p:nvPr/>
        </p:nvSpPr>
        <p:spPr>
          <a:xfrm>
            <a:off x="390580" y="769550"/>
            <a:ext cx="9120900" cy="3548100"/>
          </a:xfrm>
          <a:prstGeom prst="rect">
            <a:avLst/>
          </a:prstGeom>
          <a:solidFill>
            <a:schemeClr val="lt1"/>
          </a:solidFill>
          <a:ln cap="flat" cmpd="sng" w="341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7825" lIns="157825" spcFirstLastPara="1" rIns="157825" wrap="square" tIns="157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20"/>
          </a:p>
        </p:txBody>
      </p:sp>
      <p:sp>
        <p:nvSpPr>
          <p:cNvPr id="511" name="Google Shape;511;p34"/>
          <p:cNvSpPr txBox="1"/>
          <p:nvPr/>
        </p:nvSpPr>
        <p:spPr>
          <a:xfrm>
            <a:off x="597117" y="1106540"/>
            <a:ext cx="252600" cy="3204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81950" lIns="81950" spcFirstLastPara="1" rIns="81950" wrap="square" tIns="81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7">
                <a:solidFill>
                  <a:srgbClr val="FFFFFF"/>
                </a:solidFill>
              </a:rPr>
              <a:t>1</a:t>
            </a:r>
            <a:endParaRPr b="1" sz="807">
              <a:solidFill>
                <a:srgbClr val="FFFFFF"/>
              </a:solidFill>
            </a:endParaRPr>
          </a:p>
        </p:txBody>
      </p:sp>
      <p:sp>
        <p:nvSpPr>
          <p:cNvPr id="512" name="Google Shape;512;p34"/>
          <p:cNvSpPr/>
          <p:nvPr/>
        </p:nvSpPr>
        <p:spPr>
          <a:xfrm>
            <a:off x="512090" y="1543769"/>
            <a:ext cx="2298600" cy="2227500"/>
          </a:xfrm>
          <a:prstGeom prst="rect">
            <a:avLst/>
          </a:prstGeom>
          <a:solidFill>
            <a:schemeClr val="lt2"/>
          </a:solidFill>
          <a:ln cap="flat" cmpd="sng" w="8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7825" lIns="157825" spcFirstLastPara="1" rIns="157825" wrap="square" tIns="157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5"/>
              <a:t>Gallery Image</a:t>
            </a:r>
            <a:endParaRPr sz="1345"/>
          </a:p>
        </p:txBody>
      </p:sp>
      <p:sp>
        <p:nvSpPr>
          <p:cNvPr id="513" name="Google Shape;513;p34"/>
          <p:cNvSpPr/>
          <p:nvPr/>
        </p:nvSpPr>
        <p:spPr>
          <a:xfrm>
            <a:off x="849681" y="858500"/>
            <a:ext cx="8378400" cy="3115800"/>
          </a:xfrm>
          <a:prstGeom prst="rect">
            <a:avLst/>
          </a:prstGeom>
          <a:noFill/>
          <a:ln cap="flat" cmpd="sng" w="170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950" lIns="81950" spcFirstLastPara="1" rIns="81950" wrap="square" tIns="81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5"/>
          </a:p>
        </p:txBody>
      </p:sp>
      <p:sp>
        <p:nvSpPr>
          <p:cNvPr id="514" name="Google Shape;514;p34"/>
          <p:cNvSpPr/>
          <p:nvPr/>
        </p:nvSpPr>
        <p:spPr>
          <a:xfrm>
            <a:off x="2946943" y="1543769"/>
            <a:ext cx="2298600" cy="2227500"/>
          </a:xfrm>
          <a:prstGeom prst="rect">
            <a:avLst/>
          </a:prstGeom>
          <a:solidFill>
            <a:schemeClr val="lt2"/>
          </a:solidFill>
          <a:ln cap="flat" cmpd="sng" w="8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7825" lIns="157825" spcFirstLastPara="1" rIns="157825" wrap="square" tIns="157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5"/>
              <a:t>Gallery Image</a:t>
            </a:r>
            <a:endParaRPr sz="1345"/>
          </a:p>
        </p:txBody>
      </p:sp>
      <p:sp>
        <p:nvSpPr>
          <p:cNvPr id="515" name="Google Shape;515;p34"/>
          <p:cNvSpPr/>
          <p:nvPr/>
        </p:nvSpPr>
        <p:spPr>
          <a:xfrm>
            <a:off x="5381797" y="1543769"/>
            <a:ext cx="2298600" cy="2227500"/>
          </a:xfrm>
          <a:prstGeom prst="rect">
            <a:avLst/>
          </a:prstGeom>
          <a:solidFill>
            <a:schemeClr val="lt2"/>
          </a:solidFill>
          <a:ln cap="flat" cmpd="sng" w="8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7825" lIns="157825" spcFirstLastPara="1" rIns="157825" wrap="square" tIns="157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5"/>
              <a:t>Gallery Image</a:t>
            </a:r>
            <a:endParaRPr sz="1345"/>
          </a:p>
        </p:txBody>
      </p:sp>
      <p:sp>
        <p:nvSpPr>
          <p:cNvPr id="516" name="Google Shape;516;p34"/>
          <p:cNvSpPr/>
          <p:nvPr/>
        </p:nvSpPr>
        <p:spPr>
          <a:xfrm>
            <a:off x="7816650" y="1543771"/>
            <a:ext cx="1694700" cy="2227500"/>
          </a:xfrm>
          <a:prstGeom prst="rect">
            <a:avLst/>
          </a:prstGeom>
          <a:solidFill>
            <a:schemeClr val="lt2"/>
          </a:solidFill>
          <a:ln cap="flat" cmpd="sng" w="8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7825" lIns="157825" spcFirstLastPara="1" rIns="157825" wrap="square" tIns="157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5"/>
              <a:t>Gallery Image</a:t>
            </a:r>
            <a:endParaRPr sz="1345"/>
          </a:p>
        </p:txBody>
      </p:sp>
      <p:sp>
        <p:nvSpPr>
          <p:cNvPr id="517" name="Google Shape;517;p34"/>
          <p:cNvSpPr/>
          <p:nvPr/>
        </p:nvSpPr>
        <p:spPr>
          <a:xfrm>
            <a:off x="390583" y="8362527"/>
            <a:ext cx="9120900" cy="554700"/>
          </a:xfrm>
          <a:prstGeom prst="rect">
            <a:avLst/>
          </a:prstGeom>
          <a:solidFill>
            <a:schemeClr val="lt2"/>
          </a:solidFill>
          <a:ln cap="flat" cmpd="sng" w="359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6025" lIns="166025" spcFirstLastPara="1" rIns="166025" wrap="square" tIns="16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86">
                <a:latin typeface="Montserrat"/>
                <a:ea typeface="Montserrat"/>
                <a:cs typeface="Montserrat"/>
                <a:sym typeface="Montserrat"/>
              </a:rPr>
              <a:t>As per default footer in mainpage</a:t>
            </a:r>
            <a:endParaRPr sz="188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8" name="Google Shape;518;p34"/>
          <p:cNvSpPr/>
          <p:nvPr/>
        </p:nvSpPr>
        <p:spPr>
          <a:xfrm>
            <a:off x="3962232" y="4308382"/>
            <a:ext cx="1974000" cy="410700"/>
          </a:xfrm>
          <a:prstGeom prst="flowChartAlternateProcess">
            <a:avLst/>
          </a:prstGeom>
          <a:solidFill>
            <a:srgbClr val="FFFFFF"/>
          </a:solidFill>
          <a:ln cap="flat" cmpd="sng" w="89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225" lIns="86225" spcFirstLastPara="1" rIns="86225" wrap="square" tIns="86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26">
                <a:latin typeface="Montserrat"/>
                <a:ea typeface="Montserrat"/>
                <a:cs typeface="Montserrat"/>
                <a:sym typeface="Montserrat"/>
              </a:rPr>
              <a:t>Click to see more</a:t>
            </a:r>
            <a:endParaRPr sz="1226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26">
                <a:latin typeface="Montserrat"/>
                <a:ea typeface="Montserrat"/>
                <a:cs typeface="Montserrat"/>
                <a:sym typeface="Montserrat"/>
              </a:rPr>
              <a:t>(Navigational button) </a:t>
            </a:r>
            <a:endParaRPr sz="122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9" name="Google Shape;519;p34"/>
          <p:cNvSpPr/>
          <p:nvPr/>
        </p:nvSpPr>
        <p:spPr>
          <a:xfrm>
            <a:off x="387000" y="4573389"/>
            <a:ext cx="9120900" cy="265200"/>
          </a:xfrm>
          <a:prstGeom prst="rect">
            <a:avLst/>
          </a:prstGeom>
          <a:solidFill>
            <a:srgbClr val="FFFFFF"/>
          </a:solidFill>
          <a:ln cap="flat" cmpd="sng" w="89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6025" lIns="166025" spcFirstLastPara="1" rIns="166025" wrap="square" tIns="16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2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0" name="Google Shape;520;p34"/>
          <p:cNvSpPr/>
          <p:nvPr/>
        </p:nvSpPr>
        <p:spPr>
          <a:xfrm>
            <a:off x="390583" y="4308385"/>
            <a:ext cx="9120900" cy="4054200"/>
          </a:xfrm>
          <a:prstGeom prst="rect">
            <a:avLst/>
          </a:prstGeom>
          <a:solidFill>
            <a:srgbClr val="EEEEEE"/>
          </a:solidFill>
          <a:ln cap="flat" cmpd="sng" w="359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6025" lIns="166025" spcFirstLastPara="1" rIns="166025" wrap="square" tIns="16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46"/>
          </a:p>
        </p:txBody>
      </p:sp>
      <p:sp>
        <p:nvSpPr>
          <p:cNvPr id="521" name="Google Shape;521;p34"/>
          <p:cNvSpPr/>
          <p:nvPr/>
        </p:nvSpPr>
        <p:spPr>
          <a:xfrm>
            <a:off x="2352635" y="4409267"/>
            <a:ext cx="4776300" cy="265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66025" lIns="166025" spcFirstLastPara="1" rIns="166025" wrap="square" tIns="16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3">
                <a:latin typeface="Montserrat"/>
                <a:ea typeface="Montserrat"/>
                <a:cs typeface="Montserrat"/>
                <a:sym typeface="Montserrat"/>
              </a:rPr>
              <a:t>Ask us questions/ Book an appointment</a:t>
            </a:r>
            <a:endParaRPr sz="150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2" name="Google Shape;522;p34"/>
          <p:cNvSpPr txBox="1"/>
          <p:nvPr/>
        </p:nvSpPr>
        <p:spPr>
          <a:xfrm>
            <a:off x="933570" y="4407050"/>
            <a:ext cx="252600" cy="265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86225" lIns="86225" spcFirstLastPara="1" rIns="86225" wrap="square" tIns="86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49">
                <a:solidFill>
                  <a:srgbClr val="FFFFFF"/>
                </a:solidFill>
              </a:rPr>
              <a:t>2</a:t>
            </a:r>
            <a:endParaRPr b="1" sz="849">
              <a:solidFill>
                <a:srgbClr val="FFFFFF"/>
              </a:solidFill>
            </a:endParaRPr>
          </a:p>
        </p:txBody>
      </p:sp>
      <p:sp>
        <p:nvSpPr>
          <p:cNvPr id="523" name="Google Shape;523;p34"/>
          <p:cNvSpPr/>
          <p:nvPr/>
        </p:nvSpPr>
        <p:spPr>
          <a:xfrm>
            <a:off x="1420286" y="5096279"/>
            <a:ext cx="7279200" cy="220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294"/>
              <a:buFont typeface="Arial"/>
              <a:buNone/>
            </a:pPr>
            <a:r>
              <a:rPr b="0" i="0" lang="en" sz="1294" u="none" cap="none" strike="noStrike">
                <a:solidFill>
                  <a:srgbClr val="8A9880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 b="0" i="0" sz="129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4"/>
          <p:cNvSpPr/>
          <p:nvPr/>
        </p:nvSpPr>
        <p:spPr>
          <a:xfrm>
            <a:off x="1420286" y="5459334"/>
            <a:ext cx="7279200" cy="220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294"/>
              <a:buFont typeface="Arial"/>
              <a:buNone/>
            </a:pPr>
            <a:r>
              <a:rPr lang="en" sz="1294">
                <a:solidFill>
                  <a:srgbClr val="8A9880"/>
                </a:solidFill>
              </a:rPr>
              <a:t>Phone Number</a:t>
            </a:r>
            <a:endParaRPr b="0" i="0" sz="129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4"/>
          <p:cNvSpPr/>
          <p:nvPr/>
        </p:nvSpPr>
        <p:spPr>
          <a:xfrm>
            <a:off x="1420286" y="5743377"/>
            <a:ext cx="7279200" cy="220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294"/>
              <a:buFont typeface="Arial"/>
              <a:buNone/>
            </a:pPr>
            <a:r>
              <a:rPr b="0" i="0" lang="en" sz="1294" u="none" cap="none" strike="noStrike">
                <a:solidFill>
                  <a:srgbClr val="8A9880"/>
                </a:solidFill>
                <a:latin typeface="Arial"/>
                <a:ea typeface="Arial"/>
                <a:cs typeface="Arial"/>
                <a:sym typeface="Arial"/>
              </a:rPr>
              <a:t>Email</a:t>
            </a:r>
            <a:endParaRPr b="0" i="0" sz="129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4"/>
          <p:cNvSpPr/>
          <p:nvPr/>
        </p:nvSpPr>
        <p:spPr>
          <a:xfrm>
            <a:off x="1420286" y="6043222"/>
            <a:ext cx="7279200" cy="220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294"/>
              <a:buFont typeface="Arial"/>
              <a:buNone/>
            </a:pPr>
            <a:r>
              <a:rPr lang="en" sz="1294">
                <a:solidFill>
                  <a:srgbClr val="8A9880"/>
                </a:solidFill>
              </a:rPr>
              <a:t>Children Age</a:t>
            </a:r>
            <a:endParaRPr b="0" i="0" sz="129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34"/>
          <p:cNvSpPr/>
          <p:nvPr/>
        </p:nvSpPr>
        <p:spPr>
          <a:xfrm>
            <a:off x="1420286" y="6358869"/>
            <a:ext cx="7279200" cy="220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294"/>
              <a:buFont typeface="Arial"/>
              <a:buNone/>
            </a:pPr>
            <a:r>
              <a:rPr lang="en" sz="1294">
                <a:solidFill>
                  <a:srgbClr val="8A9880"/>
                </a:solidFill>
              </a:rPr>
              <a:t>Our Studio</a:t>
            </a:r>
            <a:endParaRPr b="0" i="0" sz="129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4"/>
          <p:cNvSpPr/>
          <p:nvPr/>
        </p:nvSpPr>
        <p:spPr>
          <a:xfrm>
            <a:off x="1420282" y="7684886"/>
            <a:ext cx="2184300" cy="3480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410"/>
              </a:buClr>
              <a:buSzPts val="1493"/>
              <a:buFont typeface="Arial"/>
              <a:buNone/>
            </a:pPr>
            <a:r>
              <a:rPr b="1" i="0" lang="en" sz="1493" u="none" cap="none" strike="noStrike">
                <a:solidFill>
                  <a:srgbClr val="1A2410"/>
                </a:solidFill>
                <a:latin typeface="Arial"/>
                <a:ea typeface="Arial"/>
                <a:cs typeface="Arial"/>
                <a:sym typeface="Arial"/>
              </a:rPr>
              <a:t>SEND ENQUIRY</a:t>
            </a:r>
            <a:endParaRPr b="0" i="0" sz="149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34"/>
          <p:cNvSpPr/>
          <p:nvPr/>
        </p:nvSpPr>
        <p:spPr>
          <a:xfrm>
            <a:off x="1420290" y="7030519"/>
            <a:ext cx="7279200" cy="5547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294"/>
              <a:buFont typeface="Arial"/>
              <a:buNone/>
            </a:pPr>
            <a:r>
              <a:rPr lang="en" sz="1294">
                <a:solidFill>
                  <a:srgbClr val="8A9880"/>
                </a:solidFill>
              </a:rPr>
              <a:t>Message</a:t>
            </a:r>
            <a:endParaRPr b="0" i="0" sz="129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4"/>
          <p:cNvSpPr/>
          <p:nvPr/>
        </p:nvSpPr>
        <p:spPr>
          <a:xfrm flipH="1">
            <a:off x="1186166" y="4495391"/>
            <a:ext cx="7968600" cy="3689400"/>
          </a:xfrm>
          <a:prstGeom prst="rect">
            <a:avLst/>
          </a:prstGeom>
          <a:noFill/>
          <a:ln cap="flat" cmpd="sng" w="179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225" lIns="86225" spcFirstLastPara="1" rIns="86225" wrap="square" tIns="8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1" name="Google Shape;531;p34"/>
          <p:cNvSpPr/>
          <p:nvPr/>
        </p:nvSpPr>
        <p:spPr>
          <a:xfrm>
            <a:off x="1424170" y="6657898"/>
            <a:ext cx="7279200" cy="220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294"/>
              <a:buFont typeface="Arial"/>
              <a:buNone/>
            </a:pPr>
            <a:r>
              <a:rPr lang="en" sz="1294">
                <a:solidFill>
                  <a:srgbClr val="8A9880"/>
                </a:solidFill>
              </a:rPr>
              <a:t>Programme Type</a:t>
            </a:r>
            <a:endParaRPr b="0" i="0" sz="129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5"/>
          <p:cNvSpPr txBox="1"/>
          <p:nvPr/>
        </p:nvSpPr>
        <p:spPr>
          <a:xfrm>
            <a:off x="3637800" y="8100267"/>
            <a:ext cx="110124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19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PREPARED BY EPOS </a:t>
            </a:r>
            <a:endParaRPr sz="19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19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7" name="Google Shape;537;p35"/>
          <p:cNvSpPr txBox="1"/>
          <p:nvPr/>
        </p:nvSpPr>
        <p:spPr>
          <a:xfrm>
            <a:off x="3150900" y="4050150"/>
            <a:ext cx="119862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Single-Session Art Classes</a:t>
            </a:r>
            <a:endParaRPr b="1" sz="3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2" name="Google Shape;542;p36"/>
          <p:cNvGraphicFramePr/>
          <p:nvPr/>
        </p:nvGraphicFramePr>
        <p:xfrm>
          <a:off x="10716050" y="748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{48FD2119-6418-421D-A403-E5465F0AB291}</a:tableStyleId>
              </a:tblPr>
              <a:tblGrid>
                <a:gridCol w="1174500"/>
                <a:gridCol w="2677250"/>
                <a:gridCol w="3245900"/>
              </a:tblGrid>
              <a:tr h="323475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Our 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Classes PAGE DESIGN STRUCTURE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755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1 -  Class Offerings: 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Express Art (Ages 4 &amp; up)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Quick, Creative, and Incredibly Satisfying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Our Express Art workshops are fast-paced, 1-hour creative sessions designed for anyone who wants to enjoy the joy of creating without a long commitment. Perfect for both kids and adults seeking a quick and fulfilling art experience.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✔️ Choose from a curated selection of artworks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✔️ All materials fully provided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✔️ Complete your artwork in just 60 minutes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✔️ Beginner-friendly — no experience needed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✔️ Relaxed, fun, and stress-free environment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Ages 4 &amp; up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Art Workshop (Ages 4 &amp; up)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Themed Creative Experiences for Fun Exploration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Our Art Workshops are immersive, theme-based sessions that let students explore different artistic styles, materials, and techniques in a relaxed and enjoyable environment. Great for creative discovery and special occasions.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✔️ Fun, themed art projects &amp; creative experiences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✔️ Explore a variety of mediums and techniques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✔️ Perfect for parent-child bonding or group participation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✔️ All materials fully provided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✔️ Beginner-friendly and highly engaging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See more Button leads to individual pages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Art workshop page should lead to the workshop additional shop page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sp>
        <p:nvSpPr>
          <p:cNvPr id="543" name="Google Shape;543;p36"/>
          <p:cNvSpPr/>
          <p:nvPr/>
        </p:nvSpPr>
        <p:spPr>
          <a:xfrm>
            <a:off x="506550" y="3087000"/>
            <a:ext cx="9627900" cy="5813100"/>
          </a:xfrm>
          <a:prstGeom prst="rect">
            <a:avLst/>
          </a:prstGeom>
          <a:solidFill>
            <a:srgbClr val="EEEEEE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544" name="Google Shape;544;p36"/>
          <p:cNvSpPr/>
          <p:nvPr/>
        </p:nvSpPr>
        <p:spPr>
          <a:xfrm>
            <a:off x="2676661" y="3268226"/>
            <a:ext cx="46695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Roboto"/>
                <a:ea typeface="Roboto"/>
                <a:cs typeface="Roboto"/>
                <a:sym typeface="Roboto"/>
              </a:rPr>
              <a:t>Our Classes</a:t>
            </a:r>
            <a:endParaRPr sz="2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45" name="Google Shape;545;p36"/>
          <p:cNvGrpSpPr/>
          <p:nvPr/>
        </p:nvGrpSpPr>
        <p:grpSpPr>
          <a:xfrm>
            <a:off x="901474" y="4057770"/>
            <a:ext cx="4135900" cy="3877470"/>
            <a:chOff x="6068524" y="3421201"/>
            <a:chExt cx="3602700" cy="4579509"/>
          </a:xfrm>
        </p:grpSpPr>
        <p:sp>
          <p:nvSpPr>
            <p:cNvPr id="546" name="Google Shape;546;p36"/>
            <p:cNvSpPr/>
            <p:nvPr/>
          </p:nvSpPr>
          <p:spPr>
            <a:xfrm>
              <a:off x="6068524" y="5735711"/>
              <a:ext cx="3602700" cy="2265000"/>
            </a:xfrm>
            <a:prstGeom prst="flowChartAlternateProcess">
              <a:avLst/>
            </a:prstGeom>
            <a:solidFill>
              <a:srgbClr val="FFFFFF"/>
            </a:solidFill>
            <a:ln cap="flat" cmpd="sng" w="52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550" lIns="50550" spcFirstLastPara="1" rIns="50550" wrap="square" tIns="50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rPr lang="en" sz="774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Express Art (Ages 4 &amp; up)</a:t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rPr lang="en" sz="774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Quick, Creative, and Incredibly Satisfying</a:t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t/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rPr lang="en" sz="774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Our Express Art workshops are fast-paced, 1-hour creative sessions designed for those who want to enjoy the joy of art without a long time commitment. Perfect for both kids and adults looking for a quick creative escape.</a:t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t/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rPr lang="en" sz="774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✔️ Choose from a curated selection of artworks</a:t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rPr lang="en" sz="774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✔️ All materials fully provided</a:t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rPr lang="en" sz="774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✔️ Complete your artwork in just 60 minutes</a:t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rPr lang="en" sz="774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✔️ Beginner-friendly — no experience needed</a:t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rPr lang="en" sz="774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✔️ Relaxed, fun, and stress-free environment</a:t>
              </a:r>
              <a:endParaRPr sz="641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47" name="Google Shape;547;p36"/>
            <p:cNvSpPr/>
            <p:nvPr/>
          </p:nvSpPr>
          <p:spPr>
            <a:xfrm>
              <a:off x="6068524" y="3421201"/>
              <a:ext cx="3602700" cy="2314500"/>
            </a:xfrm>
            <a:prstGeom prst="flowChartAlternateProcess">
              <a:avLst/>
            </a:prstGeom>
            <a:solidFill>
              <a:srgbClr val="FFFFFF"/>
            </a:solidFill>
            <a:ln cap="flat" cmpd="sng" w="52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550" lIns="50550" spcFirstLastPara="1" rIns="50550" wrap="square" tIns="50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8"/>
                <a:buFont typeface="Arial"/>
                <a:buNone/>
              </a:pPr>
              <a:r>
                <a:rPr lang="en" sz="719">
                  <a:latin typeface="Montserrat"/>
                  <a:ea typeface="Montserrat"/>
                  <a:cs typeface="Montserrat"/>
                  <a:sym typeface="Montserrat"/>
                </a:rPr>
                <a:t>Image</a:t>
              </a:r>
              <a:endParaRPr sz="719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48" name="Google Shape;548;p36"/>
          <p:cNvGrpSpPr/>
          <p:nvPr/>
        </p:nvGrpSpPr>
        <p:grpSpPr>
          <a:xfrm>
            <a:off x="5603374" y="4058019"/>
            <a:ext cx="4135900" cy="3877434"/>
            <a:chOff x="6068526" y="3421201"/>
            <a:chExt cx="3602700" cy="4579466"/>
          </a:xfrm>
        </p:grpSpPr>
        <p:sp>
          <p:nvSpPr>
            <p:cNvPr id="549" name="Google Shape;549;p36"/>
            <p:cNvSpPr/>
            <p:nvPr/>
          </p:nvSpPr>
          <p:spPr>
            <a:xfrm>
              <a:off x="6068526" y="5630067"/>
              <a:ext cx="3602700" cy="2370600"/>
            </a:xfrm>
            <a:prstGeom prst="flowChartAlternateProcess">
              <a:avLst/>
            </a:prstGeom>
            <a:solidFill>
              <a:srgbClr val="FFFFFF"/>
            </a:solidFill>
            <a:ln cap="flat" cmpd="sng" w="52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550" lIns="50550" spcFirstLastPara="1" rIns="50550" wrap="square" tIns="50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rPr lang="en" sz="774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Art Workshop (Ages 4 &amp; up)</a:t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rPr lang="en" sz="774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Themed Creative Experiences for Fun Exploration</a:t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t/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rPr lang="en" sz="774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Our Art Workshops are immersive, theme-based sessions that let students explore different artistic styles, materials, and techniques in a relaxed and enjoyable environment. Great for creative discovery and special occasions.</a:t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t/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rPr lang="en" sz="774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✔️ Fun, themed art projects &amp; creative experiences</a:t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rPr lang="en" sz="774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✔️ Explore a variety of mediums and techniques</a:t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rPr lang="en" sz="774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✔️ Perfect for parent-child bonding or group participation</a:t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rPr lang="en" sz="774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✔️ All materials fully provided</a:t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rPr lang="en" sz="774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✔️ Beginner-friendly and highly engaging</a:t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50" name="Google Shape;550;p36"/>
            <p:cNvSpPr/>
            <p:nvPr/>
          </p:nvSpPr>
          <p:spPr>
            <a:xfrm>
              <a:off x="6068526" y="3421201"/>
              <a:ext cx="3602700" cy="2208900"/>
            </a:xfrm>
            <a:prstGeom prst="flowChartAlternateProcess">
              <a:avLst/>
            </a:prstGeom>
            <a:solidFill>
              <a:srgbClr val="FFFFFF"/>
            </a:solidFill>
            <a:ln cap="flat" cmpd="sng" w="52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550" lIns="50550" spcFirstLastPara="1" rIns="50550" wrap="square" tIns="50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8"/>
                <a:buFont typeface="Arial"/>
                <a:buNone/>
              </a:pPr>
              <a:r>
                <a:rPr lang="en" sz="719">
                  <a:latin typeface="Montserrat"/>
                  <a:ea typeface="Montserrat"/>
                  <a:cs typeface="Montserrat"/>
                  <a:sym typeface="Montserrat"/>
                </a:rPr>
                <a:t>Image</a:t>
              </a:r>
              <a:endParaRPr sz="719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551" name="Google Shape;551;p36"/>
          <p:cNvSpPr/>
          <p:nvPr/>
        </p:nvSpPr>
        <p:spPr>
          <a:xfrm>
            <a:off x="516494" y="229375"/>
            <a:ext cx="9612300" cy="7239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552" name="Google Shape;552;p36"/>
          <p:cNvSpPr/>
          <p:nvPr/>
        </p:nvSpPr>
        <p:spPr>
          <a:xfrm>
            <a:off x="9714399" y="229386"/>
            <a:ext cx="407700" cy="35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553" name="Google Shape;553;p36"/>
          <p:cNvSpPr/>
          <p:nvPr/>
        </p:nvSpPr>
        <p:spPr>
          <a:xfrm>
            <a:off x="9391222" y="229380"/>
            <a:ext cx="366000" cy="35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554" name="Google Shape;554;p36"/>
          <p:cNvSpPr/>
          <p:nvPr/>
        </p:nvSpPr>
        <p:spPr>
          <a:xfrm>
            <a:off x="508700" y="953400"/>
            <a:ext cx="9612300" cy="21393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cxnSp>
        <p:nvCxnSpPr>
          <p:cNvPr id="555" name="Google Shape;555;p36"/>
          <p:cNvCxnSpPr/>
          <p:nvPr/>
        </p:nvCxnSpPr>
        <p:spPr>
          <a:xfrm>
            <a:off x="524136" y="953400"/>
            <a:ext cx="9612300" cy="2946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6" name="Google Shape;556;p36"/>
          <p:cNvCxnSpPr/>
          <p:nvPr/>
        </p:nvCxnSpPr>
        <p:spPr>
          <a:xfrm flipH="1" rot="10800000">
            <a:off x="508700" y="953264"/>
            <a:ext cx="9627900" cy="2916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57" name="Google Shape;557;p36"/>
          <p:cNvSpPr/>
          <p:nvPr/>
        </p:nvSpPr>
        <p:spPr>
          <a:xfrm>
            <a:off x="2988678" y="1745250"/>
            <a:ext cx="4731600" cy="1058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Montserrat"/>
                <a:ea typeface="Montserrat"/>
                <a:cs typeface="Montserrat"/>
                <a:sym typeface="Montserrat"/>
              </a:rPr>
              <a:t>Single-Session Art Classes</a:t>
            </a:r>
            <a:endParaRPr sz="2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Home &gt; </a:t>
            </a: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Single-Session Art Classes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8" name="Google Shape;558;p36"/>
          <p:cNvSpPr/>
          <p:nvPr/>
        </p:nvSpPr>
        <p:spPr>
          <a:xfrm>
            <a:off x="524146" y="228475"/>
            <a:ext cx="1042500" cy="723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Logo</a:t>
            </a:r>
            <a:endParaRPr sz="1500"/>
          </a:p>
        </p:txBody>
      </p:sp>
      <p:sp>
        <p:nvSpPr>
          <p:cNvPr id="559" name="Google Shape;559;p36"/>
          <p:cNvSpPr txBox="1"/>
          <p:nvPr/>
        </p:nvSpPr>
        <p:spPr>
          <a:xfrm>
            <a:off x="684158" y="3259451"/>
            <a:ext cx="266100" cy="2949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1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560" name="Google Shape;560;p36"/>
          <p:cNvSpPr/>
          <p:nvPr/>
        </p:nvSpPr>
        <p:spPr>
          <a:xfrm>
            <a:off x="4470491" y="228475"/>
            <a:ext cx="56598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NAVIGATION BAR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1" name="Google Shape;561;p36"/>
          <p:cNvSpPr/>
          <p:nvPr/>
        </p:nvSpPr>
        <p:spPr>
          <a:xfrm>
            <a:off x="684150" y="3259450"/>
            <a:ext cx="9234600" cy="5254500"/>
          </a:xfrm>
          <a:prstGeom prst="rect">
            <a:avLst/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36"/>
          <p:cNvSpPr/>
          <p:nvPr/>
        </p:nvSpPr>
        <p:spPr>
          <a:xfrm>
            <a:off x="2201116" y="8102103"/>
            <a:ext cx="1536600" cy="267000"/>
          </a:xfrm>
          <a:prstGeom prst="flowChartAlternateProcess">
            <a:avLst/>
          </a:prstGeom>
          <a:solidFill>
            <a:srgbClr val="FFFFFF"/>
          </a:solidFill>
          <a:ln cap="flat" cmpd="sng" w="6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275" lIns="65275" spcFirstLastPara="1" rIns="65275" wrap="square" tIns="6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5"/>
              <a:buFont typeface="Arial"/>
              <a:buNone/>
            </a:pPr>
            <a:r>
              <a:rPr lang="en" sz="928">
                <a:latin typeface="Montserrat"/>
                <a:ea typeface="Montserrat"/>
                <a:cs typeface="Montserrat"/>
                <a:sym typeface="Montserrat"/>
              </a:rPr>
              <a:t>See More</a:t>
            </a:r>
            <a:endParaRPr sz="928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3" name="Google Shape;563;p36"/>
          <p:cNvSpPr/>
          <p:nvPr/>
        </p:nvSpPr>
        <p:spPr>
          <a:xfrm>
            <a:off x="6903016" y="8102303"/>
            <a:ext cx="1536600" cy="267000"/>
          </a:xfrm>
          <a:prstGeom prst="flowChartAlternateProcess">
            <a:avLst/>
          </a:prstGeom>
          <a:solidFill>
            <a:srgbClr val="FFFFFF"/>
          </a:solidFill>
          <a:ln cap="flat" cmpd="sng" w="6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275" lIns="65275" spcFirstLastPara="1" rIns="65275" wrap="square" tIns="6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5"/>
              <a:buFont typeface="Arial"/>
              <a:buNone/>
            </a:pPr>
            <a:r>
              <a:rPr lang="en" sz="928">
                <a:latin typeface="Montserrat"/>
                <a:ea typeface="Montserrat"/>
                <a:cs typeface="Montserrat"/>
                <a:sym typeface="Montserrat"/>
              </a:rPr>
              <a:t>See More</a:t>
            </a:r>
            <a:endParaRPr sz="928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7"/>
          <p:cNvSpPr txBox="1"/>
          <p:nvPr/>
        </p:nvSpPr>
        <p:spPr>
          <a:xfrm>
            <a:off x="3637800" y="8100267"/>
            <a:ext cx="110124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19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PREPARED BY EPOS </a:t>
            </a:r>
            <a:endParaRPr sz="19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19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9" name="Google Shape;569;p37"/>
          <p:cNvSpPr txBox="1"/>
          <p:nvPr/>
        </p:nvSpPr>
        <p:spPr>
          <a:xfrm>
            <a:off x="3150900" y="4050150"/>
            <a:ext cx="119862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Express Art</a:t>
            </a:r>
            <a:r>
              <a:rPr b="1" lang="en" sz="3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individual page</a:t>
            </a:r>
            <a:endParaRPr b="1" sz="3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4" name="Google Shape;574;p38"/>
          <p:cNvGraphicFramePr/>
          <p:nvPr/>
        </p:nvGraphicFramePr>
        <p:xfrm>
          <a:off x="10716050" y="748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{48FD2119-6418-421D-A403-E5465F0AB291}</a:tableStyleId>
              </a:tblPr>
              <a:tblGrid>
                <a:gridCol w="1174500"/>
                <a:gridCol w="2677250"/>
                <a:gridCol w="3245900"/>
              </a:tblGrid>
              <a:tr h="3231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Express Art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PAGE DESIGN STRUCTURE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133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1 -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Art Workshop Main banner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Header: 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Express Art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Subheader: Home &gt; 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Express Art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Banner Image:  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133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2- Scrollable banner - Parties and Events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Header: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Express Art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Description: 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016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Quick, Creative, and Oh-So-Satisfying</a:t>
                      </a:r>
                      <a:endParaRPr sz="1016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16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16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Discover our Express Art workshops — quick, inspiring 1-hour art sessions perfect for busy kids and adults who want to create something beautiful without the long commitment.</a:t>
                      </a:r>
                      <a:endParaRPr sz="1016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16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16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✔️ Choose Your Artwork from our gallery</a:t>
                      </a:r>
                      <a:endParaRPr sz="1016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16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✔️ All materials provided</a:t>
                      </a:r>
                      <a:endParaRPr sz="1016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16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✔️ Complete artwork in just 60 minutes!</a:t>
                      </a:r>
                      <a:endParaRPr sz="1016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16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✔️ Beginner-friendly — no experience needed</a:t>
                      </a:r>
                      <a:endParaRPr sz="1016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16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✔️ Fun &amp; stress-free atmosphere</a:t>
                      </a:r>
                      <a:endParaRPr sz="1016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016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16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​Ages 4 &amp; up</a:t>
                      </a:r>
                      <a:br>
                        <a:rPr lang="en" sz="1016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br>
                        <a:rPr lang="en" sz="1016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n" sz="1016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Image: </a:t>
                      </a:r>
                      <a:br>
                        <a:rPr lang="en" sz="1016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br>
                        <a:rPr lang="en" sz="1016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n" sz="1016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Book now leads to contact us page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hMerge="1"/>
              </a:tr>
            </a:tbl>
          </a:graphicData>
        </a:graphic>
      </p:graphicFrame>
      <p:sp>
        <p:nvSpPr>
          <p:cNvPr id="575" name="Google Shape;575;p38"/>
          <p:cNvSpPr/>
          <p:nvPr/>
        </p:nvSpPr>
        <p:spPr>
          <a:xfrm>
            <a:off x="656350" y="3834225"/>
            <a:ext cx="9153000" cy="4242300"/>
          </a:xfrm>
          <a:prstGeom prst="rect">
            <a:avLst/>
          </a:prstGeom>
          <a:solidFill>
            <a:srgbClr val="FFFFFF"/>
          </a:solidFill>
          <a:ln cap="flat" cmpd="sng" w="360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6450" lIns="166450" spcFirstLastPara="1" rIns="166450" wrap="square" tIns="166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3"/>
          </a:p>
        </p:txBody>
      </p:sp>
      <p:sp>
        <p:nvSpPr>
          <p:cNvPr id="576" name="Google Shape;576;p38"/>
          <p:cNvSpPr/>
          <p:nvPr/>
        </p:nvSpPr>
        <p:spPr>
          <a:xfrm>
            <a:off x="671110" y="970775"/>
            <a:ext cx="9138300" cy="7239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577" name="Google Shape;577;p38"/>
          <p:cNvSpPr/>
          <p:nvPr/>
        </p:nvSpPr>
        <p:spPr>
          <a:xfrm>
            <a:off x="9415325" y="970786"/>
            <a:ext cx="387600" cy="35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578" name="Google Shape;578;p38"/>
          <p:cNvSpPr/>
          <p:nvPr/>
        </p:nvSpPr>
        <p:spPr>
          <a:xfrm>
            <a:off x="9108088" y="970780"/>
            <a:ext cx="348000" cy="35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579" name="Google Shape;579;p38"/>
          <p:cNvSpPr/>
          <p:nvPr/>
        </p:nvSpPr>
        <p:spPr>
          <a:xfrm>
            <a:off x="663700" y="1694800"/>
            <a:ext cx="9138300" cy="21393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580" name="Google Shape;580;p38"/>
          <p:cNvSpPr/>
          <p:nvPr/>
        </p:nvSpPr>
        <p:spPr>
          <a:xfrm>
            <a:off x="3021352" y="2486650"/>
            <a:ext cx="4498200" cy="1058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Express Art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Home &gt; </a:t>
            </a: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Express Art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1" name="Google Shape;581;p38"/>
          <p:cNvSpPr/>
          <p:nvPr/>
        </p:nvSpPr>
        <p:spPr>
          <a:xfrm>
            <a:off x="678384" y="969875"/>
            <a:ext cx="991200" cy="723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Logo</a:t>
            </a:r>
            <a:endParaRPr sz="1500"/>
          </a:p>
        </p:txBody>
      </p:sp>
      <p:sp>
        <p:nvSpPr>
          <p:cNvPr id="582" name="Google Shape;582;p38"/>
          <p:cNvSpPr txBox="1"/>
          <p:nvPr/>
        </p:nvSpPr>
        <p:spPr>
          <a:xfrm>
            <a:off x="830504" y="1858176"/>
            <a:ext cx="252900" cy="2949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1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583" name="Google Shape;583;p38"/>
          <p:cNvSpPr/>
          <p:nvPr/>
        </p:nvSpPr>
        <p:spPr>
          <a:xfrm>
            <a:off x="4430075" y="969875"/>
            <a:ext cx="53805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NAVIGATION BAR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4" name="Google Shape;584;p38"/>
          <p:cNvSpPr/>
          <p:nvPr/>
        </p:nvSpPr>
        <p:spPr>
          <a:xfrm>
            <a:off x="1082626" y="1934375"/>
            <a:ext cx="7097700" cy="1753500"/>
          </a:xfrm>
          <a:prstGeom prst="rect">
            <a:avLst/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38"/>
          <p:cNvSpPr/>
          <p:nvPr/>
        </p:nvSpPr>
        <p:spPr>
          <a:xfrm>
            <a:off x="1082625" y="4200526"/>
            <a:ext cx="5186700" cy="452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35475" lIns="135475" spcFirstLastPara="1" rIns="135475" wrap="square" tIns="135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Express Art</a:t>
            </a:r>
            <a:endParaRPr sz="146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6" name="Google Shape;586;p38"/>
          <p:cNvSpPr/>
          <p:nvPr/>
        </p:nvSpPr>
        <p:spPr>
          <a:xfrm>
            <a:off x="6673625" y="4091400"/>
            <a:ext cx="2741700" cy="2996700"/>
          </a:xfrm>
          <a:prstGeom prst="flowChartAlternateProcess">
            <a:avLst/>
          </a:prstGeom>
          <a:solidFill>
            <a:schemeClr val="lt1"/>
          </a:solidFill>
          <a:ln cap="flat" cmpd="sng" w="7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350" lIns="70350" spcFirstLastPara="1" rIns="70350" wrap="square" tIns="70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16">
                <a:latin typeface="Montserrat"/>
                <a:ea typeface="Montserrat"/>
                <a:cs typeface="Montserrat"/>
                <a:sym typeface="Montserrat"/>
              </a:rPr>
              <a:t>Image</a:t>
            </a:r>
            <a:endParaRPr sz="161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7" name="Google Shape;587;p38"/>
          <p:cNvSpPr/>
          <p:nvPr/>
        </p:nvSpPr>
        <p:spPr>
          <a:xfrm>
            <a:off x="1082625" y="4786125"/>
            <a:ext cx="5186700" cy="2301900"/>
          </a:xfrm>
          <a:prstGeom prst="flowChartAlternateProcess">
            <a:avLst/>
          </a:prstGeom>
          <a:solidFill>
            <a:schemeClr val="lt1"/>
          </a:solidFill>
          <a:ln cap="flat" cmpd="sng" w="7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350" lIns="70350" spcFirstLastPara="1" rIns="70350" wrap="square" tIns="70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6">
                <a:latin typeface="Montserrat"/>
                <a:ea typeface="Montserrat"/>
                <a:cs typeface="Montserrat"/>
                <a:sym typeface="Montserrat"/>
              </a:rPr>
              <a:t>Quick, Creative, and Oh-So-Satisfying</a:t>
            </a:r>
            <a:endParaRPr sz="1016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6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6">
                <a:latin typeface="Montserrat"/>
                <a:ea typeface="Montserrat"/>
                <a:cs typeface="Montserrat"/>
                <a:sym typeface="Montserrat"/>
              </a:rPr>
              <a:t>Discover our Express Art workshops — quick, inspiring 1-hour art sessions perfect for busy kids and adults who want to create something beautiful without the long commitment.</a:t>
            </a:r>
            <a:endParaRPr sz="1016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6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6">
                <a:latin typeface="Montserrat"/>
                <a:ea typeface="Montserrat"/>
                <a:cs typeface="Montserrat"/>
                <a:sym typeface="Montserrat"/>
              </a:rPr>
              <a:t>✔️ Choose Your Artwork from our gallery</a:t>
            </a:r>
            <a:endParaRPr sz="1016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6">
                <a:latin typeface="Montserrat"/>
                <a:ea typeface="Montserrat"/>
                <a:cs typeface="Montserrat"/>
                <a:sym typeface="Montserrat"/>
              </a:rPr>
              <a:t>✔️ All materials provided</a:t>
            </a:r>
            <a:endParaRPr sz="1016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6">
                <a:latin typeface="Montserrat"/>
                <a:ea typeface="Montserrat"/>
                <a:cs typeface="Montserrat"/>
                <a:sym typeface="Montserrat"/>
              </a:rPr>
              <a:t>✔️ Complete artwork in just 60 minutes!</a:t>
            </a:r>
            <a:endParaRPr sz="1016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6">
                <a:latin typeface="Montserrat"/>
                <a:ea typeface="Montserrat"/>
                <a:cs typeface="Montserrat"/>
                <a:sym typeface="Montserrat"/>
              </a:rPr>
              <a:t>✔️ Beginner-friendly — no experience needed</a:t>
            </a:r>
            <a:endParaRPr sz="1016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6">
                <a:latin typeface="Montserrat"/>
                <a:ea typeface="Montserrat"/>
                <a:cs typeface="Montserrat"/>
                <a:sym typeface="Montserrat"/>
              </a:rPr>
              <a:t>✔️ Fun &amp; stress-free atmosphere</a:t>
            </a:r>
            <a:endParaRPr sz="1016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6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6">
                <a:latin typeface="Montserrat"/>
                <a:ea typeface="Montserrat"/>
                <a:cs typeface="Montserrat"/>
                <a:sym typeface="Montserrat"/>
              </a:rPr>
              <a:t>​Ages 4 &amp; up</a:t>
            </a:r>
            <a:endParaRPr sz="101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8" name="Google Shape;588;p38"/>
          <p:cNvSpPr/>
          <p:nvPr/>
        </p:nvSpPr>
        <p:spPr>
          <a:xfrm>
            <a:off x="1082625" y="7220927"/>
            <a:ext cx="1977000" cy="3501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Book Now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9" name="Google Shape;589;p38"/>
          <p:cNvSpPr txBox="1"/>
          <p:nvPr/>
        </p:nvSpPr>
        <p:spPr>
          <a:xfrm>
            <a:off x="1082629" y="4200526"/>
            <a:ext cx="252900" cy="2949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2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590" name="Google Shape;590;p38"/>
          <p:cNvSpPr/>
          <p:nvPr/>
        </p:nvSpPr>
        <p:spPr>
          <a:xfrm>
            <a:off x="1006875" y="4200525"/>
            <a:ext cx="8449500" cy="3546600"/>
          </a:xfrm>
          <a:prstGeom prst="rect">
            <a:avLst/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5" name="Google Shape;595;p39"/>
          <p:cNvGraphicFramePr/>
          <p:nvPr/>
        </p:nvGraphicFramePr>
        <p:xfrm>
          <a:off x="10716050" y="748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{48FD2119-6418-421D-A403-E5465F0AB291}</a:tableStyleId>
              </a:tblPr>
              <a:tblGrid>
                <a:gridCol w="1174500"/>
                <a:gridCol w="2677250"/>
                <a:gridCol w="3245900"/>
              </a:tblGrid>
              <a:tr h="3231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Express Art PAGE DESIGN STRUCTURE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133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1 -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Express Art Gallery Section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Header: Express Art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Follow as per website</a:t>
                      </a:r>
                      <a:b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b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https://www.achieversarts.com/express-art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*take image and details from gallery section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133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2 - Appointment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Section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Header: Ask us questions/ Book an appointment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Elements: 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Name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Phone Number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Email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Children Age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Preferred Mode of contact: Whatsapp (checkbox)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Our Studio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Dropdown:’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Tampines Studio (Our Tampines Hub)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Pasir Ris (Downtown East)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Bedok (Bedok HeartBeat)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Programme Type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Dropdown: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Express Art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Button “Send Enquiry”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Can follow the reference of this site: </a:t>
                      </a:r>
                      <a:r>
                        <a:rPr lang="en" sz="13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4"/>
                        </a:rPr>
                        <a:t>Art Studio Our Tampines Hub | Downtown East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sp>
        <p:nvSpPr>
          <p:cNvPr id="596" name="Google Shape;596;p39"/>
          <p:cNvSpPr/>
          <p:nvPr/>
        </p:nvSpPr>
        <p:spPr>
          <a:xfrm>
            <a:off x="1008951" y="416338"/>
            <a:ext cx="8544000" cy="3995700"/>
          </a:xfrm>
          <a:prstGeom prst="rect">
            <a:avLst/>
          </a:prstGeom>
          <a:solidFill>
            <a:srgbClr val="FFFFFF"/>
          </a:solidFill>
          <a:ln cap="flat" cmpd="sng" w="336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5375" lIns="155375" spcFirstLastPara="1" rIns="155375" wrap="square" tIns="15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83"/>
          </a:p>
        </p:txBody>
      </p:sp>
      <p:sp>
        <p:nvSpPr>
          <p:cNvPr id="597" name="Google Shape;597;p39"/>
          <p:cNvSpPr/>
          <p:nvPr/>
        </p:nvSpPr>
        <p:spPr>
          <a:xfrm>
            <a:off x="1131766" y="992897"/>
            <a:ext cx="2280000" cy="2133600"/>
          </a:xfrm>
          <a:prstGeom prst="rect">
            <a:avLst/>
          </a:prstGeom>
          <a:solidFill>
            <a:srgbClr val="EEEEEE"/>
          </a:solidFill>
          <a:ln cap="flat" cmpd="sng" w="84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5375" lIns="155375" spcFirstLastPara="1" rIns="155375" wrap="square" tIns="15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4"/>
              <a:t>Image 1</a:t>
            </a:r>
            <a:endParaRPr sz="1324"/>
          </a:p>
        </p:txBody>
      </p:sp>
      <p:sp>
        <p:nvSpPr>
          <p:cNvPr id="598" name="Google Shape;598;p39"/>
          <p:cNvSpPr/>
          <p:nvPr/>
        </p:nvSpPr>
        <p:spPr>
          <a:xfrm>
            <a:off x="3658857" y="992897"/>
            <a:ext cx="2280000" cy="2133600"/>
          </a:xfrm>
          <a:prstGeom prst="rect">
            <a:avLst/>
          </a:prstGeom>
          <a:solidFill>
            <a:srgbClr val="EEEEEE"/>
          </a:solidFill>
          <a:ln cap="flat" cmpd="sng" w="84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5375" lIns="155375" spcFirstLastPara="1" rIns="155375" wrap="square" tIns="15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1"/>
              <a:buFont typeface="Arial"/>
              <a:buNone/>
            </a:pPr>
            <a:r>
              <a:rPr lang="en" sz="1324">
                <a:solidFill>
                  <a:srgbClr val="000000"/>
                </a:solidFill>
              </a:rPr>
              <a:t> Image 2</a:t>
            </a:r>
            <a:endParaRPr sz="2383"/>
          </a:p>
        </p:txBody>
      </p:sp>
      <p:sp>
        <p:nvSpPr>
          <p:cNvPr id="599" name="Google Shape;599;p39"/>
          <p:cNvSpPr/>
          <p:nvPr/>
        </p:nvSpPr>
        <p:spPr>
          <a:xfrm>
            <a:off x="6185947" y="992897"/>
            <a:ext cx="2280000" cy="2133600"/>
          </a:xfrm>
          <a:prstGeom prst="rect">
            <a:avLst/>
          </a:prstGeom>
          <a:solidFill>
            <a:srgbClr val="EEEEEE"/>
          </a:solidFill>
          <a:ln cap="flat" cmpd="sng" w="84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5375" lIns="155375" spcFirstLastPara="1" rIns="155375" wrap="square" tIns="15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1"/>
              <a:buFont typeface="Arial"/>
              <a:buNone/>
            </a:pPr>
            <a:r>
              <a:rPr lang="en" sz="1324">
                <a:solidFill>
                  <a:srgbClr val="000000"/>
                </a:solidFill>
              </a:rPr>
              <a:t>Image 3</a:t>
            </a:r>
            <a:endParaRPr sz="2383"/>
          </a:p>
        </p:txBody>
      </p:sp>
      <p:sp>
        <p:nvSpPr>
          <p:cNvPr id="600" name="Google Shape;600;p39"/>
          <p:cNvSpPr/>
          <p:nvPr/>
        </p:nvSpPr>
        <p:spPr>
          <a:xfrm>
            <a:off x="8713038" y="992908"/>
            <a:ext cx="833400" cy="2133600"/>
          </a:xfrm>
          <a:prstGeom prst="rect">
            <a:avLst/>
          </a:prstGeom>
          <a:solidFill>
            <a:srgbClr val="EEEEEE"/>
          </a:solidFill>
          <a:ln cap="flat" cmpd="sng" w="84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5375" lIns="155375" spcFirstLastPara="1" rIns="155375" wrap="square" tIns="15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83"/>
          </a:p>
        </p:txBody>
      </p:sp>
      <p:cxnSp>
        <p:nvCxnSpPr>
          <p:cNvPr id="601" name="Google Shape;601;p39"/>
          <p:cNvCxnSpPr/>
          <p:nvPr/>
        </p:nvCxnSpPr>
        <p:spPr>
          <a:xfrm rot="10800000">
            <a:off x="3412023" y="1857930"/>
            <a:ext cx="6134400" cy="0"/>
          </a:xfrm>
          <a:prstGeom prst="straightConnector1">
            <a:avLst/>
          </a:prstGeom>
          <a:noFill/>
          <a:ln cap="flat" cmpd="sng" w="25225">
            <a:solidFill>
              <a:srgbClr val="595959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602" name="Google Shape;602;p39"/>
          <p:cNvSpPr txBox="1"/>
          <p:nvPr/>
        </p:nvSpPr>
        <p:spPr>
          <a:xfrm>
            <a:off x="6847519" y="1527144"/>
            <a:ext cx="1618500" cy="1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675" lIns="80675" spcFirstLastPara="1" rIns="80675" wrap="square" tIns="80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35" u="sng">
                <a:solidFill>
                  <a:srgbClr val="595959"/>
                </a:solidFill>
              </a:rPr>
              <a:t>Scrollable section</a:t>
            </a:r>
            <a:endParaRPr b="1" sz="1235" u="sng">
              <a:solidFill>
                <a:srgbClr val="595959"/>
              </a:solidFill>
            </a:endParaRPr>
          </a:p>
        </p:txBody>
      </p:sp>
      <p:sp>
        <p:nvSpPr>
          <p:cNvPr id="603" name="Google Shape;603;p39"/>
          <p:cNvSpPr/>
          <p:nvPr/>
        </p:nvSpPr>
        <p:spPr>
          <a:xfrm>
            <a:off x="3217168" y="571252"/>
            <a:ext cx="4097400" cy="286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55375" lIns="155375" spcFirstLastPara="1" rIns="155375" wrap="square" tIns="15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Express</a:t>
            </a:r>
            <a:r>
              <a:rPr lang="en" sz="1500">
                <a:latin typeface="Montserrat"/>
                <a:ea typeface="Montserrat"/>
                <a:cs typeface="Montserrat"/>
                <a:sym typeface="Montserrat"/>
              </a:rPr>
              <a:t> Art Gallery</a:t>
            </a:r>
            <a:endParaRPr sz="1412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4" name="Google Shape;604;p39"/>
          <p:cNvSpPr/>
          <p:nvPr/>
        </p:nvSpPr>
        <p:spPr>
          <a:xfrm>
            <a:off x="1025263" y="571242"/>
            <a:ext cx="8088300" cy="3625500"/>
          </a:xfrm>
          <a:prstGeom prst="rect">
            <a:avLst/>
          </a:prstGeom>
          <a:noFill/>
          <a:ln cap="flat" cmpd="sng" w="168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675" lIns="80675" spcFirstLastPara="1" rIns="80675" wrap="square" tIns="80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5"/>
          </a:p>
        </p:txBody>
      </p:sp>
      <p:sp>
        <p:nvSpPr>
          <p:cNvPr id="605" name="Google Shape;605;p39"/>
          <p:cNvSpPr txBox="1"/>
          <p:nvPr/>
        </p:nvSpPr>
        <p:spPr>
          <a:xfrm>
            <a:off x="1131766" y="1021013"/>
            <a:ext cx="243300" cy="286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80675" lIns="80675" spcFirstLastPara="1" rIns="80675" wrap="square" tIns="80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94">
                <a:solidFill>
                  <a:srgbClr val="FFFFFF"/>
                </a:solidFill>
              </a:rPr>
              <a:t>1</a:t>
            </a:r>
            <a:endParaRPr b="1" sz="794">
              <a:solidFill>
                <a:srgbClr val="FFFFFF"/>
              </a:solidFill>
            </a:endParaRPr>
          </a:p>
        </p:txBody>
      </p:sp>
      <p:sp>
        <p:nvSpPr>
          <p:cNvPr id="606" name="Google Shape;606;p39"/>
          <p:cNvSpPr/>
          <p:nvPr/>
        </p:nvSpPr>
        <p:spPr>
          <a:xfrm>
            <a:off x="1554617" y="3184347"/>
            <a:ext cx="1434300" cy="457500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0925" lIns="60925" spcFirstLastPara="1" rIns="60925" wrap="square" tIns="60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3"/>
              <a:buFont typeface="Arial"/>
              <a:buNone/>
            </a:pPr>
            <a:r>
              <a:rPr lang="en" sz="866">
                <a:latin typeface="Montserrat"/>
                <a:ea typeface="Montserrat"/>
                <a:cs typeface="Montserrat"/>
                <a:sym typeface="Montserrat"/>
              </a:rPr>
              <a:t>Class Name</a:t>
            </a:r>
            <a:endParaRPr sz="866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3"/>
              <a:buFont typeface="Arial"/>
              <a:buNone/>
            </a:pPr>
            <a:r>
              <a:rPr lang="en" sz="866">
                <a:latin typeface="Montserrat"/>
                <a:ea typeface="Montserrat"/>
                <a:cs typeface="Montserrat"/>
                <a:sym typeface="Montserrat"/>
              </a:rPr>
              <a:t>Description</a:t>
            </a:r>
            <a:endParaRPr sz="86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7" name="Google Shape;607;p39"/>
          <p:cNvSpPr/>
          <p:nvPr/>
        </p:nvSpPr>
        <p:spPr>
          <a:xfrm>
            <a:off x="4081697" y="3200426"/>
            <a:ext cx="1434300" cy="457500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0925" lIns="60925" spcFirstLastPara="1" rIns="60925" wrap="square" tIns="60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3"/>
              <a:buFont typeface="Arial"/>
              <a:buNone/>
            </a:pPr>
            <a:r>
              <a:rPr lang="en" sz="866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Class Name</a:t>
            </a:r>
            <a:endParaRPr sz="866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3"/>
              <a:buFont typeface="Arial"/>
              <a:buNone/>
            </a:pPr>
            <a:r>
              <a:rPr lang="en" sz="866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Description</a:t>
            </a:r>
            <a:endParaRPr sz="86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8" name="Google Shape;608;p39"/>
          <p:cNvSpPr/>
          <p:nvPr/>
        </p:nvSpPr>
        <p:spPr>
          <a:xfrm>
            <a:off x="6608778" y="3184347"/>
            <a:ext cx="1434300" cy="457500"/>
          </a:xfrm>
          <a:prstGeom prst="flowChartAlternateProcess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0925" lIns="60925" spcFirstLastPara="1" rIns="60925" wrap="square" tIns="60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3"/>
              <a:buFont typeface="Arial"/>
              <a:buNone/>
            </a:pPr>
            <a:r>
              <a:rPr lang="en" sz="866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Class Name</a:t>
            </a:r>
            <a:endParaRPr sz="866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33"/>
              <a:buFont typeface="Arial"/>
              <a:buNone/>
            </a:pPr>
            <a:r>
              <a:rPr lang="en" sz="866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Description</a:t>
            </a:r>
            <a:endParaRPr sz="86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9" name="Google Shape;609;p39"/>
          <p:cNvSpPr/>
          <p:nvPr/>
        </p:nvSpPr>
        <p:spPr>
          <a:xfrm>
            <a:off x="1554617" y="3592138"/>
            <a:ext cx="1434300" cy="457500"/>
          </a:xfrm>
          <a:prstGeom prst="flowChartAlternateProcess">
            <a:avLst/>
          </a:prstGeom>
          <a:solidFill>
            <a:srgbClr val="FFFFFF"/>
          </a:solidFill>
          <a:ln cap="flat" cmpd="sng" w="63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60925" spcFirstLastPara="1" rIns="60925" wrap="square" tIns="60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3"/>
              <a:buFont typeface="Arial"/>
              <a:buNone/>
            </a:pPr>
            <a:r>
              <a:rPr lang="en" sz="1240">
                <a:latin typeface="Montserrat"/>
                <a:ea typeface="Montserrat"/>
                <a:cs typeface="Montserrat"/>
                <a:sym typeface="Montserrat"/>
              </a:rPr>
              <a:t>Book Now</a:t>
            </a:r>
            <a:endParaRPr sz="124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0" name="Google Shape;610;p39"/>
          <p:cNvSpPr/>
          <p:nvPr/>
        </p:nvSpPr>
        <p:spPr>
          <a:xfrm>
            <a:off x="4081697" y="3592138"/>
            <a:ext cx="1434300" cy="457500"/>
          </a:xfrm>
          <a:prstGeom prst="flowChartAlternateProcess">
            <a:avLst/>
          </a:prstGeom>
          <a:solidFill>
            <a:srgbClr val="FFFFFF"/>
          </a:solidFill>
          <a:ln cap="flat" cmpd="sng" w="63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60925" spcFirstLastPara="1" rIns="60925" wrap="square" tIns="60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3"/>
              <a:buFont typeface="Arial"/>
              <a:buNone/>
            </a:pPr>
            <a:r>
              <a:rPr lang="en" sz="1240">
                <a:latin typeface="Montserrat"/>
                <a:ea typeface="Montserrat"/>
                <a:cs typeface="Montserrat"/>
                <a:sym typeface="Montserrat"/>
              </a:rPr>
              <a:t>Book Now</a:t>
            </a:r>
            <a:endParaRPr sz="124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1" name="Google Shape;611;p39"/>
          <p:cNvSpPr/>
          <p:nvPr/>
        </p:nvSpPr>
        <p:spPr>
          <a:xfrm>
            <a:off x="6608778" y="3592138"/>
            <a:ext cx="1434300" cy="457500"/>
          </a:xfrm>
          <a:prstGeom prst="flowChartAlternateProcess">
            <a:avLst/>
          </a:prstGeom>
          <a:solidFill>
            <a:srgbClr val="FFFFFF"/>
          </a:solidFill>
          <a:ln cap="flat" cmpd="sng" w="63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925" lIns="60925" spcFirstLastPara="1" rIns="60925" wrap="square" tIns="60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3"/>
              <a:buFont typeface="Arial"/>
              <a:buNone/>
            </a:pPr>
            <a:r>
              <a:rPr lang="en" sz="1240">
                <a:latin typeface="Montserrat"/>
                <a:ea typeface="Montserrat"/>
                <a:cs typeface="Montserrat"/>
                <a:sym typeface="Montserrat"/>
              </a:rPr>
              <a:t>Book Now</a:t>
            </a:r>
            <a:endParaRPr sz="124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2" name="Google Shape;612;p39"/>
          <p:cNvSpPr/>
          <p:nvPr/>
        </p:nvSpPr>
        <p:spPr>
          <a:xfrm>
            <a:off x="1012318" y="8208352"/>
            <a:ext cx="8540400" cy="519300"/>
          </a:xfrm>
          <a:prstGeom prst="rect">
            <a:avLst/>
          </a:prstGeom>
          <a:solidFill>
            <a:schemeClr val="lt2"/>
          </a:solidFill>
          <a:ln cap="flat" cmpd="sng" w="336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5450" lIns="155450" spcFirstLastPara="1" rIns="155450" wrap="square" tIns="155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66">
                <a:latin typeface="Montserrat"/>
                <a:ea typeface="Montserrat"/>
                <a:cs typeface="Montserrat"/>
                <a:sym typeface="Montserrat"/>
              </a:rPr>
              <a:t>As per default footer in mainpage</a:t>
            </a:r>
            <a:endParaRPr sz="176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3" name="Google Shape;613;p39"/>
          <p:cNvSpPr/>
          <p:nvPr/>
        </p:nvSpPr>
        <p:spPr>
          <a:xfrm>
            <a:off x="4356730" y="4412123"/>
            <a:ext cx="1848300" cy="384900"/>
          </a:xfrm>
          <a:prstGeom prst="flowChartAlternateProcess">
            <a:avLst/>
          </a:prstGeom>
          <a:solidFill>
            <a:srgbClr val="FFFFFF"/>
          </a:solidFill>
          <a:ln cap="flat" cmpd="sng" w="83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725" lIns="80725" spcFirstLastPara="1" rIns="80725" wrap="square" tIns="8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8">
                <a:latin typeface="Montserrat"/>
                <a:ea typeface="Montserrat"/>
                <a:cs typeface="Montserrat"/>
                <a:sym typeface="Montserrat"/>
              </a:rPr>
              <a:t>Click to see more</a:t>
            </a:r>
            <a:endParaRPr sz="1148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8">
                <a:latin typeface="Montserrat"/>
                <a:ea typeface="Montserrat"/>
                <a:cs typeface="Montserrat"/>
                <a:sym typeface="Montserrat"/>
              </a:rPr>
              <a:t>(Navigational button) </a:t>
            </a:r>
            <a:endParaRPr sz="1148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4" name="Google Shape;614;p39"/>
          <p:cNvSpPr/>
          <p:nvPr/>
        </p:nvSpPr>
        <p:spPr>
          <a:xfrm>
            <a:off x="1008963" y="4660270"/>
            <a:ext cx="8540400" cy="248400"/>
          </a:xfrm>
          <a:prstGeom prst="rect">
            <a:avLst/>
          </a:prstGeom>
          <a:solidFill>
            <a:srgbClr val="FFFFFF"/>
          </a:solidFill>
          <a:ln cap="flat" cmpd="sng" w="83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5450" lIns="155450" spcFirstLastPara="1" rIns="155450" wrap="square" tIns="155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8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5" name="Google Shape;615;p39"/>
          <p:cNvSpPr/>
          <p:nvPr/>
        </p:nvSpPr>
        <p:spPr>
          <a:xfrm>
            <a:off x="1012318" y="4412125"/>
            <a:ext cx="8540400" cy="3796200"/>
          </a:xfrm>
          <a:prstGeom prst="rect">
            <a:avLst/>
          </a:prstGeom>
          <a:solidFill>
            <a:srgbClr val="EEEEEE"/>
          </a:solidFill>
          <a:ln cap="flat" cmpd="sng" w="336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5450" lIns="155450" spcFirstLastPara="1" rIns="155450" wrap="square" tIns="155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84"/>
          </a:p>
        </p:txBody>
      </p:sp>
      <p:sp>
        <p:nvSpPr>
          <p:cNvPr id="616" name="Google Shape;616;p39"/>
          <p:cNvSpPr/>
          <p:nvPr/>
        </p:nvSpPr>
        <p:spPr>
          <a:xfrm>
            <a:off x="2849539" y="4506590"/>
            <a:ext cx="4472400" cy="2484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55450" lIns="155450" spcFirstLastPara="1" rIns="155450" wrap="square" tIns="155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1">
                <a:latin typeface="Montserrat"/>
                <a:ea typeface="Montserrat"/>
                <a:cs typeface="Montserrat"/>
                <a:sym typeface="Montserrat"/>
              </a:rPr>
              <a:t>Ask us questions/ Book an appointment</a:t>
            </a:r>
            <a:endParaRPr sz="1413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7" name="Google Shape;617;p39"/>
          <p:cNvSpPr txBox="1"/>
          <p:nvPr/>
        </p:nvSpPr>
        <p:spPr>
          <a:xfrm>
            <a:off x="1520760" y="4504514"/>
            <a:ext cx="236400" cy="2484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80725" lIns="80725" spcFirstLastPara="1" rIns="80725" wrap="square" tIns="8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95">
                <a:solidFill>
                  <a:srgbClr val="FFFFFF"/>
                </a:solidFill>
              </a:rPr>
              <a:t>2</a:t>
            </a:r>
            <a:endParaRPr b="1" sz="795">
              <a:solidFill>
                <a:srgbClr val="FFFFFF"/>
              </a:solidFill>
            </a:endParaRPr>
          </a:p>
        </p:txBody>
      </p:sp>
      <p:sp>
        <p:nvSpPr>
          <p:cNvPr id="618" name="Google Shape;618;p39"/>
          <p:cNvSpPr/>
          <p:nvPr/>
        </p:nvSpPr>
        <p:spPr>
          <a:xfrm>
            <a:off x="1976509" y="5149896"/>
            <a:ext cx="6816000" cy="2070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211"/>
              <a:buFont typeface="Arial"/>
              <a:buNone/>
            </a:pPr>
            <a:r>
              <a:rPr b="0" i="0" lang="en" sz="1211" u="none" cap="none" strike="noStrike">
                <a:solidFill>
                  <a:srgbClr val="8A9880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 b="0" i="0" sz="121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9"/>
          <p:cNvSpPr/>
          <p:nvPr/>
        </p:nvSpPr>
        <p:spPr>
          <a:xfrm>
            <a:off x="1976509" y="5489854"/>
            <a:ext cx="6816000" cy="2070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211"/>
              <a:buFont typeface="Arial"/>
              <a:buNone/>
            </a:pPr>
            <a:r>
              <a:rPr lang="en" sz="1211">
                <a:solidFill>
                  <a:srgbClr val="8A9880"/>
                </a:solidFill>
              </a:rPr>
              <a:t>Phone Number</a:t>
            </a:r>
            <a:endParaRPr b="0" i="0" sz="121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39"/>
          <p:cNvSpPr/>
          <p:nvPr/>
        </p:nvSpPr>
        <p:spPr>
          <a:xfrm>
            <a:off x="1976509" y="5755826"/>
            <a:ext cx="6816000" cy="2070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211"/>
              <a:buFont typeface="Arial"/>
              <a:buNone/>
            </a:pPr>
            <a:r>
              <a:rPr b="0" i="0" lang="en" sz="1211" u="none" cap="none" strike="noStrike">
                <a:solidFill>
                  <a:srgbClr val="8A9880"/>
                </a:solidFill>
                <a:latin typeface="Arial"/>
                <a:ea typeface="Arial"/>
                <a:cs typeface="Arial"/>
                <a:sym typeface="Arial"/>
              </a:rPr>
              <a:t>Email</a:t>
            </a:r>
            <a:endParaRPr b="0" i="0" sz="121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39"/>
          <p:cNvSpPr/>
          <p:nvPr/>
        </p:nvSpPr>
        <p:spPr>
          <a:xfrm>
            <a:off x="1976509" y="6036596"/>
            <a:ext cx="6816000" cy="2070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211"/>
              <a:buFont typeface="Arial"/>
              <a:buNone/>
            </a:pPr>
            <a:r>
              <a:rPr lang="en" sz="1211">
                <a:solidFill>
                  <a:srgbClr val="8A9880"/>
                </a:solidFill>
              </a:rPr>
              <a:t>Children Age</a:t>
            </a:r>
            <a:endParaRPr b="0" i="0" sz="121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39"/>
          <p:cNvSpPr/>
          <p:nvPr/>
        </p:nvSpPr>
        <p:spPr>
          <a:xfrm>
            <a:off x="1976509" y="6332162"/>
            <a:ext cx="6816000" cy="2070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211"/>
              <a:buFont typeface="Arial"/>
              <a:buNone/>
            </a:pPr>
            <a:r>
              <a:rPr lang="en" sz="1211">
                <a:solidFill>
                  <a:srgbClr val="8A9880"/>
                </a:solidFill>
              </a:rPr>
              <a:t>Our Studio</a:t>
            </a:r>
            <a:endParaRPr b="0" i="0" sz="121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39"/>
          <p:cNvSpPr/>
          <p:nvPr/>
        </p:nvSpPr>
        <p:spPr>
          <a:xfrm>
            <a:off x="1976505" y="7573822"/>
            <a:ext cx="2045400" cy="325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410"/>
              </a:buClr>
              <a:buSzPts val="1398"/>
              <a:buFont typeface="Arial"/>
              <a:buNone/>
            </a:pPr>
            <a:r>
              <a:rPr b="1" i="0" lang="en" sz="1398" u="none" cap="none" strike="noStrike">
                <a:solidFill>
                  <a:srgbClr val="1A2410"/>
                </a:solidFill>
                <a:latin typeface="Arial"/>
                <a:ea typeface="Arial"/>
                <a:cs typeface="Arial"/>
                <a:sym typeface="Arial"/>
              </a:rPr>
              <a:t>SEND ENQUIRY</a:t>
            </a:r>
            <a:endParaRPr b="0" i="0" sz="139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39"/>
          <p:cNvSpPr/>
          <p:nvPr/>
        </p:nvSpPr>
        <p:spPr>
          <a:xfrm>
            <a:off x="1976513" y="6961084"/>
            <a:ext cx="6816000" cy="5193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211"/>
              <a:buFont typeface="Arial"/>
              <a:buNone/>
            </a:pPr>
            <a:r>
              <a:rPr lang="en" sz="1211">
                <a:solidFill>
                  <a:srgbClr val="8A9880"/>
                </a:solidFill>
              </a:rPr>
              <a:t>Message</a:t>
            </a:r>
            <a:endParaRPr b="0" i="0" sz="121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39"/>
          <p:cNvSpPr/>
          <p:nvPr/>
        </p:nvSpPr>
        <p:spPr>
          <a:xfrm flipH="1">
            <a:off x="1728560" y="4536564"/>
            <a:ext cx="7461900" cy="3454500"/>
          </a:xfrm>
          <a:prstGeom prst="rect">
            <a:avLst/>
          </a:prstGeom>
          <a:noFill/>
          <a:ln cap="flat" cmpd="sng" w="168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725" lIns="80725" spcFirstLastPara="1" rIns="80725" wrap="square" tIns="80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6" name="Google Shape;626;p39"/>
          <p:cNvSpPr/>
          <p:nvPr/>
        </p:nvSpPr>
        <p:spPr>
          <a:xfrm>
            <a:off x="1980146" y="6612167"/>
            <a:ext cx="6816000" cy="2070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211"/>
              <a:buFont typeface="Arial"/>
              <a:buNone/>
            </a:pPr>
            <a:r>
              <a:rPr lang="en" sz="1211">
                <a:solidFill>
                  <a:srgbClr val="8A9880"/>
                </a:solidFill>
              </a:rPr>
              <a:t>Programme Type</a:t>
            </a:r>
            <a:endParaRPr b="0" i="0" sz="121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40"/>
          <p:cNvSpPr txBox="1"/>
          <p:nvPr/>
        </p:nvSpPr>
        <p:spPr>
          <a:xfrm>
            <a:off x="3637800" y="8100267"/>
            <a:ext cx="110124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19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PREPARED BY EPOS </a:t>
            </a:r>
            <a:endParaRPr sz="19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19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2" name="Google Shape;632;p40"/>
          <p:cNvSpPr txBox="1"/>
          <p:nvPr/>
        </p:nvSpPr>
        <p:spPr>
          <a:xfrm>
            <a:off x="3150900" y="3837900"/>
            <a:ext cx="11986200" cy="41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Art Workshop Shop</a:t>
            </a:r>
            <a:r>
              <a:rPr b="1" lang="en" sz="3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3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  <a:br>
              <a:rPr b="1" lang="en" sz="3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sz="3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1"/>
          <p:cNvSpPr txBox="1"/>
          <p:nvPr/>
        </p:nvSpPr>
        <p:spPr>
          <a:xfrm>
            <a:off x="0" y="0"/>
            <a:ext cx="182880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02124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202124"/>
                </a:solidFill>
                <a:latin typeface="Montserrat"/>
                <a:ea typeface="Montserrat"/>
                <a:cs typeface="Montserrat"/>
                <a:sym typeface="Montserrat"/>
              </a:rPr>
              <a:t>Workshop individual </a:t>
            </a:r>
            <a:r>
              <a:rPr b="1" lang="en" sz="3300">
                <a:solidFill>
                  <a:srgbClr val="202124"/>
                </a:solidFill>
                <a:latin typeface="Montserrat"/>
                <a:ea typeface="Montserrat"/>
                <a:cs typeface="Montserrat"/>
                <a:sym typeface="Montserrat"/>
              </a:rPr>
              <a:t>Shop page</a:t>
            </a:r>
            <a:endParaRPr b="1" sz="3300">
              <a:solidFill>
                <a:srgbClr val="20212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8" name="Google Shape;638;p41"/>
          <p:cNvSpPr/>
          <p:nvPr/>
        </p:nvSpPr>
        <p:spPr>
          <a:xfrm>
            <a:off x="410475" y="1912265"/>
            <a:ext cx="10203600" cy="5949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639" name="Google Shape;639;p41"/>
          <p:cNvSpPr/>
          <p:nvPr/>
        </p:nvSpPr>
        <p:spPr>
          <a:xfrm>
            <a:off x="410829" y="1468226"/>
            <a:ext cx="10194900" cy="305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0" name="Google Shape;640;p41"/>
          <p:cNvSpPr/>
          <p:nvPr/>
        </p:nvSpPr>
        <p:spPr>
          <a:xfrm>
            <a:off x="414825" y="1162700"/>
            <a:ext cx="10194900" cy="13395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Works</a:t>
            </a:r>
            <a:r>
              <a:rPr lang="en" sz="3500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hops</a:t>
            </a:r>
            <a:endParaRPr sz="2700"/>
          </a:p>
        </p:txBody>
      </p:sp>
      <p:sp>
        <p:nvSpPr>
          <p:cNvPr id="641" name="Google Shape;641;p41"/>
          <p:cNvSpPr/>
          <p:nvPr/>
        </p:nvSpPr>
        <p:spPr>
          <a:xfrm>
            <a:off x="3749468" y="3443597"/>
            <a:ext cx="2119200" cy="205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Navigational section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</a:t>
            </a:r>
            <a:endParaRPr/>
          </a:p>
        </p:txBody>
      </p:sp>
      <p:sp>
        <p:nvSpPr>
          <p:cNvPr id="642" name="Google Shape;642;p41"/>
          <p:cNvSpPr/>
          <p:nvPr/>
        </p:nvSpPr>
        <p:spPr>
          <a:xfrm>
            <a:off x="3748758" y="5077620"/>
            <a:ext cx="2119200" cy="43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3" name="Google Shape;643;p41"/>
          <p:cNvGrpSpPr/>
          <p:nvPr/>
        </p:nvGrpSpPr>
        <p:grpSpPr>
          <a:xfrm>
            <a:off x="5970166" y="3409846"/>
            <a:ext cx="2119707" cy="2080180"/>
            <a:chOff x="5329725" y="3440250"/>
            <a:chExt cx="3694800" cy="2288175"/>
          </a:xfrm>
        </p:grpSpPr>
        <p:sp>
          <p:nvSpPr>
            <p:cNvPr id="644" name="Google Shape;644;p41"/>
            <p:cNvSpPr/>
            <p:nvPr/>
          </p:nvSpPr>
          <p:spPr>
            <a:xfrm>
              <a:off x="5329725" y="3440250"/>
              <a:ext cx="3694800" cy="22635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Navigational section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Image</a:t>
              </a:r>
              <a:endParaRPr/>
            </a:p>
          </p:txBody>
        </p:sp>
        <p:sp>
          <p:nvSpPr>
            <p:cNvPr id="645" name="Google Shape;645;p41"/>
            <p:cNvSpPr/>
            <p:nvPr/>
          </p:nvSpPr>
          <p:spPr>
            <a:xfrm>
              <a:off x="5329725" y="5249925"/>
              <a:ext cx="3694800" cy="4785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Description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6" name="Google Shape;646;p41"/>
          <p:cNvGrpSpPr/>
          <p:nvPr/>
        </p:nvGrpSpPr>
        <p:grpSpPr>
          <a:xfrm>
            <a:off x="8190397" y="3432279"/>
            <a:ext cx="2119707" cy="2080180"/>
            <a:chOff x="5329725" y="3440250"/>
            <a:chExt cx="3694800" cy="2288175"/>
          </a:xfrm>
        </p:grpSpPr>
        <p:sp>
          <p:nvSpPr>
            <p:cNvPr id="647" name="Google Shape;647;p41"/>
            <p:cNvSpPr/>
            <p:nvPr/>
          </p:nvSpPr>
          <p:spPr>
            <a:xfrm>
              <a:off x="5329725" y="3440250"/>
              <a:ext cx="3694800" cy="22635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Navigational section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Image</a:t>
              </a:r>
              <a:endParaRPr/>
            </a:p>
          </p:txBody>
        </p:sp>
        <p:sp>
          <p:nvSpPr>
            <p:cNvPr id="648" name="Google Shape;648;p41"/>
            <p:cNvSpPr/>
            <p:nvPr/>
          </p:nvSpPr>
          <p:spPr>
            <a:xfrm>
              <a:off x="5329725" y="5249925"/>
              <a:ext cx="3694800" cy="4785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Description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9" name="Google Shape;649;p41"/>
          <p:cNvSpPr/>
          <p:nvPr/>
        </p:nvSpPr>
        <p:spPr>
          <a:xfrm>
            <a:off x="3749468" y="5641667"/>
            <a:ext cx="2119200" cy="205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Navigational section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</a:t>
            </a:r>
            <a:endParaRPr/>
          </a:p>
        </p:txBody>
      </p:sp>
      <p:grpSp>
        <p:nvGrpSpPr>
          <p:cNvPr id="650" name="Google Shape;650;p41"/>
          <p:cNvGrpSpPr/>
          <p:nvPr/>
        </p:nvGrpSpPr>
        <p:grpSpPr>
          <a:xfrm>
            <a:off x="5970166" y="5607917"/>
            <a:ext cx="2119707" cy="2080180"/>
            <a:chOff x="5329725" y="3440250"/>
            <a:chExt cx="3694800" cy="2288175"/>
          </a:xfrm>
        </p:grpSpPr>
        <p:sp>
          <p:nvSpPr>
            <p:cNvPr id="651" name="Google Shape;651;p41"/>
            <p:cNvSpPr/>
            <p:nvPr/>
          </p:nvSpPr>
          <p:spPr>
            <a:xfrm>
              <a:off x="5329725" y="3440250"/>
              <a:ext cx="3694800" cy="22635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Navigational section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Image</a:t>
              </a:r>
              <a:endParaRPr/>
            </a:p>
          </p:txBody>
        </p:sp>
        <p:sp>
          <p:nvSpPr>
            <p:cNvPr id="652" name="Google Shape;652;p41"/>
            <p:cNvSpPr/>
            <p:nvPr/>
          </p:nvSpPr>
          <p:spPr>
            <a:xfrm>
              <a:off x="5329725" y="5249925"/>
              <a:ext cx="3694800" cy="4785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Description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3" name="Google Shape;653;p41"/>
          <p:cNvGrpSpPr/>
          <p:nvPr/>
        </p:nvGrpSpPr>
        <p:grpSpPr>
          <a:xfrm>
            <a:off x="8190397" y="5630350"/>
            <a:ext cx="2119707" cy="2080180"/>
            <a:chOff x="5329725" y="3440250"/>
            <a:chExt cx="3694800" cy="2288175"/>
          </a:xfrm>
        </p:grpSpPr>
        <p:sp>
          <p:nvSpPr>
            <p:cNvPr id="654" name="Google Shape;654;p41"/>
            <p:cNvSpPr/>
            <p:nvPr/>
          </p:nvSpPr>
          <p:spPr>
            <a:xfrm>
              <a:off x="5329725" y="3440250"/>
              <a:ext cx="3694800" cy="22635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Navigational section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Image</a:t>
              </a:r>
              <a:endParaRPr/>
            </a:p>
          </p:txBody>
        </p:sp>
        <p:sp>
          <p:nvSpPr>
            <p:cNvPr id="655" name="Google Shape;655;p41"/>
            <p:cNvSpPr/>
            <p:nvPr/>
          </p:nvSpPr>
          <p:spPr>
            <a:xfrm>
              <a:off x="5329725" y="5249925"/>
              <a:ext cx="3694800" cy="4785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Description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6" name="Google Shape;656;p41"/>
          <p:cNvSpPr/>
          <p:nvPr/>
        </p:nvSpPr>
        <p:spPr>
          <a:xfrm>
            <a:off x="3749461" y="7253258"/>
            <a:ext cx="2119200" cy="43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41"/>
          <p:cNvSpPr/>
          <p:nvPr/>
        </p:nvSpPr>
        <p:spPr>
          <a:xfrm>
            <a:off x="501525" y="3443600"/>
            <a:ext cx="2757900" cy="4077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CATEGORIES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8" name="Google Shape;658;p41"/>
          <p:cNvCxnSpPr/>
          <p:nvPr/>
        </p:nvCxnSpPr>
        <p:spPr>
          <a:xfrm>
            <a:off x="622967" y="3954726"/>
            <a:ext cx="2426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9" name="Google Shape;659;p41"/>
          <p:cNvSpPr/>
          <p:nvPr/>
        </p:nvSpPr>
        <p:spPr>
          <a:xfrm>
            <a:off x="646292" y="4105832"/>
            <a:ext cx="2444100" cy="30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Express Workshop (0)</a:t>
            </a:r>
            <a:endParaRPr/>
          </a:p>
        </p:txBody>
      </p:sp>
      <p:cxnSp>
        <p:nvCxnSpPr>
          <p:cNvPr id="660" name="Google Shape;660;p41"/>
          <p:cNvCxnSpPr/>
          <p:nvPr/>
        </p:nvCxnSpPr>
        <p:spPr>
          <a:xfrm>
            <a:off x="655113" y="4521003"/>
            <a:ext cx="242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661" name="Google Shape;661;p41"/>
          <p:cNvSpPr/>
          <p:nvPr/>
        </p:nvSpPr>
        <p:spPr>
          <a:xfrm>
            <a:off x="646292" y="4630674"/>
            <a:ext cx="2444100" cy="30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 Workshop </a:t>
            </a:r>
            <a:r>
              <a:rPr lang="en"/>
              <a:t>(0)</a:t>
            </a:r>
            <a:endParaRPr/>
          </a:p>
        </p:txBody>
      </p:sp>
      <p:cxnSp>
        <p:nvCxnSpPr>
          <p:cNvPr id="662" name="Google Shape;662;p41"/>
          <p:cNvCxnSpPr/>
          <p:nvPr/>
        </p:nvCxnSpPr>
        <p:spPr>
          <a:xfrm>
            <a:off x="655113" y="5045845"/>
            <a:ext cx="242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663" name="Google Shape;663;p41"/>
          <p:cNvSpPr/>
          <p:nvPr/>
        </p:nvSpPr>
        <p:spPr>
          <a:xfrm>
            <a:off x="646292" y="5155515"/>
            <a:ext cx="2444100" cy="30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Workshop </a:t>
            </a:r>
            <a:r>
              <a:rPr lang="en"/>
              <a:t>(0)</a:t>
            </a:r>
            <a:endParaRPr/>
          </a:p>
        </p:txBody>
      </p:sp>
      <p:cxnSp>
        <p:nvCxnSpPr>
          <p:cNvPr id="664" name="Google Shape;664;p41"/>
          <p:cNvCxnSpPr/>
          <p:nvPr/>
        </p:nvCxnSpPr>
        <p:spPr>
          <a:xfrm>
            <a:off x="655113" y="5570687"/>
            <a:ext cx="242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665" name="Google Shape;665;p41"/>
          <p:cNvSpPr/>
          <p:nvPr/>
        </p:nvSpPr>
        <p:spPr>
          <a:xfrm>
            <a:off x="646292" y="5680357"/>
            <a:ext cx="2444100" cy="30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Standard Workshop </a:t>
            </a:r>
            <a:r>
              <a:rPr lang="en"/>
              <a:t>(0)</a:t>
            </a:r>
            <a:endParaRPr/>
          </a:p>
        </p:txBody>
      </p:sp>
      <p:cxnSp>
        <p:nvCxnSpPr>
          <p:cNvPr id="666" name="Google Shape;666;p41"/>
          <p:cNvCxnSpPr/>
          <p:nvPr/>
        </p:nvCxnSpPr>
        <p:spPr>
          <a:xfrm>
            <a:off x="655113" y="6095529"/>
            <a:ext cx="242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667" name="Google Shape;667;p41"/>
          <p:cNvSpPr/>
          <p:nvPr/>
        </p:nvSpPr>
        <p:spPr>
          <a:xfrm>
            <a:off x="646292" y="6205199"/>
            <a:ext cx="2444100" cy="30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Intermediate Workshop </a:t>
            </a:r>
            <a:r>
              <a:rPr lang="en"/>
              <a:t>(0)</a:t>
            </a:r>
            <a:endParaRPr/>
          </a:p>
        </p:txBody>
      </p:sp>
      <p:cxnSp>
        <p:nvCxnSpPr>
          <p:cNvPr id="668" name="Google Shape;668;p41"/>
          <p:cNvCxnSpPr/>
          <p:nvPr/>
        </p:nvCxnSpPr>
        <p:spPr>
          <a:xfrm>
            <a:off x="655113" y="6620370"/>
            <a:ext cx="242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669" name="Google Shape;669;p41"/>
          <p:cNvSpPr/>
          <p:nvPr/>
        </p:nvSpPr>
        <p:spPr>
          <a:xfrm>
            <a:off x="4395845" y="5334089"/>
            <a:ext cx="825000" cy="167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Add to cart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670" name="Google Shape;670;p41"/>
          <p:cNvSpPr/>
          <p:nvPr/>
        </p:nvSpPr>
        <p:spPr>
          <a:xfrm>
            <a:off x="6616579" y="5334089"/>
            <a:ext cx="825000" cy="167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Add to cart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671" name="Google Shape;671;p41"/>
          <p:cNvSpPr/>
          <p:nvPr/>
        </p:nvSpPr>
        <p:spPr>
          <a:xfrm>
            <a:off x="8838751" y="5334089"/>
            <a:ext cx="825000" cy="167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Add to cart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672" name="Google Shape;672;p41"/>
          <p:cNvSpPr/>
          <p:nvPr/>
        </p:nvSpPr>
        <p:spPr>
          <a:xfrm>
            <a:off x="4395834" y="7520815"/>
            <a:ext cx="825000" cy="167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Add to cart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673" name="Google Shape;673;p41"/>
          <p:cNvSpPr/>
          <p:nvPr/>
        </p:nvSpPr>
        <p:spPr>
          <a:xfrm>
            <a:off x="6616919" y="7520815"/>
            <a:ext cx="825000" cy="167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Add to cart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674" name="Google Shape;674;p41"/>
          <p:cNvSpPr/>
          <p:nvPr/>
        </p:nvSpPr>
        <p:spPr>
          <a:xfrm>
            <a:off x="8838762" y="7520815"/>
            <a:ext cx="825000" cy="167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Add to cart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graphicFrame>
        <p:nvGraphicFramePr>
          <p:cNvPr id="675" name="Google Shape;675;p41"/>
          <p:cNvGraphicFramePr/>
          <p:nvPr/>
        </p:nvGraphicFramePr>
        <p:xfrm>
          <a:off x="10904325" y="1229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{48FD2119-6418-421D-A403-E5465F0AB291}</a:tableStyleId>
              </a:tblPr>
              <a:tblGrid>
                <a:gridCol w="1200225"/>
                <a:gridCol w="2651525"/>
                <a:gridCol w="3245900"/>
              </a:tblGrid>
              <a:tr h="4247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SHOP PAGE DESIGN STRUCTURE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636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1 - SHOP Main banner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Banner Header: Shop 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Banner Image:  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636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2 - Categories Filter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Categories section to help consumer filter based on what they want to purchase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1317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3 - Enquiry Form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Client to provide at least 5 products image and description into: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Achiever's Art Product Import Sheet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Add to cart button to ensure products get added to cart page.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Should reflect Quantity/+- button after button is clicked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sp>
        <p:nvSpPr>
          <p:cNvPr id="676" name="Google Shape;676;p41"/>
          <p:cNvSpPr/>
          <p:nvPr/>
        </p:nvSpPr>
        <p:spPr>
          <a:xfrm>
            <a:off x="622975" y="1340954"/>
            <a:ext cx="10104300" cy="1350000"/>
          </a:xfrm>
          <a:prstGeom prst="rect">
            <a:avLst/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41"/>
          <p:cNvSpPr txBox="1"/>
          <p:nvPr/>
        </p:nvSpPr>
        <p:spPr>
          <a:xfrm>
            <a:off x="501525" y="1114000"/>
            <a:ext cx="334800" cy="336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1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678" name="Google Shape;678;p41"/>
          <p:cNvSpPr/>
          <p:nvPr/>
        </p:nvSpPr>
        <p:spPr>
          <a:xfrm>
            <a:off x="308425" y="3443593"/>
            <a:ext cx="3055500" cy="4296600"/>
          </a:xfrm>
          <a:prstGeom prst="rect">
            <a:avLst/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41"/>
          <p:cNvSpPr txBox="1"/>
          <p:nvPr/>
        </p:nvSpPr>
        <p:spPr>
          <a:xfrm>
            <a:off x="410475" y="3214266"/>
            <a:ext cx="323400" cy="336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2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680" name="Google Shape;680;p41"/>
          <p:cNvSpPr/>
          <p:nvPr/>
        </p:nvSpPr>
        <p:spPr>
          <a:xfrm>
            <a:off x="3541750" y="3242718"/>
            <a:ext cx="6891000" cy="4619100"/>
          </a:xfrm>
          <a:prstGeom prst="rect">
            <a:avLst/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41"/>
          <p:cNvSpPr txBox="1"/>
          <p:nvPr/>
        </p:nvSpPr>
        <p:spPr>
          <a:xfrm>
            <a:off x="3541750" y="3232878"/>
            <a:ext cx="323400" cy="336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3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682" name="Google Shape;682;p41"/>
          <p:cNvSpPr/>
          <p:nvPr/>
        </p:nvSpPr>
        <p:spPr>
          <a:xfrm>
            <a:off x="418925" y="7855775"/>
            <a:ext cx="10203600" cy="11838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 per default footer in mainpage</a:t>
            </a:r>
            <a:endParaRPr sz="2700"/>
          </a:p>
        </p:txBody>
      </p:sp>
      <p:sp>
        <p:nvSpPr>
          <p:cNvPr id="683" name="Google Shape;683;p41"/>
          <p:cNvSpPr/>
          <p:nvPr/>
        </p:nvSpPr>
        <p:spPr>
          <a:xfrm>
            <a:off x="658417" y="6620274"/>
            <a:ext cx="2444100" cy="30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Workshop</a:t>
            </a:r>
            <a:r>
              <a:rPr lang="en"/>
              <a:t> (0)</a:t>
            </a:r>
            <a:endParaRPr/>
          </a:p>
        </p:txBody>
      </p:sp>
      <p:sp>
        <p:nvSpPr>
          <p:cNvPr id="684" name="Google Shape;684;p41"/>
          <p:cNvSpPr/>
          <p:nvPr/>
        </p:nvSpPr>
        <p:spPr>
          <a:xfrm>
            <a:off x="658417" y="7085374"/>
            <a:ext cx="2444100" cy="30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Expert workshop</a:t>
            </a:r>
            <a:r>
              <a:rPr lang="en"/>
              <a:t> (0)</a:t>
            </a:r>
            <a:endParaRPr/>
          </a:p>
        </p:txBody>
      </p:sp>
      <p:sp>
        <p:nvSpPr>
          <p:cNvPr id="685" name="Google Shape;685;p41"/>
          <p:cNvSpPr/>
          <p:nvPr/>
        </p:nvSpPr>
        <p:spPr>
          <a:xfrm>
            <a:off x="7921942" y="2814144"/>
            <a:ext cx="2444100" cy="30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Filter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42"/>
          <p:cNvSpPr txBox="1"/>
          <p:nvPr/>
        </p:nvSpPr>
        <p:spPr>
          <a:xfrm>
            <a:off x="3637800" y="8100267"/>
            <a:ext cx="110124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19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PREPARED BY EPOS </a:t>
            </a:r>
            <a:endParaRPr sz="19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19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1" name="Google Shape;691;p42"/>
          <p:cNvSpPr txBox="1"/>
          <p:nvPr/>
        </p:nvSpPr>
        <p:spPr>
          <a:xfrm>
            <a:off x="3637800" y="3013200"/>
            <a:ext cx="110124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Individual Workshop Landing Page</a:t>
            </a:r>
            <a:endParaRPr b="1" sz="3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Pages to create: 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AutoNum type="arabicPeriod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Acrylic Painting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AutoNum type="arabicPeriod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Inks &amp; Calligraphy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AutoNum type="arabicPeriod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Clay x Artivity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AutoNum type="arabicPeriod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Crafts x Artivity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AutoNum type="arabicPeriod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Digital Art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AutoNum type="arabicPeriod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Dry Medium Sketching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AutoNum type="arabicPeriod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Fashion Illustration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AutoNum type="arabicPeriod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Manga Drawing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AutoNum type="arabicPeriod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Watercolour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AutoNum type="arabicPeriod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Express Art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*All to be same format*</a:t>
            </a:r>
            <a:endParaRPr b="1" sz="3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43"/>
          <p:cNvSpPr txBox="1"/>
          <p:nvPr/>
        </p:nvSpPr>
        <p:spPr>
          <a:xfrm>
            <a:off x="0" y="0"/>
            <a:ext cx="182880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02124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202124"/>
                </a:solidFill>
                <a:latin typeface="Montserrat"/>
                <a:ea typeface="Montserrat"/>
                <a:cs typeface="Montserrat"/>
                <a:sym typeface="Montserrat"/>
              </a:rPr>
              <a:t>Individual Landing Page(example)</a:t>
            </a:r>
            <a:endParaRPr b="1" sz="3300">
              <a:solidFill>
                <a:srgbClr val="20212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7" name="Google Shape;697;p43"/>
          <p:cNvSpPr/>
          <p:nvPr/>
        </p:nvSpPr>
        <p:spPr>
          <a:xfrm>
            <a:off x="247025" y="1314675"/>
            <a:ext cx="12133200" cy="72975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698" name="Google Shape;698;p43"/>
          <p:cNvSpPr/>
          <p:nvPr/>
        </p:nvSpPr>
        <p:spPr>
          <a:xfrm>
            <a:off x="260727" y="1314656"/>
            <a:ext cx="12123000" cy="410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NAVIGATION BAR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9" name="Google Shape;699;p43"/>
          <p:cNvSpPr/>
          <p:nvPr/>
        </p:nvSpPr>
        <p:spPr>
          <a:xfrm>
            <a:off x="260727" y="1724789"/>
            <a:ext cx="12123000" cy="410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0" name="Google Shape;700;p43"/>
          <p:cNvSpPr/>
          <p:nvPr/>
        </p:nvSpPr>
        <p:spPr>
          <a:xfrm>
            <a:off x="11918825" y="1314656"/>
            <a:ext cx="461400" cy="41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701" name="Google Shape;701;p43"/>
          <p:cNvSpPr/>
          <p:nvPr/>
        </p:nvSpPr>
        <p:spPr>
          <a:xfrm>
            <a:off x="11457425" y="1314656"/>
            <a:ext cx="461400" cy="41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702" name="Google Shape;702;p43"/>
          <p:cNvSpPr/>
          <p:nvPr/>
        </p:nvSpPr>
        <p:spPr>
          <a:xfrm>
            <a:off x="10996025" y="1314656"/>
            <a:ext cx="461400" cy="41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703" name="Google Shape;703;p43"/>
          <p:cNvSpPr/>
          <p:nvPr/>
        </p:nvSpPr>
        <p:spPr>
          <a:xfrm>
            <a:off x="10534625" y="1314656"/>
            <a:ext cx="461400" cy="41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704" name="Google Shape;704;p43"/>
          <p:cNvSpPr/>
          <p:nvPr/>
        </p:nvSpPr>
        <p:spPr>
          <a:xfrm>
            <a:off x="10073225" y="1314656"/>
            <a:ext cx="461400" cy="41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705" name="Google Shape;705;p43"/>
          <p:cNvSpPr/>
          <p:nvPr/>
        </p:nvSpPr>
        <p:spPr>
          <a:xfrm>
            <a:off x="9611825" y="1314656"/>
            <a:ext cx="461400" cy="41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706" name="Google Shape;706;p43"/>
          <p:cNvSpPr/>
          <p:nvPr/>
        </p:nvSpPr>
        <p:spPr>
          <a:xfrm>
            <a:off x="3439625" y="2568475"/>
            <a:ext cx="6741600" cy="588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Headline: &lt;Service Name&gt;</a:t>
            </a: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&lt;Description&gt;</a:t>
            </a: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7" name="Google Shape;707;p43"/>
          <p:cNvSpPr/>
          <p:nvPr/>
        </p:nvSpPr>
        <p:spPr>
          <a:xfrm>
            <a:off x="838100" y="2568475"/>
            <a:ext cx="2325300" cy="5181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Header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&lt;Our Lessons&gt;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8" name="Google Shape;708;p43"/>
          <p:cNvSpPr/>
          <p:nvPr/>
        </p:nvSpPr>
        <p:spPr>
          <a:xfrm>
            <a:off x="260725" y="1314650"/>
            <a:ext cx="968400" cy="41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Logo</a:t>
            </a:r>
            <a:endParaRPr sz="1700"/>
          </a:p>
        </p:txBody>
      </p:sp>
      <p:sp>
        <p:nvSpPr>
          <p:cNvPr id="709" name="Google Shape;709;p43"/>
          <p:cNvSpPr/>
          <p:nvPr/>
        </p:nvSpPr>
        <p:spPr>
          <a:xfrm>
            <a:off x="3439625" y="3372100"/>
            <a:ext cx="6741600" cy="18951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Montserrat"/>
                <a:ea typeface="Montserrat"/>
                <a:cs typeface="Montserrat"/>
                <a:sym typeface="Montserrat"/>
              </a:rPr>
              <a:t>Image</a:t>
            </a:r>
            <a:endParaRPr sz="2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0" name="Google Shape;710;p43"/>
          <p:cNvSpPr/>
          <p:nvPr/>
        </p:nvSpPr>
        <p:spPr>
          <a:xfrm>
            <a:off x="3439625" y="5336854"/>
            <a:ext cx="6741600" cy="23457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Montserrat"/>
                <a:ea typeface="Montserrat"/>
                <a:cs typeface="Montserrat"/>
                <a:sym typeface="Montserrat"/>
              </a:rPr>
              <a:t>Lesson Description</a:t>
            </a:r>
            <a:endParaRPr sz="2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1" name="Google Shape;711;p43"/>
          <p:cNvSpPr/>
          <p:nvPr/>
        </p:nvSpPr>
        <p:spPr>
          <a:xfrm>
            <a:off x="1012250" y="3266718"/>
            <a:ext cx="1977000" cy="4008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Navigational button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&lt;Other classes&gt;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2" name="Google Shape;712;p43"/>
          <p:cNvSpPr/>
          <p:nvPr/>
        </p:nvSpPr>
        <p:spPr>
          <a:xfrm>
            <a:off x="1012250" y="3776846"/>
            <a:ext cx="1977000" cy="4008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Navigational button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&lt;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Other classes</a:t>
            </a: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3" name="Google Shape;713;p43"/>
          <p:cNvSpPr/>
          <p:nvPr/>
        </p:nvSpPr>
        <p:spPr>
          <a:xfrm>
            <a:off x="1012250" y="4286971"/>
            <a:ext cx="1977000" cy="4008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ontserrat"/>
                <a:ea typeface="Montserrat"/>
                <a:cs typeface="Montserrat"/>
                <a:sym typeface="Montserrat"/>
              </a:rPr>
              <a:t>Navigational button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ontserrat"/>
                <a:ea typeface="Montserrat"/>
                <a:cs typeface="Montserrat"/>
                <a:sym typeface="Montserrat"/>
              </a:rPr>
              <a:t>&lt;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Other classes</a:t>
            </a:r>
            <a:r>
              <a:rPr lang="en" sz="1100"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4" name="Google Shape;714;p43"/>
          <p:cNvSpPr/>
          <p:nvPr/>
        </p:nvSpPr>
        <p:spPr>
          <a:xfrm>
            <a:off x="1012250" y="4866421"/>
            <a:ext cx="1977000" cy="4008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Navigational button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&lt;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Other classes</a:t>
            </a: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715" name="Google Shape;715;p43"/>
          <p:cNvGraphicFramePr/>
          <p:nvPr/>
        </p:nvGraphicFramePr>
        <p:xfrm>
          <a:off x="12841625" y="1196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{48FD2119-6418-421D-A403-E5465F0AB291}</a:tableStyleId>
              </a:tblPr>
              <a:tblGrid>
                <a:gridCol w="848475"/>
                <a:gridCol w="1874425"/>
                <a:gridCol w="2294600"/>
              </a:tblGrid>
              <a:tr h="563225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PAGE DESIGN STRUCTURE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6581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1 - Individual service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Section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Images and hyperlinks to be based on the previous websites: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SzPts val="1300"/>
                        <a:buFont typeface="Roboto"/>
                        <a:buAutoNum type="arabicPeriod"/>
                      </a:pPr>
                      <a:r>
                        <a:rPr lang="en" sz="13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https://www.achieversarts.com/acryliccanvas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4"/>
                        </a:rPr>
                        <a:t>https://www.achieversarts.com/inksncalligraphy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5"/>
                        </a:rPr>
                        <a:t>https://www.achieversarts.com/clayxartivity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6"/>
                        </a:rPr>
                        <a:t>https://www.achieversarts.com/craftsxartivity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7"/>
                        </a:rPr>
                        <a:t>https://www.achieversarts.com/digitalart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8"/>
                        </a:rPr>
                        <a:t>https://www.achieversarts.com/drymedium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9"/>
                        </a:rPr>
                        <a:t>https://www.achieversarts.com/fashion-textile-art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10"/>
                        </a:rPr>
                        <a:t>https://www.achieversarts.com/mangananimem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11"/>
                        </a:rPr>
                        <a:t>https://www.achieversarts.com/watercolour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Descriptions to be based on: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sng">
                          <a:solidFill>
                            <a:schemeClr val="hlink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12"/>
                        </a:rPr>
                        <a:t>beyond the canva offering writeup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Other lessons should include all others except for the current lesson. Hyperlinks to their individual pages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sp>
        <p:nvSpPr>
          <p:cNvPr id="716" name="Google Shape;716;p43"/>
          <p:cNvSpPr/>
          <p:nvPr/>
        </p:nvSpPr>
        <p:spPr>
          <a:xfrm>
            <a:off x="1012250" y="5445868"/>
            <a:ext cx="1977000" cy="4008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Navigational button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&lt;Other classes&gt;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7" name="Google Shape;717;p43"/>
          <p:cNvSpPr/>
          <p:nvPr/>
        </p:nvSpPr>
        <p:spPr>
          <a:xfrm>
            <a:off x="1012250" y="5955996"/>
            <a:ext cx="1977000" cy="4008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Navigational button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&lt;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Other classes</a:t>
            </a: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8" name="Google Shape;718;p43"/>
          <p:cNvSpPr/>
          <p:nvPr/>
        </p:nvSpPr>
        <p:spPr>
          <a:xfrm>
            <a:off x="1012250" y="6466121"/>
            <a:ext cx="1977000" cy="4008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ontserrat"/>
                <a:ea typeface="Montserrat"/>
                <a:cs typeface="Montserrat"/>
                <a:sym typeface="Montserrat"/>
              </a:rPr>
              <a:t>Navigational button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ontserrat"/>
                <a:ea typeface="Montserrat"/>
                <a:cs typeface="Montserrat"/>
                <a:sym typeface="Montserrat"/>
              </a:rPr>
              <a:t>&lt;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Other classes</a:t>
            </a:r>
            <a:r>
              <a:rPr lang="en" sz="1100"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9" name="Google Shape;719;p43"/>
          <p:cNvSpPr/>
          <p:nvPr/>
        </p:nvSpPr>
        <p:spPr>
          <a:xfrm>
            <a:off x="1012250" y="7045571"/>
            <a:ext cx="1977000" cy="4008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Navigational button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&lt;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Other classes</a:t>
            </a: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4" name="Google Shape;724;p44"/>
          <p:cNvGraphicFramePr/>
          <p:nvPr/>
        </p:nvGraphicFramePr>
        <p:xfrm>
          <a:off x="10680850" y="882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{48FD2119-6418-421D-A403-E5465F0AB291}</a:tableStyleId>
              </a:tblPr>
              <a:tblGrid>
                <a:gridCol w="1200225"/>
                <a:gridCol w="2651525"/>
                <a:gridCol w="3245900"/>
              </a:tblGrid>
              <a:tr h="26105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Individual Landing Page DESIGN STRUCTURE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673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1- Scrollable banner - Gallery 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Images to put in: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Extract as per their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previous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website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126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2 - Appointment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Section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Header: Ask us questions/ Book an appointment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Elements: 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Name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Phone Number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Email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Children Age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Preferred Mode of contact: Whatsapp (checkbox)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Our Studio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Dropdown:’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Tampines Studio (Our Tampines Hub)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Pasir Ris (Downtown East)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Bedok (Bedok HeartBeat)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Programme Type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Dropdown: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Acrylic Painting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Inks &amp; Calligraphy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Clay x Artivity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Crafts x Artivity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Digital Art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Dry Medium Sketching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Fashion Illustration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Manga Drawing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Watercolour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Express Art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Message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Button “Send Enquiry”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Can follow the reference of this site: </a:t>
                      </a:r>
                      <a:r>
                        <a:rPr lang="en" sz="13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Art Studio Our Tampines Hub | Downtown East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sp>
        <p:nvSpPr>
          <p:cNvPr id="725" name="Google Shape;725;p44"/>
          <p:cNvSpPr txBox="1"/>
          <p:nvPr/>
        </p:nvSpPr>
        <p:spPr>
          <a:xfrm>
            <a:off x="0" y="0"/>
            <a:ext cx="182880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300">
                <a:solidFill>
                  <a:srgbClr val="202124"/>
                </a:solidFill>
                <a:latin typeface="Montserrat"/>
                <a:ea typeface="Montserrat"/>
                <a:cs typeface="Montserrat"/>
                <a:sym typeface="Montserrat"/>
              </a:rPr>
              <a:t>Individual Landing Page(example)</a:t>
            </a:r>
            <a:endParaRPr b="1" sz="3300">
              <a:solidFill>
                <a:srgbClr val="20212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6" name="Google Shape;726;p44"/>
          <p:cNvSpPr/>
          <p:nvPr/>
        </p:nvSpPr>
        <p:spPr>
          <a:xfrm>
            <a:off x="390580" y="769550"/>
            <a:ext cx="9120900" cy="3548100"/>
          </a:xfrm>
          <a:prstGeom prst="rect">
            <a:avLst/>
          </a:prstGeom>
          <a:solidFill>
            <a:schemeClr val="lt1"/>
          </a:solidFill>
          <a:ln cap="flat" cmpd="sng" w="341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7825" lIns="157825" spcFirstLastPara="1" rIns="157825" wrap="square" tIns="157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20"/>
          </a:p>
        </p:txBody>
      </p:sp>
      <p:sp>
        <p:nvSpPr>
          <p:cNvPr id="727" name="Google Shape;727;p44"/>
          <p:cNvSpPr txBox="1"/>
          <p:nvPr/>
        </p:nvSpPr>
        <p:spPr>
          <a:xfrm>
            <a:off x="597117" y="1106540"/>
            <a:ext cx="252600" cy="3204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81950" lIns="81950" spcFirstLastPara="1" rIns="81950" wrap="square" tIns="81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7">
                <a:solidFill>
                  <a:srgbClr val="FFFFFF"/>
                </a:solidFill>
              </a:rPr>
              <a:t>1</a:t>
            </a:r>
            <a:endParaRPr b="1" sz="807">
              <a:solidFill>
                <a:srgbClr val="FFFFFF"/>
              </a:solidFill>
            </a:endParaRPr>
          </a:p>
        </p:txBody>
      </p:sp>
      <p:sp>
        <p:nvSpPr>
          <p:cNvPr id="728" name="Google Shape;728;p44"/>
          <p:cNvSpPr/>
          <p:nvPr/>
        </p:nvSpPr>
        <p:spPr>
          <a:xfrm>
            <a:off x="512090" y="1543769"/>
            <a:ext cx="2298600" cy="2227500"/>
          </a:xfrm>
          <a:prstGeom prst="rect">
            <a:avLst/>
          </a:prstGeom>
          <a:solidFill>
            <a:schemeClr val="lt2"/>
          </a:solidFill>
          <a:ln cap="flat" cmpd="sng" w="8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7825" lIns="157825" spcFirstLastPara="1" rIns="157825" wrap="square" tIns="157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5"/>
              <a:t>Gallery Image</a:t>
            </a:r>
            <a:endParaRPr sz="1345"/>
          </a:p>
        </p:txBody>
      </p:sp>
      <p:sp>
        <p:nvSpPr>
          <p:cNvPr id="729" name="Google Shape;729;p44"/>
          <p:cNvSpPr/>
          <p:nvPr/>
        </p:nvSpPr>
        <p:spPr>
          <a:xfrm>
            <a:off x="849681" y="858500"/>
            <a:ext cx="8378400" cy="3115800"/>
          </a:xfrm>
          <a:prstGeom prst="rect">
            <a:avLst/>
          </a:prstGeom>
          <a:noFill/>
          <a:ln cap="flat" cmpd="sng" w="170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950" lIns="81950" spcFirstLastPara="1" rIns="81950" wrap="square" tIns="81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5"/>
          </a:p>
        </p:txBody>
      </p:sp>
      <p:sp>
        <p:nvSpPr>
          <p:cNvPr id="730" name="Google Shape;730;p44"/>
          <p:cNvSpPr/>
          <p:nvPr/>
        </p:nvSpPr>
        <p:spPr>
          <a:xfrm>
            <a:off x="2946943" y="1543769"/>
            <a:ext cx="2298600" cy="2227500"/>
          </a:xfrm>
          <a:prstGeom prst="rect">
            <a:avLst/>
          </a:prstGeom>
          <a:solidFill>
            <a:schemeClr val="lt2"/>
          </a:solidFill>
          <a:ln cap="flat" cmpd="sng" w="8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7825" lIns="157825" spcFirstLastPara="1" rIns="157825" wrap="square" tIns="157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5"/>
              <a:t>Gallery Image</a:t>
            </a:r>
            <a:endParaRPr sz="1345"/>
          </a:p>
        </p:txBody>
      </p:sp>
      <p:sp>
        <p:nvSpPr>
          <p:cNvPr id="731" name="Google Shape;731;p44"/>
          <p:cNvSpPr/>
          <p:nvPr/>
        </p:nvSpPr>
        <p:spPr>
          <a:xfrm>
            <a:off x="5381797" y="1543769"/>
            <a:ext cx="2298600" cy="2227500"/>
          </a:xfrm>
          <a:prstGeom prst="rect">
            <a:avLst/>
          </a:prstGeom>
          <a:solidFill>
            <a:schemeClr val="lt2"/>
          </a:solidFill>
          <a:ln cap="flat" cmpd="sng" w="8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7825" lIns="157825" spcFirstLastPara="1" rIns="157825" wrap="square" tIns="157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5"/>
              <a:t>Gallery Image</a:t>
            </a:r>
            <a:endParaRPr sz="1345"/>
          </a:p>
        </p:txBody>
      </p:sp>
      <p:sp>
        <p:nvSpPr>
          <p:cNvPr id="732" name="Google Shape;732;p44"/>
          <p:cNvSpPr/>
          <p:nvPr/>
        </p:nvSpPr>
        <p:spPr>
          <a:xfrm>
            <a:off x="7816650" y="1543771"/>
            <a:ext cx="1694700" cy="2227500"/>
          </a:xfrm>
          <a:prstGeom prst="rect">
            <a:avLst/>
          </a:prstGeom>
          <a:solidFill>
            <a:schemeClr val="lt2"/>
          </a:solidFill>
          <a:ln cap="flat" cmpd="sng" w="8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7825" lIns="157825" spcFirstLastPara="1" rIns="157825" wrap="square" tIns="157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5"/>
              <a:t>Gallery Image</a:t>
            </a:r>
            <a:endParaRPr sz="1345"/>
          </a:p>
        </p:txBody>
      </p:sp>
      <p:sp>
        <p:nvSpPr>
          <p:cNvPr id="733" name="Google Shape;733;p44"/>
          <p:cNvSpPr/>
          <p:nvPr/>
        </p:nvSpPr>
        <p:spPr>
          <a:xfrm>
            <a:off x="390583" y="8362527"/>
            <a:ext cx="9120900" cy="554700"/>
          </a:xfrm>
          <a:prstGeom prst="rect">
            <a:avLst/>
          </a:prstGeom>
          <a:solidFill>
            <a:schemeClr val="lt2"/>
          </a:solidFill>
          <a:ln cap="flat" cmpd="sng" w="359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6025" lIns="166025" spcFirstLastPara="1" rIns="166025" wrap="square" tIns="16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86">
                <a:latin typeface="Montserrat"/>
                <a:ea typeface="Montserrat"/>
                <a:cs typeface="Montserrat"/>
                <a:sym typeface="Montserrat"/>
              </a:rPr>
              <a:t>As per default footer in mainpage</a:t>
            </a:r>
            <a:endParaRPr sz="188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4" name="Google Shape;734;p44"/>
          <p:cNvSpPr/>
          <p:nvPr/>
        </p:nvSpPr>
        <p:spPr>
          <a:xfrm>
            <a:off x="3962232" y="4308382"/>
            <a:ext cx="1974000" cy="410700"/>
          </a:xfrm>
          <a:prstGeom prst="flowChartAlternateProcess">
            <a:avLst/>
          </a:prstGeom>
          <a:solidFill>
            <a:srgbClr val="FFFFFF"/>
          </a:solidFill>
          <a:ln cap="flat" cmpd="sng" w="89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225" lIns="86225" spcFirstLastPara="1" rIns="86225" wrap="square" tIns="86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26">
                <a:latin typeface="Montserrat"/>
                <a:ea typeface="Montserrat"/>
                <a:cs typeface="Montserrat"/>
                <a:sym typeface="Montserrat"/>
              </a:rPr>
              <a:t>Click to see more</a:t>
            </a:r>
            <a:endParaRPr sz="1226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26">
                <a:latin typeface="Montserrat"/>
                <a:ea typeface="Montserrat"/>
                <a:cs typeface="Montserrat"/>
                <a:sym typeface="Montserrat"/>
              </a:rPr>
              <a:t>(Navigational button) </a:t>
            </a:r>
            <a:endParaRPr sz="122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5" name="Google Shape;735;p44"/>
          <p:cNvSpPr/>
          <p:nvPr/>
        </p:nvSpPr>
        <p:spPr>
          <a:xfrm>
            <a:off x="387000" y="4573389"/>
            <a:ext cx="9120900" cy="265200"/>
          </a:xfrm>
          <a:prstGeom prst="rect">
            <a:avLst/>
          </a:prstGeom>
          <a:solidFill>
            <a:srgbClr val="FFFFFF"/>
          </a:solidFill>
          <a:ln cap="flat" cmpd="sng" w="89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6025" lIns="166025" spcFirstLastPara="1" rIns="166025" wrap="square" tIns="16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2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6" name="Google Shape;736;p44"/>
          <p:cNvSpPr/>
          <p:nvPr/>
        </p:nvSpPr>
        <p:spPr>
          <a:xfrm>
            <a:off x="390583" y="4308385"/>
            <a:ext cx="9120900" cy="4054200"/>
          </a:xfrm>
          <a:prstGeom prst="rect">
            <a:avLst/>
          </a:prstGeom>
          <a:solidFill>
            <a:srgbClr val="EEEEEE"/>
          </a:solidFill>
          <a:ln cap="flat" cmpd="sng" w="359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6025" lIns="166025" spcFirstLastPara="1" rIns="166025" wrap="square" tIns="16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46"/>
          </a:p>
        </p:txBody>
      </p:sp>
      <p:sp>
        <p:nvSpPr>
          <p:cNvPr id="737" name="Google Shape;737;p44"/>
          <p:cNvSpPr/>
          <p:nvPr/>
        </p:nvSpPr>
        <p:spPr>
          <a:xfrm>
            <a:off x="2352635" y="4409267"/>
            <a:ext cx="4776300" cy="265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66025" lIns="166025" spcFirstLastPara="1" rIns="166025" wrap="square" tIns="16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3">
                <a:latin typeface="Montserrat"/>
                <a:ea typeface="Montserrat"/>
                <a:cs typeface="Montserrat"/>
                <a:sym typeface="Montserrat"/>
              </a:rPr>
              <a:t>Ask us questions/ Book an appointment</a:t>
            </a:r>
            <a:endParaRPr sz="150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8" name="Google Shape;738;p44"/>
          <p:cNvSpPr txBox="1"/>
          <p:nvPr/>
        </p:nvSpPr>
        <p:spPr>
          <a:xfrm>
            <a:off x="933570" y="4407050"/>
            <a:ext cx="252600" cy="265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86225" lIns="86225" spcFirstLastPara="1" rIns="86225" wrap="square" tIns="86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49">
                <a:solidFill>
                  <a:srgbClr val="FFFFFF"/>
                </a:solidFill>
              </a:rPr>
              <a:t>2</a:t>
            </a:r>
            <a:endParaRPr b="1" sz="849">
              <a:solidFill>
                <a:srgbClr val="FFFFFF"/>
              </a:solidFill>
            </a:endParaRPr>
          </a:p>
        </p:txBody>
      </p:sp>
      <p:sp>
        <p:nvSpPr>
          <p:cNvPr id="739" name="Google Shape;739;p44"/>
          <p:cNvSpPr/>
          <p:nvPr/>
        </p:nvSpPr>
        <p:spPr>
          <a:xfrm>
            <a:off x="1420286" y="5096279"/>
            <a:ext cx="7279200" cy="220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294"/>
              <a:buFont typeface="Arial"/>
              <a:buNone/>
            </a:pPr>
            <a:r>
              <a:rPr b="0" i="0" lang="en" sz="1294" u="none" cap="none" strike="noStrike">
                <a:solidFill>
                  <a:srgbClr val="8A9880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 b="0" i="0" sz="129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44"/>
          <p:cNvSpPr/>
          <p:nvPr/>
        </p:nvSpPr>
        <p:spPr>
          <a:xfrm>
            <a:off x="1420286" y="5459334"/>
            <a:ext cx="7279200" cy="220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294"/>
              <a:buFont typeface="Arial"/>
              <a:buNone/>
            </a:pPr>
            <a:r>
              <a:rPr lang="en" sz="1294">
                <a:solidFill>
                  <a:srgbClr val="8A9880"/>
                </a:solidFill>
              </a:rPr>
              <a:t>Phone Number</a:t>
            </a:r>
            <a:endParaRPr b="0" i="0" sz="129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44"/>
          <p:cNvSpPr/>
          <p:nvPr/>
        </p:nvSpPr>
        <p:spPr>
          <a:xfrm>
            <a:off x="1420286" y="5743377"/>
            <a:ext cx="7279200" cy="220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294"/>
              <a:buFont typeface="Arial"/>
              <a:buNone/>
            </a:pPr>
            <a:r>
              <a:rPr b="0" i="0" lang="en" sz="1294" u="none" cap="none" strike="noStrike">
                <a:solidFill>
                  <a:srgbClr val="8A9880"/>
                </a:solidFill>
                <a:latin typeface="Arial"/>
                <a:ea typeface="Arial"/>
                <a:cs typeface="Arial"/>
                <a:sym typeface="Arial"/>
              </a:rPr>
              <a:t>Email</a:t>
            </a:r>
            <a:endParaRPr b="0" i="0" sz="129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44"/>
          <p:cNvSpPr/>
          <p:nvPr/>
        </p:nvSpPr>
        <p:spPr>
          <a:xfrm>
            <a:off x="1420286" y="6043222"/>
            <a:ext cx="7279200" cy="220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294"/>
              <a:buFont typeface="Arial"/>
              <a:buNone/>
            </a:pPr>
            <a:r>
              <a:rPr lang="en" sz="1294">
                <a:solidFill>
                  <a:srgbClr val="8A9880"/>
                </a:solidFill>
              </a:rPr>
              <a:t>Children Age</a:t>
            </a:r>
            <a:endParaRPr b="0" i="0" sz="129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44"/>
          <p:cNvSpPr/>
          <p:nvPr/>
        </p:nvSpPr>
        <p:spPr>
          <a:xfrm>
            <a:off x="1420286" y="6358869"/>
            <a:ext cx="7279200" cy="220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294"/>
              <a:buFont typeface="Arial"/>
              <a:buNone/>
            </a:pPr>
            <a:r>
              <a:rPr lang="en" sz="1294">
                <a:solidFill>
                  <a:srgbClr val="8A9880"/>
                </a:solidFill>
              </a:rPr>
              <a:t>Our Studio</a:t>
            </a:r>
            <a:endParaRPr b="0" i="0" sz="129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44"/>
          <p:cNvSpPr/>
          <p:nvPr/>
        </p:nvSpPr>
        <p:spPr>
          <a:xfrm>
            <a:off x="1420282" y="7684886"/>
            <a:ext cx="2184300" cy="3480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410"/>
              </a:buClr>
              <a:buSzPts val="1493"/>
              <a:buFont typeface="Arial"/>
              <a:buNone/>
            </a:pPr>
            <a:r>
              <a:rPr b="1" i="0" lang="en" sz="1493" u="none" cap="none" strike="noStrike">
                <a:solidFill>
                  <a:srgbClr val="1A2410"/>
                </a:solidFill>
                <a:latin typeface="Arial"/>
                <a:ea typeface="Arial"/>
                <a:cs typeface="Arial"/>
                <a:sym typeface="Arial"/>
              </a:rPr>
              <a:t>SEND ENQUIRY</a:t>
            </a:r>
            <a:endParaRPr b="0" i="0" sz="149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44"/>
          <p:cNvSpPr/>
          <p:nvPr/>
        </p:nvSpPr>
        <p:spPr>
          <a:xfrm>
            <a:off x="1420290" y="7030519"/>
            <a:ext cx="7279200" cy="5547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294"/>
              <a:buFont typeface="Arial"/>
              <a:buNone/>
            </a:pPr>
            <a:r>
              <a:rPr lang="en" sz="1294">
                <a:solidFill>
                  <a:srgbClr val="8A9880"/>
                </a:solidFill>
              </a:rPr>
              <a:t>Message</a:t>
            </a:r>
            <a:endParaRPr b="0" i="0" sz="129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44"/>
          <p:cNvSpPr/>
          <p:nvPr/>
        </p:nvSpPr>
        <p:spPr>
          <a:xfrm flipH="1">
            <a:off x="1155791" y="4441278"/>
            <a:ext cx="7968600" cy="3689400"/>
          </a:xfrm>
          <a:prstGeom prst="rect">
            <a:avLst/>
          </a:prstGeom>
          <a:noFill/>
          <a:ln cap="flat" cmpd="sng" w="179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225" lIns="86225" spcFirstLastPara="1" rIns="86225" wrap="square" tIns="8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7" name="Google Shape;747;p44"/>
          <p:cNvSpPr/>
          <p:nvPr/>
        </p:nvSpPr>
        <p:spPr>
          <a:xfrm>
            <a:off x="1424170" y="6657898"/>
            <a:ext cx="7279200" cy="220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294"/>
              <a:buFont typeface="Arial"/>
              <a:buNone/>
            </a:pPr>
            <a:r>
              <a:rPr lang="en" sz="1294">
                <a:solidFill>
                  <a:srgbClr val="8A9880"/>
                </a:solidFill>
              </a:rPr>
              <a:t>Programme Type</a:t>
            </a:r>
            <a:endParaRPr b="0" i="0" sz="129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45"/>
          <p:cNvSpPr txBox="1"/>
          <p:nvPr/>
        </p:nvSpPr>
        <p:spPr>
          <a:xfrm>
            <a:off x="3637800" y="8100267"/>
            <a:ext cx="110124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19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PREPARED BY EPOS </a:t>
            </a:r>
            <a:endParaRPr sz="19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19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3" name="Google Shape;753;p45"/>
          <p:cNvSpPr txBox="1"/>
          <p:nvPr/>
        </p:nvSpPr>
        <p:spPr>
          <a:xfrm>
            <a:off x="3150900" y="4050150"/>
            <a:ext cx="119862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Our Camps &amp; Courses page</a:t>
            </a:r>
            <a:endParaRPr b="1" sz="3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8" name="Google Shape;758;p46"/>
          <p:cNvGraphicFramePr/>
          <p:nvPr/>
        </p:nvGraphicFramePr>
        <p:xfrm>
          <a:off x="10716050" y="748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{48FD2119-6418-421D-A403-E5465F0AB291}</a:tableStyleId>
              </a:tblPr>
              <a:tblGrid>
                <a:gridCol w="1174500"/>
                <a:gridCol w="2677250"/>
                <a:gridCol w="3245900"/>
              </a:tblGrid>
              <a:tr h="323475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Our Classes PAGE DESIGN STRUCTURE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7557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1 -  Class Offerings: 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Camps (Ages 4 &amp; up)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sng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MangaDrawing3.png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Creative Holiday Adventures Filled with Fun &amp; Exploration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Our Art Camps are exciting multi-day creative programmes designed to keep children engaged through hands-on art projects, themed activities, and interactive experiences during the school holidays. Perfect for young artists who love to create, explore, and make new friends.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✔️ Fun-filled holiday art experiences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✔️ Explore different mediums, crafts &amp; creative techniques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✔️ Engaging themed activities &amp; guided projects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✔️ All materials fully provided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✔️ Beginner-friendly and highly interactive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Short Courses (Ages 4 &amp; up)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 u="sng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download (1)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Focused Creative Learning in a Flexible Format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Our Short Courses are specially designed programmes that allow students to explore and develop specific art skills over a shorter commitment period. Perfect for learners who want a structured yet flexible creative learning experience.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✔️ Learn focused art skills through guided lessons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✔️ Explore painting, sketching, crafts &amp; mixed media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✔️ Structured learning in a shorter course format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✔️ All materials fully provided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✔️ Suitable for beginners and growing young artists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See more Button leads to individual pages</a:t>
                      </a:r>
                      <a:endParaRPr sz="11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sp>
        <p:nvSpPr>
          <p:cNvPr id="759" name="Google Shape;759;p46"/>
          <p:cNvSpPr/>
          <p:nvPr/>
        </p:nvSpPr>
        <p:spPr>
          <a:xfrm>
            <a:off x="506550" y="3087000"/>
            <a:ext cx="9627900" cy="5813100"/>
          </a:xfrm>
          <a:prstGeom prst="rect">
            <a:avLst/>
          </a:prstGeom>
          <a:solidFill>
            <a:srgbClr val="EEEEEE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760" name="Google Shape;760;p46"/>
          <p:cNvSpPr/>
          <p:nvPr/>
        </p:nvSpPr>
        <p:spPr>
          <a:xfrm>
            <a:off x="2676661" y="3268226"/>
            <a:ext cx="46695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Roboto"/>
                <a:ea typeface="Roboto"/>
                <a:cs typeface="Roboto"/>
                <a:sym typeface="Roboto"/>
              </a:rPr>
              <a:t>Our Classes</a:t>
            </a:r>
            <a:endParaRPr sz="2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761" name="Google Shape;761;p46"/>
          <p:cNvGrpSpPr/>
          <p:nvPr/>
        </p:nvGrpSpPr>
        <p:grpSpPr>
          <a:xfrm>
            <a:off x="901474" y="4057770"/>
            <a:ext cx="4135900" cy="3877470"/>
            <a:chOff x="6068524" y="3421201"/>
            <a:chExt cx="3602700" cy="4579509"/>
          </a:xfrm>
        </p:grpSpPr>
        <p:sp>
          <p:nvSpPr>
            <p:cNvPr id="762" name="Google Shape;762;p46"/>
            <p:cNvSpPr/>
            <p:nvPr/>
          </p:nvSpPr>
          <p:spPr>
            <a:xfrm>
              <a:off x="6068524" y="5735711"/>
              <a:ext cx="3602700" cy="2265000"/>
            </a:xfrm>
            <a:prstGeom prst="flowChartAlternateProcess">
              <a:avLst/>
            </a:prstGeom>
            <a:solidFill>
              <a:srgbClr val="FFFFFF"/>
            </a:solidFill>
            <a:ln cap="flat" cmpd="sng" w="52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550" lIns="50550" spcFirstLastPara="1" rIns="50550" wrap="square" tIns="50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rPr lang="en" sz="774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Camps (Ages 4 &amp; up)</a:t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t/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rPr lang="en" sz="774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Creative Holiday Adventures Filled with Fun &amp; Exploration</a:t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t/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rPr lang="en" sz="774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Our Art Camps are exciting multi-day creative programmes designed to keep children engaged through hands-on art projects, themed activities, and interactive experiences during the school holidays. Perfect for young artists who love to create, explore, and make new friends.</a:t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t/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rPr lang="en" sz="774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✔️ Fun-filled holiday art experiences</a:t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rPr lang="en" sz="774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✔️ Explore different mediums, crafts &amp; creative techniques</a:t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rPr lang="en" sz="774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✔️ Engaging themed activities &amp; guided projects</a:t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rPr lang="en" sz="774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✔️ All materials fully provided</a:t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rPr lang="en" sz="774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✔️ Beginner-friendly and highly interactive</a:t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63" name="Google Shape;763;p46"/>
            <p:cNvSpPr/>
            <p:nvPr/>
          </p:nvSpPr>
          <p:spPr>
            <a:xfrm>
              <a:off x="6068524" y="3421201"/>
              <a:ext cx="3602700" cy="2314500"/>
            </a:xfrm>
            <a:prstGeom prst="flowChartAlternateProcess">
              <a:avLst/>
            </a:prstGeom>
            <a:solidFill>
              <a:srgbClr val="FFFFFF"/>
            </a:solidFill>
            <a:ln cap="flat" cmpd="sng" w="52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550" lIns="50550" spcFirstLastPara="1" rIns="50550" wrap="square" tIns="50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8"/>
                <a:buFont typeface="Arial"/>
                <a:buNone/>
              </a:pPr>
              <a:r>
                <a:rPr lang="en" sz="719">
                  <a:latin typeface="Montserrat"/>
                  <a:ea typeface="Montserrat"/>
                  <a:cs typeface="Montserrat"/>
                  <a:sym typeface="Montserrat"/>
                </a:rPr>
                <a:t>Image</a:t>
              </a:r>
              <a:endParaRPr sz="719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764" name="Google Shape;764;p46"/>
          <p:cNvGrpSpPr/>
          <p:nvPr/>
        </p:nvGrpSpPr>
        <p:grpSpPr>
          <a:xfrm>
            <a:off x="5603374" y="4058019"/>
            <a:ext cx="4135900" cy="3877434"/>
            <a:chOff x="6068526" y="3421201"/>
            <a:chExt cx="3602700" cy="4579466"/>
          </a:xfrm>
        </p:grpSpPr>
        <p:sp>
          <p:nvSpPr>
            <p:cNvPr id="765" name="Google Shape;765;p46"/>
            <p:cNvSpPr/>
            <p:nvPr/>
          </p:nvSpPr>
          <p:spPr>
            <a:xfrm>
              <a:off x="6068526" y="5630067"/>
              <a:ext cx="3602700" cy="2370600"/>
            </a:xfrm>
            <a:prstGeom prst="flowChartAlternateProcess">
              <a:avLst/>
            </a:prstGeom>
            <a:solidFill>
              <a:srgbClr val="FFFFFF"/>
            </a:solidFill>
            <a:ln cap="flat" cmpd="sng" w="52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550" lIns="50550" spcFirstLastPara="1" rIns="50550" wrap="square" tIns="50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rPr lang="en" sz="774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Short Courses (Ages 4 &amp; up)</a:t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t/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rPr lang="en" sz="774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Focused Creative Learning in a Flexible Format</a:t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t/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rPr lang="en" sz="774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Our Short Courses are specially designed programmes that allow students to explore and develop specific art skills over a shorter commitment period. Perfect for learners who want a structured yet flexible creative learning experience.</a:t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t/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rPr lang="en" sz="774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✔️ Learn focused art skills through guided lessons</a:t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rPr lang="en" sz="774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✔️ Explore painting, sketching, crafts &amp; mixed media</a:t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rPr lang="en" sz="774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✔️ Structured learning in a shorter course format</a:t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rPr lang="en" sz="774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✔️ All materials fully provided</a:t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rPr lang="en" sz="774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✔️ Suitable for beginners and growing young artists</a:t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t/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2"/>
                <a:buFont typeface="Arial"/>
                <a:buNone/>
              </a:pPr>
              <a:r>
                <a:rPr lang="en" sz="774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See more Button leads to individual pages</a:t>
              </a:r>
              <a:endParaRPr sz="774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66" name="Google Shape;766;p46"/>
            <p:cNvSpPr/>
            <p:nvPr/>
          </p:nvSpPr>
          <p:spPr>
            <a:xfrm>
              <a:off x="6068526" y="3421201"/>
              <a:ext cx="3602700" cy="2208900"/>
            </a:xfrm>
            <a:prstGeom prst="flowChartAlternateProcess">
              <a:avLst/>
            </a:prstGeom>
            <a:solidFill>
              <a:srgbClr val="FFFFFF"/>
            </a:solidFill>
            <a:ln cap="flat" cmpd="sng" w="52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550" lIns="50550" spcFirstLastPara="1" rIns="50550" wrap="square" tIns="505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8"/>
                <a:buFont typeface="Arial"/>
                <a:buNone/>
              </a:pPr>
              <a:r>
                <a:rPr lang="en" sz="719">
                  <a:latin typeface="Montserrat"/>
                  <a:ea typeface="Montserrat"/>
                  <a:cs typeface="Montserrat"/>
                  <a:sym typeface="Montserrat"/>
                </a:rPr>
                <a:t>Image</a:t>
              </a:r>
              <a:endParaRPr sz="719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767" name="Google Shape;767;p46"/>
          <p:cNvSpPr/>
          <p:nvPr/>
        </p:nvSpPr>
        <p:spPr>
          <a:xfrm>
            <a:off x="516494" y="229375"/>
            <a:ext cx="9612300" cy="7239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768" name="Google Shape;768;p46"/>
          <p:cNvSpPr/>
          <p:nvPr/>
        </p:nvSpPr>
        <p:spPr>
          <a:xfrm>
            <a:off x="9714399" y="229386"/>
            <a:ext cx="407700" cy="35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769" name="Google Shape;769;p46"/>
          <p:cNvSpPr/>
          <p:nvPr/>
        </p:nvSpPr>
        <p:spPr>
          <a:xfrm>
            <a:off x="9391222" y="229380"/>
            <a:ext cx="366000" cy="35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770" name="Google Shape;770;p46"/>
          <p:cNvSpPr/>
          <p:nvPr/>
        </p:nvSpPr>
        <p:spPr>
          <a:xfrm>
            <a:off x="508700" y="953400"/>
            <a:ext cx="9612300" cy="21393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cxnSp>
        <p:nvCxnSpPr>
          <p:cNvPr id="771" name="Google Shape;771;p46"/>
          <p:cNvCxnSpPr/>
          <p:nvPr/>
        </p:nvCxnSpPr>
        <p:spPr>
          <a:xfrm>
            <a:off x="524136" y="953400"/>
            <a:ext cx="9612300" cy="2946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72" name="Google Shape;772;p46"/>
          <p:cNvCxnSpPr/>
          <p:nvPr/>
        </p:nvCxnSpPr>
        <p:spPr>
          <a:xfrm flipH="1" rot="10800000">
            <a:off x="508700" y="953264"/>
            <a:ext cx="9627900" cy="2916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73" name="Google Shape;773;p46"/>
          <p:cNvSpPr/>
          <p:nvPr/>
        </p:nvSpPr>
        <p:spPr>
          <a:xfrm>
            <a:off x="2988678" y="1745250"/>
            <a:ext cx="4731600" cy="1058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Montserrat"/>
                <a:ea typeface="Montserrat"/>
                <a:cs typeface="Montserrat"/>
                <a:sym typeface="Montserrat"/>
              </a:rPr>
              <a:t>Our Camps &amp; Courses</a:t>
            </a:r>
            <a:endParaRPr sz="2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Home &gt; </a:t>
            </a: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Our Camps &amp; Courses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4" name="Google Shape;774;p46"/>
          <p:cNvSpPr/>
          <p:nvPr/>
        </p:nvSpPr>
        <p:spPr>
          <a:xfrm>
            <a:off x="524146" y="228475"/>
            <a:ext cx="1042500" cy="723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Logo</a:t>
            </a:r>
            <a:endParaRPr sz="1500"/>
          </a:p>
        </p:txBody>
      </p:sp>
      <p:sp>
        <p:nvSpPr>
          <p:cNvPr id="775" name="Google Shape;775;p46"/>
          <p:cNvSpPr txBox="1"/>
          <p:nvPr/>
        </p:nvSpPr>
        <p:spPr>
          <a:xfrm>
            <a:off x="684158" y="3259451"/>
            <a:ext cx="266100" cy="2949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1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776" name="Google Shape;776;p46"/>
          <p:cNvSpPr/>
          <p:nvPr/>
        </p:nvSpPr>
        <p:spPr>
          <a:xfrm>
            <a:off x="4470491" y="228475"/>
            <a:ext cx="56598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NAVIGATION BAR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7" name="Google Shape;777;p46"/>
          <p:cNvSpPr/>
          <p:nvPr/>
        </p:nvSpPr>
        <p:spPr>
          <a:xfrm>
            <a:off x="684150" y="3259450"/>
            <a:ext cx="9234600" cy="5427600"/>
          </a:xfrm>
          <a:prstGeom prst="rect">
            <a:avLst/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46"/>
          <p:cNvSpPr/>
          <p:nvPr/>
        </p:nvSpPr>
        <p:spPr>
          <a:xfrm>
            <a:off x="2201116" y="8102103"/>
            <a:ext cx="1536600" cy="267000"/>
          </a:xfrm>
          <a:prstGeom prst="flowChartAlternateProcess">
            <a:avLst/>
          </a:prstGeom>
          <a:solidFill>
            <a:srgbClr val="FFFFFF"/>
          </a:solidFill>
          <a:ln cap="flat" cmpd="sng" w="6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275" lIns="65275" spcFirstLastPara="1" rIns="65275" wrap="square" tIns="6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5"/>
              <a:buFont typeface="Arial"/>
              <a:buNone/>
            </a:pPr>
            <a:r>
              <a:rPr lang="en" sz="928">
                <a:latin typeface="Montserrat"/>
                <a:ea typeface="Montserrat"/>
                <a:cs typeface="Montserrat"/>
                <a:sym typeface="Montserrat"/>
              </a:rPr>
              <a:t>See More</a:t>
            </a:r>
            <a:endParaRPr sz="928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9" name="Google Shape;779;p46"/>
          <p:cNvSpPr/>
          <p:nvPr/>
        </p:nvSpPr>
        <p:spPr>
          <a:xfrm>
            <a:off x="6903016" y="8102303"/>
            <a:ext cx="1536600" cy="267000"/>
          </a:xfrm>
          <a:prstGeom prst="flowChartAlternateProcess">
            <a:avLst/>
          </a:prstGeom>
          <a:solidFill>
            <a:srgbClr val="FFFFFF"/>
          </a:solidFill>
          <a:ln cap="flat" cmpd="sng" w="6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275" lIns="65275" spcFirstLastPara="1" rIns="65275" wrap="square" tIns="6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5"/>
              <a:buFont typeface="Arial"/>
              <a:buNone/>
            </a:pPr>
            <a:r>
              <a:rPr lang="en" sz="928">
                <a:latin typeface="Montserrat"/>
                <a:ea typeface="Montserrat"/>
                <a:cs typeface="Montserrat"/>
                <a:sym typeface="Montserrat"/>
              </a:rPr>
              <a:t>See More</a:t>
            </a:r>
            <a:endParaRPr sz="928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47"/>
          <p:cNvSpPr txBox="1"/>
          <p:nvPr/>
        </p:nvSpPr>
        <p:spPr>
          <a:xfrm>
            <a:off x="3637800" y="8100267"/>
            <a:ext cx="110124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19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PREPARED BY EPOS </a:t>
            </a:r>
            <a:endParaRPr sz="19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19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5" name="Google Shape;785;p47"/>
          <p:cNvSpPr txBox="1"/>
          <p:nvPr/>
        </p:nvSpPr>
        <p:spPr>
          <a:xfrm>
            <a:off x="3150900" y="3837900"/>
            <a:ext cx="11986200" cy="41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Our Camps</a:t>
            </a:r>
            <a:r>
              <a:rPr b="1" lang="en" sz="3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individual page</a:t>
            </a:r>
            <a:br>
              <a:rPr b="1" lang="en" sz="3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sz="3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0" name="Google Shape;790;p48"/>
          <p:cNvGraphicFramePr/>
          <p:nvPr/>
        </p:nvGraphicFramePr>
        <p:xfrm>
          <a:off x="10716050" y="748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{48FD2119-6418-421D-A403-E5465F0AB291}</a:tableStyleId>
              </a:tblPr>
              <a:tblGrid>
                <a:gridCol w="1174500"/>
                <a:gridCol w="2677250"/>
                <a:gridCol w="3245900"/>
              </a:tblGrid>
              <a:tr h="3231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Our Camps &amp; Courses page DESIGN STRUCTURE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133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1 -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Regular Art Classes Main banner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Header: Our Camps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Subheader: Home &gt; Our Camps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Banner Image:  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133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2- Scrollable banner - Parties and Events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Header: OUR FUN CAMPS!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Classes: 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Arts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Image: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Crafts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Image: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 Holiday Camp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Image: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 Artivity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Image: 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Image are to extract from reference website: </a:t>
                      </a:r>
                      <a:r>
                        <a:rPr lang="en" sz="1300" u="sng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https://www.achieversarts.com/camp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hMerge="1"/>
              </a:tr>
            </a:tbl>
          </a:graphicData>
        </a:graphic>
      </p:graphicFrame>
      <p:sp>
        <p:nvSpPr>
          <p:cNvPr id="791" name="Google Shape;791;p48"/>
          <p:cNvSpPr/>
          <p:nvPr/>
        </p:nvSpPr>
        <p:spPr>
          <a:xfrm>
            <a:off x="743725" y="3113575"/>
            <a:ext cx="9153000" cy="4280700"/>
          </a:xfrm>
          <a:prstGeom prst="rect">
            <a:avLst/>
          </a:prstGeom>
          <a:solidFill>
            <a:srgbClr val="FFFFFF"/>
          </a:solidFill>
          <a:ln cap="flat" cmpd="sng" w="360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6450" lIns="166450" spcFirstLastPara="1" rIns="166450" wrap="square" tIns="166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3"/>
          </a:p>
        </p:txBody>
      </p:sp>
      <p:sp>
        <p:nvSpPr>
          <p:cNvPr id="792" name="Google Shape;792;p48"/>
          <p:cNvSpPr/>
          <p:nvPr/>
        </p:nvSpPr>
        <p:spPr>
          <a:xfrm>
            <a:off x="891322" y="4241971"/>
            <a:ext cx="2442600" cy="2285700"/>
          </a:xfrm>
          <a:prstGeom prst="rect">
            <a:avLst/>
          </a:prstGeom>
          <a:solidFill>
            <a:srgbClr val="EEEEEE"/>
          </a:solidFill>
          <a:ln cap="flat" cmpd="sng" w="90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6450" lIns="166450" spcFirstLastPara="1" rIns="166450" wrap="square" tIns="166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8"/>
              <a:t>Image 1</a:t>
            </a:r>
            <a:endParaRPr sz="1418"/>
          </a:p>
        </p:txBody>
      </p:sp>
      <p:sp>
        <p:nvSpPr>
          <p:cNvPr id="793" name="Google Shape;793;p48"/>
          <p:cNvSpPr/>
          <p:nvPr/>
        </p:nvSpPr>
        <p:spPr>
          <a:xfrm>
            <a:off x="3598608" y="4241971"/>
            <a:ext cx="2442600" cy="2285700"/>
          </a:xfrm>
          <a:prstGeom prst="rect">
            <a:avLst/>
          </a:prstGeom>
          <a:solidFill>
            <a:srgbClr val="EEEEEE"/>
          </a:solidFill>
          <a:ln cap="flat" cmpd="sng" w="90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6450" lIns="166450" spcFirstLastPara="1" rIns="166450" wrap="square" tIns="166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Arial"/>
              <a:buNone/>
            </a:pPr>
            <a:r>
              <a:rPr lang="en" sz="1418">
                <a:solidFill>
                  <a:srgbClr val="000000"/>
                </a:solidFill>
              </a:rPr>
              <a:t> Image 2</a:t>
            </a:r>
            <a:endParaRPr sz="2553"/>
          </a:p>
        </p:txBody>
      </p:sp>
      <p:sp>
        <p:nvSpPr>
          <p:cNvPr id="794" name="Google Shape;794;p48"/>
          <p:cNvSpPr/>
          <p:nvPr/>
        </p:nvSpPr>
        <p:spPr>
          <a:xfrm>
            <a:off x="6305895" y="4241971"/>
            <a:ext cx="2442600" cy="2285700"/>
          </a:xfrm>
          <a:prstGeom prst="rect">
            <a:avLst/>
          </a:prstGeom>
          <a:solidFill>
            <a:srgbClr val="EEEEEE"/>
          </a:solidFill>
          <a:ln cap="flat" cmpd="sng" w="90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6450" lIns="166450" spcFirstLastPara="1" rIns="166450" wrap="square" tIns="166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Arial"/>
              <a:buNone/>
            </a:pPr>
            <a:r>
              <a:rPr lang="en" sz="1418">
                <a:solidFill>
                  <a:srgbClr val="000000"/>
                </a:solidFill>
              </a:rPr>
              <a:t>Image 3</a:t>
            </a:r>
            <a:endParaRPr sz="2553"/>
          </a:p>
        </p:txBody>
      </p:sp>
      <p:sp>
        <p:nvSpPr>
          <p:cNvPr id="795" name="Google Shape;795;p48"/>
          <p:cNvSpPr/>
          <p:nvPr/>
        </p:nvSpPr>
        <p:spPr>
          <a:xfrm>
            <a:off x="9013181" y="4241983"/>
            <a:ext cx="892800" cy="2285700"/>
          </a:xfrm>
          <a:prstGeom prst="rect">
            <a:avLst/>
          </a:prstGeom>
          <a:solidFill>
            <a:srgbClr val="EEEEEE"/>
          </a:solidFill>
          <a:ln cap="flat" cmpd="sng" w="90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6450" lIns="166450" spcFirstLastPara="1" rIns="166450" wrap="square" tIns="166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3"/>
          </a:p>
        </p:txBody>
      </p:sp>
      <p:cxnSp>
        <p:nvCxnSpPr>
          <p:cNvPr id="796" name="Google Shape;796;p48"/>
          <p:cNvCxnSpPr/>
          <p:nvPr/>
        </p:nvCxnSpPr>
        <p:spPr>
          <a:xfrm rot="10800000">
            <a:off x="3334191" y="5168684"/>
            <a:ext cx="6571800" cy="0"/>
          </a:xfrm>
          <a:prstGeom prst="straightConnector1">
            <a:avLst/>
          </a:prstGeom>
          <a:noFill/>
          <a:ln cap="flat" cmpd="sng" w="27025">
            <a:solidFill>
              <a:srgbClr val="595959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797" name="Google Shape;797;p48"/>
          <p:cNvSpPr txBox="1"/>
          <p:nvPr/>
        </p:nvSpPr>
        <p:spPr>
          <a:xfrm>
            <a:off x="7014640" y="4814311"/>
            <a:ext cx="17340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24" u="sng">
                <a:solidFill>
                  <a:srgbClr val="595959"/>
                </a:solidFill>
              </a:rPr>
              <a:t>Scrollable section</a:t>
            </a:r>
            <a:endParaRPr b="1" sz="1324" u="sng">
              <a:solidFill>
                <a:srgbClr val="595959"/>
              </a:solidFill>
            </a:endParaRPr>
          </a:p>
        </p:txBody>
      </p:sp>
      <p:sp>
        <p:nvSpPr>
          <p:cNvPr id="798" name="Google Shape;798;p48"/>
          <p:cNvSpPr/>
          <p:nvPr/>
        </p:nvSpPr>
        <p:spPr>
          <a:xfrm>
            <a:off x="3125425" y="3790260"/>
            <a:ext cx="4389600" cy="306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66450" lIns="166450" spcFirstLastPara="1" rIns="166450" wrap="square" tIns="166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7">
                <a:latin typeface="Montserrat"/>
                <a:ea typeface="Montserrat"/>
                <a:cs typeface="Montserrat"/>
                <a:sym typeface="Montserrat"/>
              </a:rPr>
              <a:t>OUR FUN CAMPS!</a:t>
            </a:r>
            <a:endParaRPr sz="1513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9" name="Google Shape;799;p48"/>
          <p:cNvSpPr/>
          <p:nvPr/>
        </p:nvSpPr>
        <p:spPr>
          <a:xfrm>
            <a:off x="777225" y="3790250"/>
            <a:ext cx="8465700" cy="3488700"/>
          </a:xfrm>
          <a:prstGeom prst="rect">
            <a:avLst/>
          </a:prstGeom>
          <a:noFill/>
          <a:ln cap="flat" cmpd="sng" w="180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425" lIns="86425" spcFirstLastPara="1" rIns="86425" wrap="square" tIns="86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4"/>
          </a:p>
        </p:txBody>
      </p:sp>
      <p:sp>
        <p:nvSpPr>
          <p:cNvPr id="800" name="Google Shape;800;p48"/>
          <p:cNvSpPr txBox="1"/>
          <p:nvPr/>
        </p:nvSpPr>
        <p:spPr>
          <a:xfrm>
            <a:off x="891323" y="4272091"/>
            <a:ext cx="260400" cy="306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1">
                <a:solidFill>
                  <a:srgbClr val="FFFFFF"/>
                </a:solidFill>
              </a:rPr>
              <a:t>2</a:t>
            </a:r>
            <a:endParaRPr b="1" sz="851">
              <a:solidFill>
                <a:srgbClr val="FFFFFF"/>
              </a:solidFill>
            </a:endParaRPr>
          </a:p>
        </p:txBody>
      </p:sp>
      <p:sp>
        <p:nvSpPr>
          <p:cNvPr id="801" name="Google Shape;801;p48"/>
          <p:cNvSpPr/>
          <p:nvPr/>
        </p:nvSpPr>
        <p:spPr>
          <a:xfrm>
            <a:off x="769960" y="749750"/>
            <a:ext cx="9138300" cy="7239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802" name="Google Shape;802;p48"/>
          <p:cNvSpPr/>
          <p:nvPr/>
        </p:nvSpPr>
        <p:spPr>
          <a:xfrm>
            <a:off x="9514175" y="749761"/>
            <a:ext cx="387600" cy="35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803" name="Google Shape;803;p48"/>
          <p:cNvSpPr/>
          <p:nvPr/>
        </p:nvSpPr>
        <p:spPr>
          <a:xfrm>
            <a:off x="9206938" y="749755"/>
            <a:ext cx="348000" cy="35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804" name="Google Shape;804;p48"/>
          <p:cNvSpPr/>
          <p:nvPr/>
        </p:nvSpPr>
        <p:spPr>
          <a:xfrm>
            <a:off x="762550" y="1473775"/>
            <a:ext cx="9138300" cy="21393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cxnSp>
        <p:nvCxnSpPr>
          <p:cNvPr id="805" name="Google Shape;805;p48"/>
          <p:cNvCxnSpPr/>
          <p:nvPr/>
        </p:nvCxnSpPr>
        <p:spPr>
          <a:xfrm>
            <a:off x="777225" y="1473775"/>
            <a:ext cx="9138300" cy="2946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06" name="Google Shape;806;p48"/>
          <p:cNvCxnSpPr/>
          <p:nvPr/>
        </p:nvCxnSpPr>
        <p:spPr>
          <a:xfrm flipH="1" rot="10800000">
            <a:off x="762550" y="1473640"/>
            <a:ext cx="9153000" cy="2916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07" name="Google Shape;807;p48"/>
          <p:cNvSpPr/>
          <p:nvPr/>
        </p:nvSpPr>
        <p:spPr>
          <a:xfrm>
            <a:off x="3120202" y="2265625"/>
            <a:ext cx="4498200" cy="1058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300">
                <a:latin typeface="Montserrat"/>
                <a:ea typeface="Montserrat"/>
                <a:cs typeface="Montserrat"/>
                <a:sym typeface="Montserrat"/>
              </a:rPr>
              <a:t>Our Camps</a:t>
            </a:r>
            <a:endParaRPr sz="2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Home &gt; Our Camps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8" name="Google Shape;808;p48"/>
          <p:cNvSpPr/>
          <p:nvPr/>
        </p:nvSpPr>
        <p:spPr>
          <a:xfrm>
            <a:off x="777234" y="748850"/>
            <a:ext cx="991200" cy="723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Logo</a:t>
            </a:r>
            <a:endParaRPr sz="1500"/>
          </a:p>
        </p:txBody>
      </p:sp>
      <p:sp>
        <p:nvSpPr>
          <p:cNvPr id="809" name="Google Shape;809;p48"/>
          <p:cNvSpPr txBox="1"/>
          <p:nvPr/>
        </p:nvSpPr>
        <p:spPr>
          <a:xfrm>
            <a:off x="929354" y="1637151"/>
            <a:ext cx="252900" cy="2949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1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810" name="Google Shape;810;p48"/>
          <p:cNvSpPr/>
          <p:nvPr/>
        </p:nvSpPr>
        <p:spPr>
          <a:xfrm>
            <a:off x="4528925" y="748850"/>
            <a:ext cx="53805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NAVIGATION BAR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1" name="Google Shape;811;p48"/>
          <p:cNvSpPr/>
          <p:nvPr/>
        </p:nvSpPr>
        <p:spPr>
          <a:xfrm>
            <a:off x="1181479" y="1713350"/>
            <a:ext cx="6895200" cy="1753500"/>
          </a:xfrm>
          <a:prstGeom prst="rect">
            <a:avLst/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48"/>
          <p:cNvSpPr/>
          <p:nvPr/>
        </p:nvSpPr>
        <p:spPr>
          <a:xfrm>
            <a:off x="1344325" y="6655582"/>
            <a:ext cx="1536600" cy="490200"/>
          </a:xfrm>
          <a:prstGeom prst="flowChartAlternateProcess">
            <a:avLst/>
          </a:prstGeom>
          <a:solidFill>
            <a:srgbClr val="FFFFFF"/>
          </a:solidFill>
          <a:ln cap="flat" cmpd="sng" w="6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275" lIns="65275" spcFirstLastPara="1" rIns="65275" wrap="square" tIns="6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5"/>
              <a:buFont typeface="Arial"/>
              <a:buNone/>
            </a:pPr>
            <a:r>
              <a:rPr lang="en" sz="928">
                <a:latin typeface="Montserrat"/>
                <a:ea typeface="Montserrat"/>
                <a:cs typeface="Montserrat"/>
                <a:sym typeface="Montserrat"/>
              </a:rPr>
              <a:t>Class Name</a:t>
            </a:r>
            <a:endParaRPr sz="928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3" name="Google Shape;813;p48"/>
          <p:cNvSpPr/>
          <p:nvPr/>
        </p:nvSpPr>
        <p:spPr>
          <a:xfrm>
            <a:off x="4051600" y="6672807"/>
            <a:ext cx="1536600" cy="490200"/>
          </a:xfrm>
          <a:prstGeom prst="flowChartAlternateProcess">
            <a:avLst/>
          </a:prstGeom>
          <a:solidFill>
            <a:srgbClr val="FFFFFF"/>
          </a:solidFill>
          <a:ln cap="flat" cmpd="sng" w="6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275" lIns="65275" spcFirstLastPara="1" rIns="65275" wrap="square" tIns="6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85"/>
              <a:buFont typeface="Arial"/>
              <a:buNone/>
            </a:pPr>
            <a:r>
              <a:rPr lang="en" sz="928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Class Name</a:t>
            </a:r>
            <a:endParaRPr sz="928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4" name="Google Shape;814;p48"/>
          <p:cNvSpPr/>
          <p:nvPr/>
        </p:nvSpPr>
        <p:spPr>
          <a:xfrm>
            <a:off x="6758875" y="6655582"/>
            <a:ext cx="1536600" cy="490200"/>
          </a:xfrm>
          <a:prstGeom prst="flowChartAlternateProcess">
            <a:avLst/>
          </a:prstGeom>
          <a:solidFill>
            <a:srgbClr val="FFFFFF"/>
          </a:solidFill>
          <a:ln cap="flat" cmpd="sng" w="6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275" lIns="65275" spcFirstLastPara="1" rIns="65275" wrap="square" tIns="6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85"/>
              <a:buFont typeface="Arial"/>
              <a:buNone/>
            </a:pPr>
            <a:r>
              <a:rPr lang="en" sz="928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Class Name</a:t>
            </a:r>
            <a:endParaRPr sz="928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" name="Google Shape;819;p49"/>
          <p:cNvGraphicFramePr/>
          <p:nvPr/>
        </p:nvGraphicFramePr>
        <p:xfrm>
          <a:off x="10716050" y="748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{48FD2119-6418-421D-A403-E5465F0AB291}</a:tableStyleId>
              </a:tblPr>
              <a:tblGrid>
                <a:gridCol w="1174500"/>
                <a:gridCol w="2677250"/>
                <a:gridCol w="3245900"/>
              </a:tblGrid>
              <a:tr h="3231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Camps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Page DESIGN STRUCTURE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133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1 -  Class Offerings: 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Refer to: </a:t>
                      </a:r>
                      <a:r>
                        <a:rPr lang="en" sz="1200" u="sng">
                          <a:solidFill>
                            <a:schemeClr val="hlink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3"/>
                        </a:rPr>
                        <a:t>beyond the canva offering writeup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See more button leads to individual class page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Image are to extract from reference website: </a:t>
                      </a:r>
                      <a:r>
                        <a:rPr lang="en" sz="13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4"/>
                        </a:rPr>
                        <a:t>https://www.achieversarts.com/camp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sp>
        <p:nvSpPr>
          <p:cNvPr id="820" name="Google Shape;820;p49"/>
          <p:cNvSpPr/>
          <p:nvPr/>
        </p:nvSpPr>
        <p:spPr>
          <a:xfrm>
            <a:off x="614550" y="797226"/>
            <a:ext cx="9146700" cy="3838500"/>
          </a:xfrm>
          <a:prstGeom prst="rect">
            <a:avLst/>
          </a:prstGeom>
          <a:solidFill>
            <a:srgbClr val="EEEEEE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cxnSp>
        <p:nvCxnSpPr>
          <p:cNvPr id="821" name="Google Shape;821;p49"/>
          <p:cNvCxnSpPr/>
          <p:nvPr/>
        </p:nvCxnSpPr>
        <p:spPr>
          <a:xfrm>
            <a:off x="626125" y="1277706"/>
            <a:ext cx="9138300" cy="2946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22" name="Google Shape;822;p49"/>
          <p:cNvCxnSpPr/>
          <p:nvPr/>
        </p:nvCxnSpPr>
        <p:spPr>
          <a:xfrm flipH="1" rot="10800000">
            <a:off x="611450" y="1277561"/>
            <a:ext cx="9153000" cy="2916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23" name="Google Shape;823;p49"/>
          <p:cNvSpPr/>
          <p:nvPr/>
        </p:nvSpPr>
        <p:spPr>
          <a:xfrm>
            <a:off x="869436" y="1765362"/>
            <a:ext cx="46695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Roboto"/>
                <a:ea typeface="Roboto"/>
                <a:cs typeface="Roboto"/>
                <a:sym typeface="Roboto"/>
              </a:rPr>
              <a:t>Class Name</a:t>
            </a:r>
            <a:endParaRPr sz="2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4" name="Google Shape;824;p49"/>
          <p:cNvSpPr/>
          <p:nvPr/>
        </p:nvSpPr>
        <p:spPr>
          <a:xfrm>
            <a:off x="1044590" y="3938525"/>
            <a:ext cx="1491600" cy="379800"/>
          </a:xfrm>
          <a:prstGeom prst="flowChartAlternateProcess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ontserrat"/>
                <a:ea typeface="Montserrat"/>
                <a:cs typeface="Montserrat"/>
                <a:sym typeface="Montserrat"/>
              </a:rPr>
              <a:t>See More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5" name="Google Shape;825;p49"/>
          <p:cNvSpPr txBox="1"/>
          <p:nvPr/>
        </p:nvSpPr>
        <p:spPr>
          <a:xfrm>
            <a:off x="791691" y="987885"/>
            <a:ext cx="252900" cy="2949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1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826" name="Google Shape;826;p49"/>
          <p:cNvSpPr/>
          <p:nvPr/>
        </p:nvSpPr>
        <p:spPr>
          <a:xfrm>
            <a:off x="904642" y="2402082"/>
            <a:ext cx="46695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&lt;Description&gt;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7" name="Google Shape;827;p49"/>
          <p:cNvSpPr/>
          <p:nvPr/>
        </p:nvSpPr>
        <p:spPr>
          <a:xfrm>
            <a:off x="5574150" y="1498625"/>
            <a:ext cx="3602700" cy="2770500"/>
          </a:xfrm>
          <a:prstGeom prst="flowChartAlternateProcess">
            <a:avLst/>
          </a:prstGeom>
          <a:solidFill>
            <a:srgbClr val="FFFFFF"/>
          </a:solidFill>
          <a:ln cap="flat" cmpd="sng" w="6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275" lIns="65275" spcFirstLastPara="1" rIns="65275" wrap="square" tIns="6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5"/>
              <a:buFont typeface="Arial"/>
              <a:buNone/>
            </a:pPr>
            <a:r>
              <a:rPr lang="en" sz="92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Product Image</a:t>
            </a:r>
            <a:endParaRPr sz="928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8" name="Google Shape;828;p49"/>
          <p:cNvSpPr/>
          <p:nvPr/>
        </p:nvSpPr>
        <p:spPr>
          <a:xfrm>
            <a:off x="2784661" y="748840"/>
            <a:ext cx="46695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Roboto"/>
                <a:ea typeface="Roboto"/>
                <a:cs typeface="Roboto"/>
                <a:sym typeface="Roboto"/>
              </a:rPr>
              <a:t>Category(Age)</a:t>
            </a:r>
            <a:endParaRPr sz="2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9" name="Google Shape;829;p49"/>
          <p:cNvSpPr/>
          <p:nvPr/>
        </p:nvSpPr>
        <p:spPr>
          <a:xfrm>
            <a:off x="621875" y="4684101"/>
            <a:ext cx="9146700" cy="3838500"/>
          </a:xfrm>
          <a:prstGeom prst="rect">
            <a:avLst/>
          </a:prstGeom>
          <a:solidFill>
            <a:srgbClr val="EEEEEE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cxnSp>
        <p:nvCxnSpPr>
          <p:cNvPr id="830" name="Google Shape;830;p49"/>
          <p:cNvCxnSpPr/>
          <p:nvPr/>
        </p:nvCxnSpPr>
        <p:spPr>
          <a:xfrm>
            <a:off x="633450" y="5164581"/>
            <a:ext cx="9138300" cy="2946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31" name="Google Shape;831;p49"/>
          <p:cNvCxnSpPr/>
          <p:nvPr/>
        </p:nvCxnSpPr>
        <p:spPr>
          <a:xfrm flipH="1" rot="10800000">
            <a:off x="618775" y="5164436"/>
            <a:ext cx="9153000" cy="2916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32" name="Google Shape;832;p49"/>
          <p:cNvSpPr/>
          <p:nvPr/>
        </p:nvSpPr>
        <p:spPr>
          <a:xfrm>
            <a:off x="876761" y="5652237"/>
            <a:ext cx="46695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Roboto"/>
                <a:ea typeface="Roboto"/>
                <a:cs typeface="Roboto"/>
                <a:sym typeface="Roboto"/>
              </a:rPr>
              <a:t>Class Name</a:t>
            </a:r>
            <a:endParaRPr sz="2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3" name="Google Shape;833;p49"/>
          <p:cNvSpPr/>
          <p:nvPr/>
        </p:nvSpPr>
        <p:spPr>
          <a:xfrm>
            <a:off x="1051915" y="7825400"/>
            <a:ext cx="1491600" cy="379800"/>
          </a:xfrm>
          <a:prstGeom prst="flowChartAlternateProcess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ontserrat"/>
                <a:ea typeface="Montserrat"/>
                <a:cs typeface="Montserrat"/>
                <a:sym typeface="Montserrat"/>
              </a:rPr>
              <a:t>See More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4" name="Google Shape;834;p49"/>
          <p:cNvSpPr/>
          <p:nvPr/>
        </p:nvSpPr>
        <p:spPr>
          <a:xfrm>
            <a:off x="911967" y="6288957"/>
            <a:ext cx="46695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&lt;Description&gt;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5" name="Google Shape;835;p49"/>
          <p:cNvSpPr/>
          <p:nvPr/>
        </p:nvSpPr>
        <p:spPr>
          <a:xfrm>
            <a:off x="5581475" y="5385500"/>
            <a:ext cx="3602700" cy="2770500"/>
          </a:xfrm>
          <a:prstGeom prst="flowChartAlternateProcess">
            <a:avLst/>
          </a:prstGeom>
          <a:solidFill>
            <a:srgbClr val="FFFFFF"/>
          </a:solidFill>
          <a:ln cap="flat" cmpd="sng" w="6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275" lIns="65275" spcFirstLastPara="1" rIns="65275" wrap="square" tIns="6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5"/>
              <a:buFont typeface="Arial"/>
              <a:buNone/>
            </a:pPr>
            <a:r>
              <a:rPr lang="en" sz="92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Product Image</a:t>
            </a:r>
            <a:endParaRPr sz="928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6" name="Google Shape;836;p49"/>
          <p:cNvSpPr/>
          <p:nvPr/>
        </p:nvSpPr>
        <p:spPr>
          <a:xfrm>
            <a:off x="2791986" y="4635715"/>
            <a:ext cx="46695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Roboto"/>
                <a:ea typeface="Roboto"/>
                <a:cs typeface="Roboto"/>
                <a:sym typeface="Roboto"/>
              </a:rPr>
              <a:t>Category(Age)</a:t>
            </a:r>
            <a:endParaRPr sz="2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7" name="Google Shape;837;p49"/>
          <p:cNvSpPr/>
          <p:nvPr/>
        </p:nvSpPr>
        <p:spPr>
          <a:xfrm>
            <a:off x="791700" y="987875"/>
            <a:ext cx="8747700" cy="7707000"/>
          </a:xfrm>
          <a:prstGeom prst="rect">
            <a:avLst/>
          </a:prstGeom>
          <a:noFill/>
          <a:ln cap="flat" cmpd="sng" w="172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750" lIns="82750" spcFirstLastPara="1" rIns="82750" wrap="square" tIns="82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67"/>
              <a:t> </a:t>
            </a:r>
            <a:endParaRPr sz="1267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50"/>
          <p:cNvSpPr txBox="1"/>
          <p:nvPr/>
        </p:nvSpPr>
        <p:spPr>
          <a:xfrm>
            <a:off x="3637800" y="8100267"/>
            <a:ext cx="110124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19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PREPARED BY EPOS </a:t>
            </a:r>
            <a:endParaRPr sz="19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19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3" name="Google Shape;843;p50"/>
          <p:cNvSpPr txBox="1"/>
          <p:nvPr/>
        </p:nvSpPr>
        <p:spPr>
          <a:xfrm>
            <a:off x="3637800" y="3013200"/>
            <a:ext cx="11012400" cy="4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Individual Camps Landing Page</a:t>
            </a:r>
            <a:endParaRPr b="1" sz="3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Pages to create: 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AutoNum type="arabicPeriod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Arts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AutoNum type="arabicPeriod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Crafts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AutoNum type="arabicPeriod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Holiday Camp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AutoNum type="arabicPeriod"/>
            </a:pPr>
            <a:r>
              <a:rPr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Artivity</a:t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*All to be same format*</a:t>
            </a:r>
            <a:endParaRPr b="1" sz="3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51"/>
          <p:cNvSpPr txBox="1"/>
          <p:nvPr/>
        </p:nvSpPr>
        <p:spPr>
          <a:xfrm>
            <a:off x="0" y="0"/>
            <a:ext cx="182880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02124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202124"/>
                </a:solidFill>
                <a:latin typeface="Montserrat"/>
                <a:ea typeface="Montserrat"/>
                <a:cs typeface="Montserrat"/>
                <a:sym typeface="Montserrat"/>
              </a:rPr>
              <a:t>Individual Landing Page(example)</a:t>
            </a:r>
            <a:endParaRPr b="1" sz="3300">
              <a:solidFill>
                <a:srgbClr val="20212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9" name="Google Shape;849;p51"/>
          <p:cNvSpPr/>
          <p:nvPr/>
        </p:nvSpPr>
        <p:spPr>
          <a:xfrm>
            <a:off x="247025" y="1314675"/>
            <a:ext cx="12133200" cy="72975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850" name="Google Shape;850;p51"/>
          <p:cNvSpPr/>
          <p:nvPr/>
        </p:nvSpPr>
        <p:spPr>
          <a:xfrm>
            <a:off x="260727" y="1314656"/>
            <a:ext cx="12123000" cy="410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NAVIGATION BAR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1" name="Google Shape;851;p51"/>
          <p:cNvSpPr/>
          <p:nvPr/>
        </p:nvSpPr>
        <p:spPr>
          <a:xfrm>
            <a:off x="260727" y="1724789"/>
            <a:ext cx="12123000" cy="410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2" name="Google Shape;852;p51"/>
          <p:cNvSpPr/>
          <p:nvPr/>
        </p:nvSpPr>
        <p:spPr>
          <a:xfrm>
            <a:off x="11918825" y="1314656"/>
            <a:ext cx="461400" cy="41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853" name="Google Shape;853;p51"/>
          <p:cNvSpPr/>
          <p:nvPr/>
        </p:nvSpPr>
        <p:spPr>
          <a:xfrm>
            <a:off x="11457425" y="1314656"/>
            <a:ext cx="461400" cy="41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854" name="Google Shape;854;p51"/>
          <p:cNvSpPr/>
          <p:nvPr/>
        </p:nvSpPr>
        <p:spPr>
          <a:xfrm>
            <a:off x="10996025" y="1314656"/>
            <a:ext cx="461400" cy="41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855" name="Google Shape;855;p51"/>
          <p:cNvSpPr/>
          <p:nvPr/>
        </p:nvSpPr>
        <p:spPr>
          <a:xfrm>
            <a:off x="10534625" y="1314656"/>
            <a:ext cx="461400" cy="41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856" name="Google Shape;856;p51"/>
          <p:cNvSpPr/>
          <p:nvPr/>
        </p:nvSpPr>
        <p:spPr>
          <a:xfrm>
            <a:off x="10073225" y="1314656"/>
            <a:ext cx="461400" cy="41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857" name="Google Shape;857;p51"/>
          <p:cNvSpPr/>
          <p:nvPr/>
        </p:nvSpPr>
        <p:spPr>
          <a:xfrm>
            <a:off x="9611825" y="1314656"/>
            <a:ext cx="461400" cy="41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858" name="Google Shape;858;p51"/>
          <p:cNvSpPr/>
          <p:nvPr/>
        </p:nvSpPr>
        <p:spPr>
          <a:xfrm>
            <a:off x="3439625" y="2568475"/>
            <a:ext cx="6741600" cy="588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Headline: &lt;Service Name&gt;</a:t>
            </a: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&lt;Description&gt;</a:t>
            </a:r>
            <a:endParaRPr sz="1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9" name="Google Shape;859;p51"/>
          <p:cNvSpPr/>
          <p:nvPr/>
        </p:nvSpPr>
        <p:spPr>
          <a:xfrm>
            <a:off x="838100" y="2568475"/>
            <a:ext cx="2325300" cy="2345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Header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&lt;Our Lessons&gt;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0" name="Google Shape;860;p51"/>
          <p:cNvSpPr/>
          <p:nvPr/>
        </p:nvSpPr>
        <p:spPr>
          <a:xfrm>
            <a:off x="260725" y="1314650"/>
            <a:ext cx="968400" cy="41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Logo</a:t>
            </a:r>
            <a:endParaRPr sz="1700"/>
          </a:p>
        </p:txBody>
      </p:sp>
      <p:sp>
        <p:nvSpPr>
          <p:cNvPr id="861" name="Google Shape;861;p51"/>
          <p:cNvSpPr/>
          <p:nvPr/>
        </p:nvSpPr>
        <p:spPr>
          <a:xfrm>
            <a:off x="3439625" y="3372100"/>
            <a:ext cx="6741600" cy="18951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Montserrat"/>
                <a:ea typeface="Montserrat"/>
                <a:cs typeface="Montserrat"/>
                <a:sym typeface="Montserrat"/>
              </a:rPr>
              <a:t>Image</a:t>
            </a:r>
            <a:endParaRPr sz="2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2" name="Google Shape;862;p51"/>
          <p:cNvSpPr/>
          <p:nvPr/>
        </p:nvSpPr>
        <p:spPr>
          <a:xfrm>
            <a:off x="3439625" y="5336854"/>
            <a:ext cx="6741600" cy="23457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Montserrat"/>
                <a:ea typeface="Montserrat"/>
                <a:cs typeface="Montserrat"/>
                <a:sym typeface="Montserrat"/>
              </a:rPr>
              <a:t>Lesson Description</a:t>
            </a:r>
            <a:endParaRPr sz="2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3" name="Google Shape;863;p51"/>
          <p:cNvSpPr/>
          <p:nvPr/>
        </p:nvSpPr>
        <p:spPr>
          <a:xfrm>
            <a:off x="1012250" y="3266718"/>
            <a:ext cx="1977000" cy="4008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Navigational button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&lt;Other classes&gt;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4" name="Google Shape;864;p51"/>
          <p:cNvSpPr/>
          <p:nvPr/>
        </p:nvSpPr>
        <p:spPr>
          <a:xfrm>
            <a:off x="1012250" y="3776846"/>
            <a:ext cx="1977000" cy="4008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Navigational button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&lt;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Other classes</a:t>
            </a: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5" name="Google Shape;865;p51"/>
          <p:cNvSpPr/>
          <p:nvPr/>
        </p:nvSpPr>
        <p:spPr>
          <a:xfrm>
            <a:off x="1012250" y="4286971"/>
            <a:ext cx="1977000" cy="4008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ontserrat"/>
                <a:ea typeface="Montserrat"/>
                <a:cs typeface="Montserrat"/>
                <a:sym typeface="Montserrat"/>
              </a:rPr>
              <a:t>Navigational button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ontserrat"/>
                <a:ea typeface="Montserrat"/>
                <a:cs typeface="Montserrat"/>
                <a:sym typeface="Montserrat"/>
              </a:rPr>
              <a:t>&lt;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Other classes</a:t>
            </a:r>
            <a:r>
              <a:rPr lang="en" sz="1100">
                <a:latin typeface="Montserrat"/>
                <a:ea typeface="Montserrat"/>
                <a:cs typeface="Montserrat"/>
                <a:sym typeface="Montserrat"/>
              </a:rPr>
              <a:t>&gt;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866" name="Google Shape;866;p51"/>
          <p:cNvGraphicFramePr/>
          <p:nvPr/>
        </p:nvGraphicFramePr>
        <p:xfrm>
          <a:off x="12841625" y="1196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{48FD2119-6418-421D-A403-E5465F0AB291}</a:tableStyleId>
              </a:tblPr>
              <a:tblGrid>
                <a:gridCol w="848475"/>
                <a:gridCol w="1874425"/>
                <a:gridCol w="2294600"/>
              </a:tblGrid>
              <a:tr h="563225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PAGE DESIGN STRUCTURE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6581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1 - Individual service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Section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Images, description &amp;  hyperlinks to be based on the previous websites: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SzPts val="1300"/>
                        <a:buFont typeface="Roboto"/>
                        <a:buAutoNum type="arabicPeriod"/>
                      </a:pPr>
                      <a:r>
                        <a:rPr lang="en" sz="13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https://www.achieversarts.com/artcamp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4"/>
                        </a:rPr>
                        <a:t>https://www.achieversarts.com/craftcamp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5"/>
                        </a:rPr>
                        <a:t>https://www.achieversarts.com/holidaycamp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Descriptions to be based on: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sng">
                          <a:solidFill>
                            <a:schemeClr val="hlink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6"/>
                        </a:rPr>
                        <a:t>beyond the canva offering writeup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Other lessons should include all others except for the current lesson. Hyperlinks to their individual pages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1" name="Google Shape;871;p52"/>
          <p:cNvGraphicFramePr/>
          <p:nvPr/>
        </p:nvGraphicFramePr>
        <p:xfrm>
          <a:off x="10680850" y="882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{48FD2119-6418-421D-A403-E5465F0AB291}</a:tableStyleId>
              </a:tblPr>
              <a:tblGrid>
                <a:gridCol w="1200225"/>
                <a:gridCol w="2651525"/>
                <a:gridCol w="3245900"/>
              </a:tblGrid>
              <a:tr h="26105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Individual Landing Page DESIGN STRUCTURE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673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1- Scrollable banner - Gallery 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Images to put in: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Extract as per their previous website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1265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2 - Appointment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Section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Header: Ask us questions/ Book an appointment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Elements: 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Name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Phone Number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Email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Children Age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Preferred Mode of contact: Whatsapp (checkbox)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Our Studio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Dropdown:’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Tampines Studio (Our Tampines Hub)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Pasir Ris (Downtown East)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Bedok (Bedok HeartBeat)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Programme Type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Dropdown: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Arts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Crafts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Holiday Camp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Artivity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Message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Button “Send Enquiry”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Can follow the reference of this site: </a:t>
                      </a:r>
                      <a:r>
                        <a:rPr lang="en" sz="13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Art Studio Our Tampines Hub | Downtown East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sp>
        <p:nvSpPr>
          <p:cNvPr id="872" name="Google Shape;872;p52"/>
          <p:cNvSpPr txBox="1"/>
          <p:nvPr/>
        </p:nvSpPr>
        <p:spPr>
          <a:xfrm>
            <a:off x="0" y="0"/>
            <a:ext cx="182880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300">
                <a:solidFill>
                  <a:srgbClr val="202124"/>
                </a:solidFill>
                <a:latin typeface="Montserrat"/>
                <a:ea typeface="Montserrat"/>
                <a:cs typeface="Montserrat"/>
                <a:sym typeface="Montserrat"/>
              </a:rPr>
              <a:t>Individual Landing Page(example)</a:t>
            </a:r>
            <a:endParaRPr b="1" sz="3300">
              <a:solidFill>
                <a:srgbClr val="20212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3" name="Google Shape;873;p52"/>
          <p:cNvSpPr/>
          <p:nvPr/>
        </p:nvSpPr>
        <p:spPr>
          <a:xfrm>
            <a:off x="390580" y="769550"/>
            <a:ext cx="9120900" cy="3548100"/>
          </a:xfrm>
          <a:prstGeom prst="rect">
            <a:avLst/>
          </a:prstGeom>
          <a:solidFill>
            <a:schemeClr val="lt1"/>
          </a:solidFill>
          <a:ln cap="flat" cmpd="sng" w="341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7825" lIns="157825" spcFirstLastPara="1" rIns="157825" wrap="square" tIns="157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20"/>
          </a:p>
        </p:txBody>
      </p:sp>
      <p:sp>
        <p:nvSpPr>
          <p:cNvPr id="874" name="Google Shape;874;p52"/>
          <p:cNvSpPr txBox="1"/>
          <p:nvPr/>
        </p:nvSpPr>
        <p:spPr>
          <a:xfrm>
            <a:off x="597117" y="1106540"/>
            <a:ext cx="252600" cy="3204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81950" lIns="81950" spcFirstLastPara="1" rIns="81950" wrap="square" tIns="81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7">
                <a:solidFill>
                  <a:srgbClr val="FFFFFF"/>
                </a:solidFill>
              </a:rPr>
              <a:t>1</a:t>
            </a:r>
            <a:endParaRPr b="1" sz="807">
              <a:solidFill>
                <a:srgbClr val="FFFFFF"/>
              </a:solidFill>
            </a:endParaRPr>
          </a:p>
        </p:txBody>
      </p:sp>
      <p:sp>
        <p:nvSpPr>
          <p:cNvPr id="875" name="Google Shape;875;p52"/>
          <p:cNvSpPr/>
          <p:nvPr/>
        </p:nvSpPr>
        <p:spPr>
          <a:xfrm>
            <a:off x="512090" y="1543769"/>
            <a:ext cx="2298600" cy="2227500"/>
          </a:xfrm>
          <a:prstGeom prst="rect">
            <a:avLst/>
          </a:prstGeom>
          <a:solidFill>
            <a:schemeClr val="lt2"/>
          </a:solidFill>
          <a:ln cap="flat" cmpd="sng" w="8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7825" lIns="157825" spcFirstLastPara="1" rIns="157825" wrap="square" tIns="157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5"/>
              <a:t>Gallery Image</a:t>
            </a:r>
            <a:endParaRPr sz="1345"/>
          </a:p>
        </p:txBody>
      </p:sp>
      <p:sp>
        <p:nvSpPr>
          <p:cNvPr id="876" name="Google Shape;876;p52"/>
          <p:cNvSpPr/>
          <p:nvPr/>
        </p:nvSpPr>
        <p:spPr>
          <a:xfrm>
            <a:off x="849681" y="858500"/>
            <a:ext cx="8378400" cy="3115800"/>
          </a:xfrm>
          <a:prstGeom prst="rect">
            <a:avLst/>
          </a:prstGeom>
          <a:noFill/>
          <a:ln cap="flat" cmpd="sng" w="170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950" lIns="81950" spcFirstLastPara="1" rIns="81950" wrap="square" tIns="81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5"/>
          </a:p>
        </p:txBody>
      </p:sp>
      <p:sp>
        <p:nvSpPr>
          <p:cNvPr id="877" name="Google Shape;877;p52"/>
          <p:cNvSpPr/>
          <p:nvPr/>
        </p:nvSpPr>
        <p:spPr>
          <a:xfrm>
            <a:off x="2946943" y="1543769"/>
            <a:ext cx="2298600" cy="2227500"/>
          </a:xfrm>
          <a:prstGeom prst="rect">
            <a:avLst/>
          </a:prstGeom>
          <a:solidFill>
            <a:schemeClr val="lt2"/>
          </a:solidFill>
          <a:ln cap="flat" cmpd="sng" w="8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7825" lIns="157825" spcFirstLastPara="1" rIns="157825" wrap="square" tIns="157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5"/>
              <a:t>Gallery Image</a:t>
            </a:r>
            <a:endParaRPr sz="1345"/>
          </a:p>
        </p:txBody>
      </p:sp>
      <p:sp>
        <p:nvSpPr>
          <p:cNvPr id="878" name="Google Shape;878;p52"/>
          <p:cNvSpPr/>
          <p:nvPr/>
        </p:nvSpPr>
        <p:spPr>
          <a:xfrm>
            <a:off x="5381797" y="1543769"/>
            <a:ext cx="2298600" cy="2227500"/>
          </a:xfrm>
          <a:prstGeom prst="rect">
            <a:avLst/>
          </a:prstGeom>
          <a:solidFill>
            <a:schemeClr val="lt2"/>
          </a:solidFill>
          <a:ln cap="flat" cmpd="sng" w="8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7825" lIns="157825" spcFirstLastPara="1" rIns="157825" wrap="square" tIns="157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5"/>
              <a:t>Gallery Image</a:t>
            </a:r>
            <a:endParaRPr sz="1345"/>
          </a:p>
        </p:txBody>
      </p:sp>
      <p:sp>
        <p:nvSpPr>
          <p:cNvPr id="879" name="Google Shape;879;p52"/>
          <p:cNvSpPr/>
          <p:nvPr/>
        </p:nvSpPr>
        <p:spPr>
          <a:xfrm>
            <a:off x="7816650" y="1543771"/>
            <a:ext cx="1694700" cy="2227500"/>
          </a:xfrm>
          <a:prstGeom prst="rect">
            <a:avLst/>
          </a:prstGeom>
          <a:solidFill>
            <a:schemeClr val="lt2"/>
          </a:solidFill>
          <a:ln cap="flat" cmpd="sng" w="8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7825" lIns="157825" spcFirstLastPara="1" rIns="157825" wrap="square" tIns="157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45"/>
              <a:t>Gallery Image</a:t>
            </a:r>
            <a:endParaRPr sz="1345"/>
          </a:p>
        </p:txBody>
      </p:sp>
      <p:sp>
        <p:nvSpPr>
          <p:cNvPr id="880" name="Google Shape;880;p52"/>
          <p:cNvSpPr/>
          <p:nvPr/>
        </p:nvSpPr>
        <p:spPr>
          <a:xfrm>
            <a:off x="390583" y="8362527"/>
            <a:ext cx="9120900" cy="554700"/>
          </a:xfrm>
          <a:prstGeom prst="rect">
            <a:avLst/>
          </a:prstGeom>
          <a:solidFill>
            <a:schemeClr val="lt2"/>
          </a:solidFill>
          <a:ln cap="flat" cmpd="sng" w="359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6025" lIns="166025" spcFirstLastPara="1" rIns="166025" wrap="square" tIns="16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86">
                <a:latin typeface="Montserrat"/>
                <a:ea typeface="Montserrat"/>
                <a:cs typeface="Montserrat"/>
                <a:sym typeface="Montserrat"/>
              </a:rPr>
              <a:t>As per default footer in mainpage</a:t>
            </a:r>
            <a:endParaRPr sz="188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1" name="Google Shape;881;p52"/>
          <p:cNvSpPr/>
          <p:nvPr/>
        </p:nvSpPr>
        <p:spPr>
          <a:xfrm>
            <a:off x="3962232" y="4308382"/>
            <a:ext cx="1974000" cy="410700"/>
          </a:xfrm>
          <a:prstGeom prst="flowChartAlternateProcess">
            <a:avLst/>
          </a:prstGeom>
          <a:solidFill>
            <a:srgbClr val="FFFFFF"/>
          </a:solidFill>
          <a:ln cap="flat" cmpd="sng" w="897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225" lIns="86225" spcFirstLastPara="1" rIns="86225" wrap="square" tIns="86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26">
                <a:latin typeface="Montserrat"/>
                <a:ea typeface="Montserrat"/>
                <a:cs typeface="Montserrat"/>
                <a:sym typeface="Montserrat"/>
              </a:rPr>
              <a:t>Click to see more</a:t>
            </a:r>
            <a:endParaRPr sz="1226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26">
                <a:latin typeface="Montserrat"/>
                <a:ea typeface="Montserrat"/>
                <a:cs typeface="Montserrat"/>
                <a:sym typeface="Montserrat"/>
              </a:rPr>
              <a:t>(Navigational button) </a:t>
            </a:r>
            <a:endParaRPr sz="122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2" name="Google Shape;882;p52"/>
          <p:cNvSpPr/>
          <p:nvPr/>
        </p:nvSpPr>
        <p:spPr>
          <a:xfrm>
            <a:off x="387000" y="4573389"/>
            <a:ext cx="9120900" cy="265200"/>
          </a:xfrm>
          <a:prstGeom prst="rect">
            <a:avLst/>
          </a:prstGeom>
          <a:solidFill>
            <a:srgbClr val="FFFFFF"/>
          </a:solidFill>
          <a:ln cap="flat" cmpd="sng" w="897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6025" lIns="166025" spcFirstLastPara="1" rIns="166025" wrap="square" tIns="16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2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3" name="Google Shape;883;p52"/>
          <p:cNvSpPr/>
          <p:nvPr/>
        </p:nvSpPr>
        <p:spPr>
          <a:xfrm>
            <a:off x="390583" y="4308385"/>
            <a:ext cx="9120900" cy="4054200"/>
          </a:xfrm>
          <a:prstGeom prst="rect">
            <a:avLst/>
          </a:prstGeom>
          <a:solidFill>
            <a:srgbClr val="EEEEEE"/>
          </a:solidFill>
          <a:ln cap="flat" cmpd="sng" w="359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6025" lIns="166025" spcFirstLastPara="1" rIns="166025" wrap="square" tIns="16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46"/>
          </a:p>
        </p:txBody>
      </p:sp>
      <p:sp>
        <p:nvSpPr>
          <p:cNvPr id="884" name="Google Shape;884;p52"/>
          <p:cNvSpPr/>
          <p:nvPr/>
        </p:nvSpPr>
        <p:spPr>
          <a:xfrm>
            <a:off x="2352635" y="4409267"/>
            <a:ext cx="4776300" cy="265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66025" lIns="166025" spcFirstLastPara="1" rIns="166025" wrap="square" tIns="16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3">
                <a:latin typeface="Montserrat"/>
                <a:ea typeface="Montserrat"/>
                <a:cs typeface="Montserrat"/>
                <a:sym typeface="Montserrat"/>
              </a:rPr>
              <a:t>Ask us questions/ Book an appointment</a:t>
            </a:r>
            <a:endParaRPr sz="150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5" name="Google Shape;885;p52"/>
          <p:cNvSpPr txBox="1"/>
          <p:nvPr/>
        </p:nvSpPr>
        <p:spPr>
          <a:xfrm>
            <a:off x="933570" y="4407050"/>
            <a:ext cx="252600" cy="265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86225" lIns="86225" spcFirstLastPara="1" rIns="86225" wrap="square" tIns="86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49">
                <a:solidFill>
                  <a:srgbClr val="FFFFFF"/>
                </a:solidFill>
              </a:rPr>
              <a:t>2</a:t>
            </a:r>
            <a:endParaRPr b="1" sz="849">
              <a:solidFill>
                <a:srgbClr val="FFFFFF"/>
              </a:solidFill>
            </a:endParaRPr>
          </a:p>
        </p:txBody>
      </p:sp>
      <p:sp>
        <p:nvSpPr>
          <p:cNvPr id="886" name="Google Shape;886;p52"/>
          <p:cNvSpPr/>
          <p:nvPr/>
        </p:nvSpPr>
        <p:spPr>
          <a:xfrm>
            <a:off x="1420286" y="5096279"/>
            <a:ext cx="7279200" cy="220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294"/>
              <a:buFont typeface="Arial"/>
              <a:buNone/>
            </a:pPr>
            <a:r>
              <a:rPr b="0" i="0" lang="en" sz="1294" u="none" cap="none" strike="noStrike">
                <a:solidFill>
                  <a:srgbClr val="8A9880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 b="0" i="0" sz="129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52"/>
          <p:cNvSpPr/>
          <p:nvPr/>
        </p:nvSpPr>
        <p:spPr>
          <a:xfrm>
            <a:off x="1420286" y="5459334"/>
            <a:ext cx="7279200" cy="220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294"/>
              <a:buFont typeface="Arial"/>
              <a:buNone/>
            </a:pPr>
            <a:r>
              <a:rPr lang="en" sz="1294">
                <a:solidFill>
                  <a:srgbClr val="8A9880"/>
                </a:solidFill>
              </a:rPr>
              <a:t>Phone Number</a:t>
            </a:r>
            <a:endParaRPr b="0" i="0" sz="129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52"/>
          <p:cNvSpPr/>
          <p:nvPr/>
        </p:nvSpPr>
        <p:spPr>
          <a:xfrm>
            <a:off x="1420286" y="5743377"/>
            <a:ext cx="7279200" cy="220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294"/>
              <a:buFont typeface="Arial"/>
              <a:buNone/>
            </a:pPr>
            <a:r>
              <a:rPr b="0" i="0" lang="en" sz="1294" u="none" cap="none" strike="noStrike">
                <a:solidFill>
                  <a:srgbClr val="8A9880"/>
                </a:solidFill>
                <a:latin typeface="Arial"/>
                <a:ea typeface="Arial"/>
                <a:cs typeface="Arial"/>
                <a:sym typeface="Arial"/>
              </a:rPr>
              <a:t>Email</a:t>
            </a:r>
            <a:endParaRPr b="0" i="0" sz="129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52"/>
          <p:cNvSpPr/>
          <p:nvPr/>
        </p:nvSpPr>
        <p:spPr>
          <a:xfrm>
            <a:off x="1420286" y="6043222"/>
            <a:ext cx="7279200" cy="220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294"/>
              <a:buFont typeface="Arial"/>
              <a:buNone/>
            </a:pPr>
            <a:r>
              <a:rPr lang="en" sz="1294">
                <a:solidFill>
                  <a:srgbClr val="8A9880"/>
                </a:solidFill>
              </a:rPr>
              <a:t>Children Age</a:t>
            </a:r>
            <a:endParaRPr b="0" i="0" sz="129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52"/>
          <p:cNvSpPr/>
          <p:nvPr/>
        </p:nvSpPr>
        <p:spPr>
          <a:xfrm>
            <a:off x="1420286" y="6358869"/>
            <a:ext cx="7279200" cy="220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294"/>
              <a:buFont typeface="Arial"/>
              <a:buNone/>
            </a:pPr>
            <a:r>
              <a:rPr lang="en" sz="1294">
                <a:solidFill>
                  <a:srgbClr val="8A9880"/>
                </a:solidFill>
              </a:rPr>
              <a:t>Our Studio</a:t>
            </a:r>
            <a:endParaRPr b="0" i="0" sz="129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52"/>
          <p:cNvSpPr/>
          <p:nvPr/>
        </p:nvSpPr>
        <p:spPr>
          <a:xfrm>
            <a:off x="1420282" y="7684886"/>
            <a:ext cx="2184300" cy="3480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410"/>
              </a:buClr>
              <a:buSzPts val="1493"/>
              <a:buFont typeface="Arial"/>
              <a:buNone/>
            </a:pPr>
            <a:r>
              <a:rPr b="1" i="0" lang="en" sz="1493" u="none" cap="none" strike="noStrike">
                <a:solidFill>
                  <a:srgbClr val="1A2410"/>
                </a:solidFill>
                <a:latin typeface="Arial"/>
                <a:ea typeface="Arial"/>
                <a:cs typeface="Arial"/>
                <a:sym typeface="Arial"/>
              </a:rPr>
              <a:t>SEND ENQUIRY</a:t>
            </a:r>
            <a:endParaRPr b="0" i="0" sz="149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52"/>
          <p:cNvSpPr/>
          <p:nvPr/>
        </p:nvSpPr>
        <p:spPr>
          <a:xfrm>
            <a:off x="1420290" y="7030519"/>
            <a:ext cx="7279200" cy="5547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294"/>
              <a:buFont typeface="Arial"/>
              <a:buNone/>
            </a:pPr>
            <a:r>
              <a:rPr lang="en" sz="1294">
                <a:solidFill>
                  <a:srgbClr val="8A9880"/>
                </a:solidFill>
              </a:rPr>
              <a:t>Message</a:t>
            </a:r>
            <a:endParaRPr b="0" i="0" sz="129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52"/>
          <p:cNvSpPr/>
          <p:nvPr/>
        </p:nvSpPr>
        <p:spPr>
          <a:xfrm flipH="1">
            <a:off x="1155791" y="4441278"/>
            <a:ext cx="7968600" cy="3689400"/>
          </a:xfrm>
          <a:prstGeom prst="rect">
            <a:avLst/>
          </a:prstGeom>
          <a:noFill/>
          <a:ln cap="flat" cmpd="sng" w="179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225" lIns="86225" spcFirstLastPara="1" rIns="86225" wrap="square" tIns="8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4" name="Google Shape;894;p52"/>
          <p:cNvSpPr/>
          <p:nvPr/>
        </p:nvSpPr>
        <p:spPr>
          <a:xfrm>
            <a:off x="1424170" y="6657898"/>
            <a:ext cx="7279200" cy="2208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294"/>
              <a:buFont typeface="Arial"/>
              <a:buNone/>
            </a:pPr>
            <a:r>
              <a:rPr lang="en" sz="1294">
                <a:solidFill>
                  <a:srgbClr val="8A9880"/>
                </a:solidFill>
              </a:rPr>
              <a:t>Programme Type</a:t>
            </a:r>
            <a:endParaRPr b="0" i="0" sz="129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53"/>
          <p:cNvSpPr txBox="1"/>
          <p:nvPr/>
        </p:nvSpPr>
        <p:spPr>
          <a:xfrm>
            <a:off x="3637800" y="8100267"/>
            <a:ext cx="110124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19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PREPARED BY EPOS </a:t>
            </a:r>
            <a:endParaRPr sz="19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19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0" name="Google Shape;900;p53"/>
          <p:cNvSpPr txBox="1"/>
          <p:nvPr/>
        </p:nvSpPr>
        <p:spPr>
          <a:xfrm>
            <a:off x="3150900" y="3837900"/>
            <a:ext cx="11986200" cy="41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Short Courses</a:t>
            </a:r>
            <a:r>
              <a:rPr b="1" lang="en" sz="3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individual page</a:t>
            </a:r>
            <a:br>
              <a:rPr b="1" lang="en" sz="3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sz="3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5" name="Google Shape;905;p54"/>
          <p:cNvGraphicFramePr/>
          <p:nvPr/>
        </p:nvGraphicFramePr>
        <p:xfrm>
          <a:off x="10716050" y="748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{48FD2119-6418-421D-A403-E5465F0AB291}</a:tableStyleId>
              </a:tblPr>
              <a:tblGrid>
                <a:gridCol w="1174500"/>
                <a:gridCol w="2677250"/>
                <a:gridCol w="3245900"/>
              </a:tblGrid>
              <a:tr h="3231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Short Courses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page DESIGN STRUCTURE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133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1 -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Regular Art Classes Main banner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Header: 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Short Courses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Subheader: Home &gt; 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Short Courses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Banner Image:  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133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2- Scrollable banner - Parties and Events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Header: OUR SHORT COURSES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Classes: 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Foundation Art (Age 3-5)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Image: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Manga Drawing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Image: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 Water Colour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Image: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 Digital Art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Image: 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 Fashion Illustration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Image: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Image are to extract from reference website: 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https://www.achieversarts.com/short-courses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hMerge="1"/>
              </a:tr>
            </a:tbl>
          </a:graphicData>
        </a:graphic>
      </p:graphicFrame>
      <p:sp>
        <p:nvSpPr>
          <p:cNvPr id="906" name="Google Shape;906;p54"/>
          <p:cNvSpPr/>
          <p:nvPr/>
        </p:nvSpPr>
        <p:spPr>
          <a:xfrm>
            <a:off x="743725" y="3113575"/>
            <a:ext cx="9153000" cy="4280700"/>
          </a:xfrm>
          <a:prstGeom prst="rect">
            <a:avLst/>
          </a:prstGeom>
          <a:solidFill>
            <a:srgbClr val="FFFFFF"/>
          </a:solidFill>
          <a:ln cap="flat" cmpd="sng" w="360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6450" lIns="166450" spcFirstLastPara="1" rIns="166450" wrap="square" tIns="166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3"/>
          </a:p>
        </p:txBody>
      </p:sp>
      <p:sp>
        <p:nvSpPr>
          <p:cNvPr id="907" name="Google Shape;907;p54"/>
          <p:cNvSpPr/>
          <p:nvPr/>
        </p:nvSpPr>
        <p:spPr>
          <a:xfrm>
            <a:off x="891322" y="4241971"/>
            <a:ext cx="2442600" cy="2285700"/>
          </a:xfrm>
          <a:prstGeom prst="rect">
            <a:avLst/>
          </a:prstGeom>
          <a:solidFill>
            <a:srgbClr val="EEEEEE"/>
          </a:solidFill>
          <a:ln cap="flat" cmpd="sng" w="90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6450" lIns="166450" spcFirstLastPara="1" rIns="166450" wrap="square" tIns="166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8"/>
              <a:t>Image 1</a:t>
            </a:r>
            <a:endParaRPr sz="1418"/>
          </a:p>
        </p:txBody>
      </p:sp>
      <p:sp>
        <p:nvSpPr>
          <p:cNvPr id="908" name="Google Shape;908;p54"/>
          <p:cNvSpPr/>
          <p:nvPr/>
        </p:nvSpPr>
        <p:spPr>
          <a:xfrm>
            <a:off x="3598608" y="4241971"/>
            <a:ext cx="2442600" cy="2285700"/>
          </a:xfrm>
          <a:prstGeom prst="rect">
            <a:avLst/>
          </a:prstGeom>
          <a:solidFill>
            <a:srgbClr val="EEEEEE"/>
          </a:solidFill>
          <a:ln cap="flat" cmpd="sng" w="90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6450" lIns="166450" spcFirstLastPara="1" rIns="166450" wrap="square" tIns="166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Arial"/>
              <a:buNone/>
            </a:pPr>
            <a:r>
              <a:rPr lang="en" sz="1418">
                <a:solidFill>
                  <a:srgbClr val="000000"/>
                </a:solidFill>
              </a:rPr>
              <a:t> Image 2</a:t>
            </a:r>
            <a:endParaRPr sz="2553"/>
          </a:p>
        </p:txBody>
      </p:sp>
      <p:sp>
        <p:nvSpPr>
          <p:cNvPr id="909" name="Google Shape;909;p54"/>
          <p:cNvSpPr/>
          <p:nvPr/>
        </p:nvSpPr>
        <p:spPr>
          <a:xfrm>
            <a:off x="6305895" y="4241971"/>
            <a:ext cx="2442600" cy="2285700"/>
          </a:xfrm>
          <a:prstGeom prst="rect">
            <a:avLst/>
          </a:prstGeom>
          <a:solidFill>
            <a:srgbClr val="EEEEEE"/>
          </a:solidFill>
          <a:ln cap="flat" cmpd="sng" w="90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6450" lIns="166450" spcFirstLastPara="1" rIns="166450" wrap="square" tIns="166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"/>
              <a:buFont typeface="Arial"/>
              <a:buNone/>
            </a:pPr>
            <a:r>
              <a:rPr lang="en" sz="1418">
                <a:solidFill>
                  <a:srgbClr val="000000"/>
                </a:solidFill>
              </a:rPr>
              <a:t>Image 3</a:t>
            </a:r>
            <a:endParaRPr sz="2553"/>
          </a:p>
        </p:txBody>
      </p:sp>
      <p:sp>
        <p:nvSpPr>
          <p:cNvPr id="910" name="Google Shape;910;p54"/>
          <p:cNvSpPr/>
          <p:nvPr/>
        </p:nvSpPr>
        <p:spPr>
          <a:xfrm>
            <a:off x="9013181" y="4241983"/>
            <a:ext cx="892800" cy="2285700"/>
          </a:xfrm>
          <a:prstGeom prst="rect">
            <a:avLst/>
          </a:prstGeom>
          <a:solidFill>
            <a:srgbClr val="EEEEEE"/>
          </a:solidFill>
          <a:ln cap="flat" cmpd="sng" w="90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6450" lIns="166450" spcFirstLastPara="1" rIns="166450" wrap="square" tIns="166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3"/>
          </a:p>
        </p:txBody>
      </p:sp>
      <p:cxnSp>
        <p:nvCxnSpPr>
          <p:cNvPr id="911" name="Google Shape;911;p54"/>
          <p:cNvCxnSpPr/>
          <p:nvPr/>
        </p:nvCxnSpPr>
        <p:spPr>
          <a:xfrm rot="10800000">
            <a:off x="3334191" y="5168684"/>
            <a:ext cx="6571800" cy="0"/>
          </a:xfrm>
          <a:prstGeom prst="straightConnector1">
            <a:avLst/>
          </a:prstGeom>
          <a:noFill/>
          <a:ln cap="flat" cmpd="sng" w="27025">
            <a:solidFill>
              <a:srgbClr val="595959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912" name="Google Shape;912;p54"/>
          <p:cNvSpPr txBox="1"/>
          <p:nvPr/>
        </p:nvSpPr>
        <p:spPr>
          <a:xfrm>
            <a:off x="7014640" y="4814311"/>
            <a:ext cx="17340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24" u="sng">
                <a:solidFill>
                  <a:srgbClr val="595959"/>
                </a:solidFill>
              </a:rPr>
              <a:t>Scrollable section</a:t>
            </a:r>
            <a:endParaRPr b="1" sz="1324" u="sng">
              <a:solidFill>
                <a:srgbClr val="595959"/>
              </a:solidFill>
            </a:endParaRPr>
          </a:p>
        </p:txBody>
      </p:sp>
      <p:sp>
        <p:nvSpPr>
          <p:cNvPr id="913" name="Google Shape;913;p54"/>
          <p:cNvSpPr/>
          <p:nvPr/>
        </p:nvSpPr>
        <p:spPr>
          <a:xfrm>
            <a:off x="3125425" y="3790260"/>
            <a:ext cx="4389600" cy="306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66450" lIns="166450" spcFirstLastPara="1" rIns="166450" wrap="square" tIns="166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7">
                <a:latin typeface="Montserrat"/>
                <a:ea typeface="Montserrat"/>
                <a:cs typeface="Montserrat"/>
                <a:sym typeface="Montserrat"/>
              </a:rPr>
              <a:t>OUR SHORT COURSES</a:t>
            </a:r>
            <a:endParaRPr sz="1513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4" name="Google Shape;914;p54"/>
          <p:cNvSpPr/>
          <p:nvPr/>
        </p:nvSpPr>
        <p:spPr>
          <a:xfrm>
            <a:off x="777225" y="3790250"/>
            <a:ext cx="8465700" cy="3488700"/>
          </a:xfrm>
          <a:prstGeom prst="rect">
            <a:avLst/>
          </a:prstGeom>
          <a:noFill/>
          <a:ln cap="flat" cmpd="sng" w="180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425" lIns="86425" spcFirstLastPara="1" rIns="86425" wrap="square" tIns="86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4"/>
          </a:p>
        </p:txBody>
      </p:sp>
      <p:sp>
        <p:nvSpPr>
          <p:cNvPr id="915" name="Google Shape;915;p54"/>
          <p:cNvSpPr txBox="1"/>
          <p:nvPr/>
        </p:nvSpPr>
        <p:spPr>
          <a:xfrm>
            <a:off x="891323" y="4272091"/>
            <a:ext cx="260400" cy="306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86425" lIns="86425" spcFirstLastPara="1" rIns="86425" wrap="square" tIns="8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1">
                <a:solidFill>
                  <a:srgbClr val="FFFFFF"/>
                </a:solidFill>
              </a:rPr>
              <a:t>2</a:t>
            </a:r>
            <a:endParaRPr b="1" sz="851">
              <a:solidFill>
                <a:srgbClr val="FFFFFF"/>
              </a:solidFill>
            </a:endParaRPr>
          </a:p>
        </p:txBody>
      </p:sp>
      <p:sp>
        <p:nvSpPr>
          <p:cNvPr id="916" name="Google Shape;916;p54"/>
          <p:cNvSpPr/>
          <p:nvPr/>
        </p:nvSpPr>
        <p:spPr>
          <a:xfrm>
            <a:off x="769960" y="749750"/>
            <a:ext cx="9138300" cy="7239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917" name="Google Shape;917;p54"/>
          <p:cNvSpPr/>
          <p:nvPr/>
        </p:nvSpPr>
        <p:spPr>
          <a:xfrm>
            <a:off x="9514175" y="749761"/>
            <a:ext cx="387600" cy="35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918" name="Google Shape;918;p54"/>
          <p:cNvSpPr/>
          <p:nvPr/>
        </p:nvSpPr>
        <p:spPr>
          <a:xfrm>
            <a:off x="9206938" y="749755"/>
            <a:ext cx="348000" cy="35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919" name="Google Shape;919;p54"/>
          <p:cNvSpPr/>
          <p:nvPr/>
        </p:nvSpPr>
        <p:spPr>
          <a:xfrm>
            <a:off x="762550" y="1473775"/>
            <a:ext cx="9138300" cy="21393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cxnSp>
        <p:nvCxnSpPr>
          <p:cNvPr id="920" name="Google Shape;920;p54"/>
          <p:cNvCxnSpPr/>
          <p:nvPr/>
        </p:nvCxnSpPr>
        <p:spPr>
          <a:xfrm>
            <a:off x="777225" y="1473775"/>
            <a:ext cx="9138300" cy="2946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21" name="Google Shape;921;p54"/>
          <p:cNvCxnSpPr/>
          <p:nvPr/>
        </p:nvCxnSpPr>
        <p:spPr>
          <a:xfrm flipH="1" rot="10800000">
            <a:off x="762550" y="1473640"/>
            <a:ext cx="9153000" cy="2916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22" name="Google Shape;922;p54"/>
          <p:cNvSpPr/>
          <p:nvPr/>
        </p:nvSpPr>
        <p:spPr>
          <a:xfrm>
            <a:off x="3120202" y="2265625"/>
            <a:ext cx="4498200" cy="1058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300">
                <a:latin typeface="Montserrat"/>
                <a:ea typeface="Montserrat"/>
                <a:cs typeface="Montserrat"/>
                <a:sym typeface="Montserrat"/>
              </a:rPr>
              <a:t>Short Courses</a:t>
            </a:r>
            <a:endParaRPr sz="2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Home &gt; </a:t>
            </a: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Short Courses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3" name="Google Shape;923;p54"/>
          <p:cNvSpPr/>
          <p:nvPr/>
        </p:nvSpPr>
        <p:spPr>
          <a:xfrm>
            <a:off x="777234" y="748850"/>
            <a:ext cx="991200" cy="723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Logo</a:t>
            </a:r>
            <a:endParaRPr sz="1500"/>
          </a:p>
        </p:txBody>
      </p:sp>
      <p:sp>
        <p:nvSpPr>
          <p:cNvPr id="924" name="Google Shape;924;p54"/>
          <p:cNvSpPr txBox="1"/>
          <p:nvPr/>
        </p:nvSpPr>
        <p:spPr>
          <a:xfrm>
            <a:off x="929354" y="1637151"/>
            <a:ext cx="252900" cy="2949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1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925" name="Google Shape;925;p54"/>
          <p:cNvSpPr/>
          <p:nvPr/>
        </p:nvSpPr>
        <p:spPr>
          <a:xfrm>
            <a:off x="4528925" y="748850"/>
            <a:ext cx="53805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NAVIGATION BAR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6" name="Google Shape;926;p54"/>
          <p:cNvSpPr/>
          <p:nvPr/>
        </p:nvSpPr>
        <p:spPr>
          <a:xfrm>
            <a:off x="1181473" y="1713350"/>
            <a:ext cx="6895200" cy="1753500"/>
          </a:xfrm>
          <a:prstGeom prst="rect">
            <a:avLst/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54"/>
          <p:cNvSpPr/>
          <p:nvPr/>
        </p:nvSpPr>
        <p:spPr>
          <a:xfrm>
            <a:off x="1344325" y="6655582"/>
            <a:ext cx="1536600" cy="490200"/>
          </a:xfrm>
          <a:prstGeom prst="flowChartAlternateProcess">
            <a:avLst/>
          </a:prstGeom>
          <a:solidFill>
            <a:srgbClr val="FFFFFF"/>
          </a:solidFill>
          <a:ln cap="flat" cmpd="sng" w="6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275" lIns="65275" spcFirstLastPara="1" rIns="65275" wrap="square" tIns="6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5"/>
              <a:buFont typeface="Arial"/>
              <a:buNone/>
            </a:pPr>
            <a:r>
              <a:rPr lang="en" sz="928">
                <a:latin typeface="Montserrat"/>
                <a:ea typeface="Montserrat"/>
                <a:cs typeface="Montserrat"/>
                <a:sym typeface="Montserrat"/>
              </a:rPr>
              <a:t>Class Name</a:t>
            </a:r>
            <a:endParaRPr sz="928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8" name="Google Shape;928;p54"/>
          <p:cNvSpPr/>
          <p:nvPr/>
        </p:nvSpPr>
        <p:spPr>
          <a:xfrm>
            <a:off x="4051600" y="6672807"/>
            <a:ext cx="1536600" cy="490200"/>
          </a:xfrm>
          <a:prstGeom prst="flowChartAlternateProcess">
            <a:avLst/>
          </a:prstGeom>
          <a:solidFill>
            <a:srgbClr val="FFFFFF"/>
          </a:solidFill>
          <a:ln cap="flat" cmpd="sng" w="6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275" lIns="65275" spcFirstLastPara="1" rIns="65275" wrap="square" tIns="6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85"/>
              <a:buFont typeface="Arial"/>
              <a:buNone/>
            </a:pPr>
            <a:r>
              <a:rPr lang="en" sz="928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Class Name</a:t>
            </a:r>
            <a:endParaRPr sz="928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9" name="Google Shape;929;p54"/>
          <p:cNvSpPr/>
          <p:nvPr/>
        </p:nvSpPr>
        <p:spPr>
          <a:xfrm>
            <a:off x="6758875" y="6655582"/>
            <a:ext cx="1536600" cy="490200"/>
          </a:xfrm>
          <a:prstGeom prst="flowChartAlternateProcess">
            <a:avLst/>
          </a:prstGeom>
          <a:solidFill>
            <a:srgbClr val="FFFFFF"/>
          </a:solidFill>
          <a:ln cap="flat" cmpd="sng" w="6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275" lIns="65275" spcFirstLastPara="1" rIns="65275" wrap="square" tIns="6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85"/>
              <a:buFont typeface="Arial"/>
              <a:buNone/>
            </a:pPr>
            <a:r>
              <a:rPr lang="en" sz="928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Class Name</a:t>
            </a:r>
            <a:endParaRPr sz="928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4" name="Google Shape;934;p55"/>
          <p:cNvGraphicFramePr/>
          <p:nvPr/>
        </p:nvGraphicFramePr>
        <p:xfrm>
          <a:off x="10716050" y="748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{48FD2119-6418-421D-A403-E5465F0AB291}</a:tableStyleId>
              </a:tblPr>
              <a:tblGrid>
                <a:gridCol w="1174500"/>
                <a:gridCol w="2677250"/>
                <a:gridCol w="3245900"/>
              </a:tblGrid>
              <a:tr h="3231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Camps Page DESIGN STRUCTURE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133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1 -  Class Offerings: 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Refer to: </a:t>
                      </a:r>
                      <a:r>
                        <a:rPr lang="en" sz="1200" u="sng">
                          <a:solidFill>
                            <a:schemeClr val="hlink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3"/>
                        </a:rPr>
                        <a:t>beyond the canva offering writeup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See more button leads to individual class page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Image are to extract from reference website: </a:t>
                      </a:r>
                      <a:r>
                        <a:rPr lang="en" sz="1300" u="sng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https://www.achieversarts.com/short-courses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sp>
        <p:nvSpPr>
          <p:cNvPr id="935" name="Google Shape;935;p55"/>
          <p:cNvSpPr/>
          <p:nvPr/>
        </p:nvSpPr>
        <p:spPr>
          <a:xfrm>
            <a:off x="614550" y="797226"/>
            <a:ext cx="9146700" cy="3838500"/>
          </a:xfrm>
          <a:prstGeom prst="rect">
            <a:avLst/>
          </a:prstGeom>
          <a:solidFill>
            <a:srgbClr val="EEEEEE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cxnSp>
        <p:nvCxnSpPr>
          <p:cNvPr id="936" name="Google Shape;936;p55"/>
          <p:cNvCxnSpPr/>
          <p:nvPr/>
        </p:nvCxnSpPr>
        <p:spPr>
          <a:xfrm>
            <a:off x="626125" y="1277706"/>
            <a:ext cx="9138300" cy="2946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37" name="Google Shape;937;p55"/>
          <p:cNvCxnSpPr/>
          <p:nvPr/>
        </p:nvCxnSpPr>
        <p:spPr>
          <a:xfrm flipH="1" rot="10800000">
            <a:off x="611450" y="1277561"/>
            <a:ext cx="9153000" cy="2916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38" name="Google Shape;938;p55"/>
          <p:cNvSpPr/>
          <p:nvPr/>
        </p:nvSpPr>
        <p:spPr>
          <a:xfrm>
            <a:off x="869436" y="1765362"/>
            <a:ext cx="46695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Roboto"/>
                <a:ea typeface="Roboto"/>
                <a:cs typeface="Roboto"/>
                <a:sym typeface="Roboto"/>
              </a:rPr>
              <a:t>Class Name</a:t>
            </a:r>
            <a:endParaRPr sz="2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9" name="Google Shape;939;p55"/>
          <p:cNvSpPr/>
          <p:nvPr/>
        </p:nvSpPr>
        <p:spPr>
          <a:xfrm>
            <a:off x="1044590" y="3938525"/>
            <a:ext cx="1491600" cy="379800"/>
          </a:xfrm>
          <a:prstGeom prst="flowChartAlternateProcess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ontserrat"/>
                <a:ea typeface="Montserrat"/>
                <a:cs typeface="Montserrat"/>
                <a:sym typeface="Montserrat"/>
              </a:rPr>
              <a:t>See More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0" name="Google Shape;940;p55"/>
          <p:cNvSpPr txBox="1"/>
          <p:nvPr/>
        </p:nvSpPr>
        <p:spPr>
          <a:xfrm>
            <a:off x="791691" y="987885"/>
            <a:ext cx="252900" cy="2949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1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941" name="Google Shape;941;p55"/>
          <p:cNvSpPr/>
          <p:nvPr/>
        </p:nvSpPr>
        <p:spPr>
          <a:xfrm>
            <a:off x="904642" y="2402082"/>
            <a:ext cx="46695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&lt;Description&gt;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2" name="Google Shape;942;p55"/>
          <p:cNvSpPr/>
          <p:nvPr/>
        </p:nvSpPr>
        <p:spPr>
          <a:xfrm>
            <a:off x="5574150" y="1498625"/>
            <a:ext cx="3602700" cy="2770500"/>
          </a:xfrm>
          <a:prstGeom prst="flowChartAlternateProcess">
            <a:avLst/>
          </a:prstGeom>
          <a:solidFill>
            <a:srgbClr val="FFFFFF"/>
          </a:solidFill>
          <a:ln cap="flat" cmpd="sng" w="6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275" lIns="65275" spcFirstLastPara="1" rIns="65275" wrap="square" tIns="6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5"/>
              <a:buFont typeface="Arial"/>
              <a:buNone/>
            </a:pPr>
            <a:r>
              <a:rPr lang="en" sz="92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Product Image</a:t>
            </a:r>
            <a:endParaRPr sz="928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3" name="Google Shape;943;p55"/>
          <p:cNvSpPr/>
          <p:nvPr/>
        </p:nvSpPr>
        <p:spPr>
          <a:xfrm>
            <a:off x="2784661" y="748840"/>
            <a:ext cx="46695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Roboto"/>
                <a:ea typeface="Roboto"/>
                <a:cs typeface="Roboto"/>
                <a:sym typeface="Roboto"/>
              </a:rPr>
              <a:t>Category(Age)</a:t>
            </a:r>
            <a:endParaRPr sz="2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4" name="Google Shape;944;p55"/>
          <p:cNvSpPr/>
          <p:nvPr/>
        </p:nvSpPr>
        <p:spPr>
          <a:xfrm>
            <a:off x="621875" y="4684101"/>
            <a:ext cx="9146700" cy="3838500"/>
          </a:xfrm>
          <a:prstGeom prst="rect">
            <a:avLst/>
          </a:prstGeom>
          <a:solidFill>
            <a:srgbClr val="EEEEEE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cxnSp>
        <p:nvCxnSpPr>
          <p:cNvPr id="945" name="Google Shape;945;p55"/>
          <p:cNvCxnSpPr/>
          <p:nvPr/>
        </p:nvCxnSpPr>
        <p:spPr>
          <a:xfrm>
            <a:off x="633450" y="5164581"/>
            <a:ext cx="9138300" cy="2946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46" name="Google Shape;946;p55"/>
          <p:cNvCxnSpPr/>
          <p:nvPr/>
        </p:nvCxnSpPr>
        <p:spPr>
          <a:xfrm flipH="1" rot="10800000">
            <a:off x="618775" y="5164436"/>
            <a:ext cx="9153000" cy="2916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47" name="Google Shape;947;p55"/>
          <p:cNvSpPr/>
          <p:nvPr/>
        </p:nvSpPr>
        <p:spPr>
          <a:xfrm>
            <a:off x="876761" y="5652237"/>
            <a:ext cx="46695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Roboto"/>
                <a:ea typeface="Roboto"/>
                <a:cs typeface="Roboto"/>
                <a:sym typeface="Roboto"/>
              </a:rPr>
              <a:t>Class Name</a:t>
            </a:r>
            <a:endParaRPr sz="2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8" name="Google Shape;948;p55"/>
          <p:cNvSpPr/>
          <p:nvPr/>
        </p:nvSpPr>
        <p:spPr>
          <a:xfrm>
            <a:off x="1051915" y="7825400"/>
            <a:ext cx="1491600" cy="379800"/>
          </a:xfrm>
          <a:prstGeom prst="flowChartAlternateProcess">
            <a:avLst/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ontserrat"/>
                <a:ea typeface="Montserrat"/>
                <a:cs typeface="Montserrat"/>
                <a:sym typeface="Montserrat"/>
              </a:rPr>
              <a:t>See More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9" name="Google Shape;949;p55"/>
          <p:cNvSpPr/>
          <p:nvPr/>
        </p:nvSpPr>
        <p:spPr>
          <a:xfrm>
            <a:off x="911967" y="6288957"/>
            <a:ext cx="46695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&lt;Description&gt;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0" name="Google Shape;950;p55"/>
          <p:cNvSpPr/>
          <p:nvPr/>
        </p:nvSpPr>
        <p:spPr>
          <a:xfrm>
            <a:off x="5581475" y="5385500"/>
            <a:ext cx="3602700" cy="2770500"/>
          </a:xfrm>
          <a:prstGeom prst="flowChartAlternateProcess">
            <a:avLst/>
          </a:prstGeom>
          <a:solidFill>
            <a:srgbClr val="FFFFFF"/>
          </a:solidFill>
          <a:ln cap="flat" cmpd="sng" w="68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275" lIns="65275" spcFirstLastPara="1" rIns="65275" wrap="square" tIns="65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5"/>
              <a:buFont typeface="Arial"/>
              <a:buNone/>
            </a:pPr>
            <a:r>
              <a:rPr lang="en" sz="928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Product Image</a:t>
            </a:r>
            <a:endParaRPr sz="928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1" name="Google Shape;951;p55"/>
          <p:cNvSpPr/>
          <p:nvPr/>
        </p:nvSpPr>
        <p:spPr>
          <a:xfrm>
            <a:off x="2791986" y="4635715"/>
            <a:ext cx="46695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Roboto"/>
                <a:ea typeface="Roboto"/>
                <a:cs typeface="Roboto"/>
                <a:sym typeface="Roboto"/>
              </a:rPr>
              <a:t>Category(Age)</a:t>
            </a:r>
            <a:endParaRPr sz="2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2" name="Google Shape;952;p55"/>
          <p:cNvSpPr/>
          <p:nvPr/>
        </p:nvSpPr>
        <p:spPr>
          <a:xfrm>
            <a:off x="791700" y="987875"/>
            <a:ext cx="8747700" cy="7707000"/>
          </a:xfrm>
          <a:prstGeom prst="rect">
            <a:avLst/>
          </a:prstGeom>
          <a:noFill/>
          <a:ln cap="flat" cmpd="sng" w="172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750" lIns="82750" spcFirstLastPara="1" rIns="82750" wrap="square" tIns="82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67"/>
              <a:t> </a:t>
            </a:r>
            <a:endParaRPr sz="1267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56"/>
          <p:cNvSpPr txBox="1"/>
          <p:nvPr/>
        </p:nvSpPr>
        <p:spPr>
          <a:xfrm>
            <a:off x="3637800" y="8100267"/>
            <a:ext cx="110124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19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PREPARED BY EPOS </a:t>
            </a:r>
            <a:endParaRPr sz="19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19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8" name="Google Shape;958;p56"/>
          <p:cNvSpPr txBox="1"/>
          <p:nvPr/>
        </p:nvSpPr>
        <p:spPr>
          <a:xfrm>
            <a:off x="3150900" y="4050150"/>
            <a:ext cx="119862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Arty Events &amp; Party Packages</a:t>
            </a:r>
            <a:r>
              <a:rPr b="1" lang="en" sz="3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page</a:t>
            </a:r>
            <a:endParaRPr b="1" sz="3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3" name="Google Shape;963;p57"/>
          <p:cNvGraphicFramePr/>
          <p:nvPr/>
        </p:nvGraphicFramePr>
        <p:xfrm>
          <a:off x="10716050" y="748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{48FD2119-6418-421D-A403-E5465F0AB291}</a:tableStyleId>
              </a:tblPr>
              <a:tblGrid>
                <a:gridCol w="1174500"/>
                <a:gridCol w="2677250"/>
                <a:gridCol w="3245900"/>
              </a:tblGrid>
              <a:tr h="3231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Arty Events &amp; Party Packages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PAGE DESIGN STRUCTURE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133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1 -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Art Workshop Main banner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Header: 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Arty Events &amp; Party Packages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Subheader: Home &gt; 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Arty Events &amp; Party Packages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Banner Image:  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133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2- Arty Time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Header: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Arty Time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Themed Art Events (Ages 4 &amp; up)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Create, Play, and Explore Magical Worlds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Step into a world of imagination with our Themed Art Events — from exciting Pokémon adventures to magical princess tales, jungle mysteries, and festive celebrations. Each session is a fun-filled, story-driven experience where children craft, play, and explore through creativity.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✔️ Hands-on craft activities &amp; themed creative projects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✔️ Interactive storytelling, games &amp; adventure-based play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✔️ All materials provided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✔️ Beginner-friendly — no experience needed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✔️ Fun, engaging &amp; memorable experiences for kids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hMerge="1"/>
              </a:tr>
            </a:tbl>
          </a:graphicData>
        </a:graphic>
      </p:graphicFrame>
      <p:sp>
        <p:nvSpPr>
          <p:cNvPr id="964" name="Google Shape;964;p57"/>
          <p:cNvSpPr/>
          <p:nvPr/>
        </p:nvSpPr>
        <p:spPr>
          <a:xfrm>
            <a:off x="671110" y="970775"/>
            <a:ext cx="9138300" cy="7239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965" name="Google Shape;965;p57"/>
          <p:cNvSpPr/>
          <p:nvPr/>
        </p:nvSpPr>
        <p:spPr>
          <a:xfrm>
            <a:off x="9415325" y="970786"/>
            <a:ext cx="387600" cy="35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966" name="Google Shape;966;p57"/>
          <p:cNvSpPr/>
          <p:nvPr/>
        </p:nvSpPr>
        <p:spPr>
          <a:xfrm>
            <a:off x="9108088" y="970780"/>
            <a:ext cx="348000" cy="35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967" name="Google Shape;967;p57"/>
          <p:cNvSpPr/>
          <p:nvPr/>
        </p:nvSpPr>
        <p:spPr>
          <a:xfrm>
            <a:off x="663700" y="1694800"/>
            <a:ext cx="9138300" cy="23949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968" name="Google Shape;968;p57"/>
          <p:cNvSpPr/>
          <p:nvPr/>
        </p:nvSpPr>
        <p:spPr>
          <a:xfrm>
            <a:off x="3021350" y="2486650"/>
            <a:ext cx="4498200" cy="1201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Arty Events &amp;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Montserrat"/>
                <a:ea typeface="Montserrat"/>
                <a:cs typeface="Montserrat"/>
                <a:sym typeface="Montserrat"/>
              </a:rPr>
              <a:t>Party Packages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Home &gt; </a:t>
            </a: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Arty Events &amp; Party Packages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9" name="Google Shape;969;p57"/>
          <p:cNvSpPr/>
          <p:nvPr/>
        </p:nvSpPr>
        <p:spPr>
          <a:xfrm>
            <a:off x="678384" y="969875"/>
            <a:ext cx="991200" cy="723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Logo</a:t>
            </a:r>
            <a:endParaRPr sz="1500"/>
          </a:p>
        </p:txBody>
      </p:sp>
      <p:sp>
        <p:nvSpPr>
          <p:cNvPr id="970" name="Google Shape;970;p57"/>
          <p:cNvSpPr txBox="1"/>
          <p:nvPr/>
        </p:nvSpPr>
        <p:spPr>
          <a:xfrm>
            <a:off x="830504" y="1858176"/>
            <a:ext cx="252900" cy="2949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1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971" name="Google Shape;971;p57"/>
          <p:cNvSpPr/>
          <p:nvPr/>
        </p:nvSpPr>
        <p:spPr>
          <a:xfrm>
            <a:off x="4430075" y="969875"/>
            <a:ext cx="5380500" cy="3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NAVIGATION BAR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2" name="Google Shape;972;p57"/>
          <p:cNvSpPr/>
          <p:nvPr/>
        </p:nvSpPr>
        <p:spPr>
          <a:xfrm>
            <a:off x="1082647" y="1934375"/>
            <a:ext cx="7371300" cy="1753500"/>
          </a:xfrm>
          <a:prstGeom prst="rect">
            <a:avLst/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57"/>
          <p:cNvSpPr/>
          <p:nvPr/>
        </p:nvSpPr>
        <p:spPr>
          <a:xfrm>
            <a:off x="656350" y="3834225"/>
            <a:ext cx="9153000" cy="4242300"/>
          </a:xfrm>
          <a:prstGeom prst="rect">
            <a:avLst/>
          </a:prstGeom>
          <a:solidFill>
            <a:srgbClr val="FFFFFF"/>
          </a:solidFill>
          <a:ln cap="flat" cmpd="sng" w="360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6450" lIns="166450" spcFirstLastPara="1" rIns="166450" wrap="square" tIns="166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3"/>
          </a:p>
        </p:txBody>
      </p:sp>
      <p:sp>
        <p:nvSpPr>
          <p:cNvPr id="974" name="Google Shape;974;p57"/>
          <p:cNvSpPr/>
          <p:nvPr/>
        </p:nvSpPr>
        <p:spPr>
          <a:xfrm>
            <a:off x="1082625" y="4200526"/>
            <a:ext cx="5186700" cy="452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35475" lIns="135475" spcFirstLastPara="1" rIns="135475" wrap="square" tIns="135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Arty Time</a:t>
            </a:r>
            <a:endParaRPr sz="146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5" name="Google Shape;975;p57"/>
          <p:cNvSpPr/>
          <p:nvPr/>
        </p:nvSpPr>
        <p:spPr>
          <a:xfrm>
            <a:off x="6673625" y="4091400"/>
            <a:ext cx="2741700" cy="2996700"/>
          </a:xfrm>
          <a:prstGeom prst="flowChartAlternateProcess">
            <a:avLst/>
          </a:prstGeom>
          <a:solidFill>
            <a:schemeClr val="lt1"/>
          </a:solidFill>
          <a:ln cap="flat" cmpd="sng" w="7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350" lIns="70350" spcFirstLastPara="1" rIns="70350" wrap="square" tIns="70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16">
                <a:latin typeface="Montserrat"/>
                <a:ea typeface="Montserrat"/>
                <a:cs typeface="Montserrat"/>
                <a:sym typeface="Montserrat"/>
              </a:rPr>
              <a:t>Image</a:t>
            </a:r>
            <a:endParaRPr sz="161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6" name="Google Shape;976;p57"/>
          <p:cNvSpPr/>
          <p:nvPr/>
        </p:nvSpPr>
        <p:spPr>
          <a:xfrm>
            <a:off x="1082625" y="4786125"/>
            <a:ext cx="5186700" cy="2301900"/>
          </a:xfrm>
          <a:prstGeom prst="flowChartAlternateProcess">
            <a:avLst/>
          </a:prstGeom>
          <a:solidFill>
            <a:schemeClr val="lt1"/>
          </a:solidFill>
          <a:ln cap="flat" cmpd="sng" w="7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350" lIns="70350" spcFirstLastPara="1" rIns="70350" wrap="square" tIns="70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6">
                <a:latin typeface="Montserrat"/>
                <a:ea typeface="Montserrat"/>
                <a:cs typeface="Montserrat"/>
                <a:sym typeface="Montserrat"/>
              </a:rPr>
              <a:t>Themed Art Events (Ages 4 &amp; up)</a:t>
            </a:r>
            <a:endParaRPr sz="1016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6">
                <a:latin typeface="Montserrat"/>
                <a:ea typeface="Montserrat"/>
                <a:cs typeface="Montserrat"/>
                <a:sym typeface="Montserrat"/>
              </a:rPr>
              <a:t>Create, Play, and Explore Magical Worlds</a:t>
            </a:r>
            <a:endParaRPr sz="1016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6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6">
                <a:latin typeface="Montserrat"/>
                <a:ea typeface="Montserrat"/>
                <a:cs typeface="Montserrat"/>
                <a:sym typeface="Montserrat"/>
              </a:rPr>
              <a:t>Step into a world of imagination with our Themed Art Events — from exciting Pokémon adventures to magical princess tales, jungle mysteries, and festive celebrations. Each session is a fun-filled, story-driven experience where children craft, play, and explore through creativity.</a:t>
            </a:r>
            <a:endParaRPr sz="1016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6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6">
                <a:latin typeface="Montserrat"/>
                <a:ea typeface="Montserrat"/>
                <a:cs typeface="Montserrat"/>
                <a:sym typeface="Montserrat"/>
              </a:rPr>
              <a:t>✔️ Hands-on craft activities &amp; themed creative projects</a:t>
            </a:r>
            <a:endParaRPr sz="1016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6">
                <a:latin typeface="Montserrat"/>
                <a:ea typeface="Montserrat"/>
                <a:cs typeface="Montserrat"/>
                <a:sym typeface="Montserrat"/>
              </a:rPr>
              <a:t>✔️ Interactive storytelling, games &amp; adventure-based play</a:t>
            </a:r>
            <a:endParaRPr sz="1016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6">
                <a:latin typeface="Montserrat"/>
                <a:ea typeface="Montserrat"/>
                <a:cs typeface="Montserrat"/>
                <a:sym typeface="Montserrat"/>
              </a:rPr>
              <a:t>✔️ All materials provided</a:t>
            </a:r>
            <a:endParaRPr sz="1016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6">
                <a:latin typeface="Montserrat"/>
                <a:ea typeface="Montserrat"/>
                <a:cs typeface="Montserrat"/>
                <a:sym typeface="Montserrat"/>
              </a:rPr>
              <a:t>✔️ Beginner-friendly — no experience needed</a:t>
            </a:r>
            <a:endParaRPr sz="1016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6">
                <a:latin typeface="Montserrat"/>
                <a:ea typeface="Montserrat"/>
                <a:cs typeface="Montserrat"/>
                <a:sym typeface="Montserrat"/>
              </a:rPr>
              <a:t>✔️ Fun, engaging &amp; memorable experiences for kids</a:t>
            </a:r>
            <a:endParaRPr sz="101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7" name="Google Shape;977;p57"/>
          <p:cNvSpPr/>
          <p:nvPr/>
        </p:nvSpPr>
        <p:spPr>
          <a:xfrm>
            <a:off x="1082625" y="7220927"/>
            <a:ext cx="1977000" cy="3501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Book Now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8" name="Google Shape;978;p57"/>
          <p:cNvSpPr txBox="1"/>
          <p:nvPr/>
        </p:nvSpPr>
        <p:spPr>
          <a:xfrm>
            <a:off x="956579" y="4002826"/>
            <a:ext cx="252900" cy="2949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2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979" name="Google Shape;979;p57"/>
          <p:cNvSpPr/>
          <p:nvPr/>
        </p:nvSpPr>
        <p:spPr>
          <a:xfrm>
            <a:off x="830500" y="4002825"/>
            <a:ext cx="8584800" cy="3672300"/>
          </a:xfrm>
          <a:prstGeom prst="rect">
            <a:avLst/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4" name="Google Shape;984;p58"/>
          <p:cNvGraphicFramePr/>
          <p:nvPr/>
        </p:nvGraphicFramePr>
        <p:xfrm>
          <a:off x="10749000" y="748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{48FD2119-6418-421D-A403-E5465F0AB291}</a:tableStyleId>
              </a:tblPr>
              <a:tblGrid>
                <a:gridCol w="1141550"/>
                <a:gridCol w="2677250"/>
                <a:gridCol w="3245900"/>
              </a:tblGrid>
              <a:tr h="3231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Arty Events &amp; Party Packages PAGE DESIGN STRUCTURE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133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-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Private Parties/ Events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Header: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Private Parties/ Events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Art Parties &amp; Events (Ages 4 &amp; up)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Celebrate, Create, and Party with Art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Turn your special occasion into an unforgettable Arty Party! From birthdays to school outings and corporate events, our art-based celebrations bring people together through fun, creativity, and hands-on experiences in a lively studio setting.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✔️ Guided art workshops with a wide selection of painting &amp; craft options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✔️ Flexible party packages with different durations &amp; activities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✔️ Choose your preferred theme or customise your own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✔️ Optional add-ons like goodie bags &amp; e-invite cards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✔️ Fun, engaging &amp; hassle-free party experience for all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133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2 - Enquiry Form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 include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enquiry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form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Dropdowns: 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Dropdown: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Arty time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11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oboto"/>
                        <a:buAutoNum type="arabicPeriod"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Private Parties Events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hMerge="1"/>
              </a:tr>
            </a:tbl>
          </a:graphicData>
        </a:graphic>
      </p:graphicFrame>
      <p:sp>
        <p:nvSpPr>
          <p:cNvPr id="985" name="Google Shape;985;p58"/>
          <p:cNvSpPr/>
          <p:nvPr/>
        </p:nvSpPr>
        <p:spPr>
          <a:xfrm>
            <a:off x="738700" y="748850"/>
            <a:ext cx="9153000" cy="4242300"/>
          </a:xfrm>
          <a:prstGeom prst="rect">
            <a:avLst/>
          </a:prstGeom>
          <a:solidFill>
            <a:srgbClr val="FFFFFF"/>
          </a:solidFill>
          <a:ln cap="flat" cmpd="sng" w="360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6450" lIns="166450" spcFirstLastPara="1" rIns="166450" wrap="square" tIns="166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3"/>
          </a:p>
        </p:txBody>
      </p:sp>
      <p:sp>
        <p:nvSpPr>
          <p:cNvPr id="986" name="Google Shape;986;p58"/>
          <p:cNvSpPr/>
          <p:nvPr/>
        </p:nvSpPr>
        <p:spPr>
          <a:xfrm>
            <a:off x="1164975" y="1115151"/>
            <a:ext cx="5186700" cy="452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35475" lIns="135475" spcFirstLastPara="1" rIns="135475" wrap="square" tIns="135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Private Parties/ Events</a:t>
            </a:r>
            <a:endParaRPr sz="146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7" name="Google Shape;987;p58"/>
          <p:cNvSpPr/>
          <p:nvPr/>
        </p:nvSpPr>
        <p:spPr>
          <a:xfrm>
            <a:off x="6755975" y="1006025"/>
            <a:ext cx="2741700" cy="2996700"/>
          </a:xfrm>
          <a:prstGeom prst="flowChartAlternateProcess">
            <a:avLst/>
          </a:prstGeom>
          <a:solidFill>
            <a:schemeClr val="lt1"/>
          </a:solidFill>
          <a:ln cap="flat" cmpd="sng" w="7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350" lIns="70350" spcFirstLastPara="1" rIns="70350" wrap="square" tIns="70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16">
                <a:latin typeface="Montserrat"/>
                <a:ea typeface="Montserrat"/>
                <a:cs typeface="Montserrat"/>
                <a:sym typeface="Montserrat"/>
              </a:rPr>
              <a:t>Image</a:t>
            </a:r>
            <a:endParaRPr sz="161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8" name="Google Shape;988;p58"/>
          <p:cNvSpPr/>
          <p:nvPr/>
        </p:nvSpPr>
        <p:spPr>
          <a:xfrm>
            <a:off x="1164975" y="1700750"/>
            <a:ext cx="5186700" cy="2301900"/>
          </a:xfrm>
          <a:prstGeom prst="flowChartAlternateProcess">
            <a:avLst/>
          </a:prstGeom>
          <a:solidFill>
            <a:schemeClr val="lt1"/>
          </a:solidFill>
          <a:ln cap="flat" cmpd="sng" w="7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350" lIns="70350" spcFirstLastPara="1" rIns="70350" wrap="square" tIns="70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6">
                <a:latin typeface="Montserrat"/>
                <a:ea typeface="Montserrat"/>
                <a:cs typeface="Montserrat"/>
                <a:sym typeface="Montserrat"/>
              </a:rPr>
              <a:t>Art Parties &amp; Events (Ages 4 &amp; up)</a:t>
            </a:r>
            <a:endParaRPr sz="1016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6">
                <a:latin typeface="Montserrat"/>
                <a:ea typeface="Montserrat"/>
                <a:cs typeface="Montserrat"/>
                <a:sym typeface="Montserrat"/>
              </a:rPr>
              <a:t>Celebrate, Create, and Party with Art</a:t>
            </a:r>
            <a:endParaRPr sz="1016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6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6">
                <a:latin typeface="Montserrat"/>
                <a:ea typeface="Montserrat"/>
                <a:cs typeface="Montserrat"/>
                <a:sym typeface="Montserrat"/>
              </a:rPr>
              <a:t>Turn your special occasion into an unforgettable Arty Party! From birthdays to school outings and corporate events, our art-based celebrations bring people together through fun, creativity, and hands-on experiences in a lively studio setting.</a:t>
            </a:r>
            <a:endParaRPr sz="1016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16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6">
                <a:latin typeface="Montserrat"/>
                <a:ea typeface="Montserrat"/>
                <a:cs typeface="Montserrat"/>
                <a:sym typeface="Montserrat"/>
              </a:rPr>
              <a:t>✔️ Guided art workshops with a wide selection of painting &amp; craft options</a:t>
            </a:r>
            <a:endParaRPr sz="1016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6">
                <a:latin typeface="Montserrat"/>
                <a:ea typeface="Montserrat"/>
                <a:cs typeface="Montserrat"/>
                <a:sym typeface="Montserrat"/>
              </a:rPr>
              <a:t>✔️ Flexible party packages with different durations &amp; activities</a:t>
            </a:r>
            <a:endParaRPr sz="1016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6">
                <a:latin typeface="Montserrat"/>
                <a:ea typeface="Montserrat"/>
                <a:cs typeface="Montserrat"/>
                <a:sym typeface="Montserrat"/>
              </a:rPr>
              <a:t>✔️ Choose your preferred theme or customise your own</a:t>
            </a:r>
            <a:endParaRPr sz="1016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6">
                <a:latin typeface="Montserrat"/>
                <a:ea typeface="Montserrat"/>
                <a:cs typeface="Montserrat"/>
                <a:sym typeface="Montserrat"/>
              </a:rPr>
              <a:t>✔️ Optional add-ons like goodie bags &amp; e-invite cards</a:t>
            </a:r>
            <a:endParaRPr sz="1016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16">
                <a:latin typeface="Montserrat"/>
                <a:ea typeface="Montserrat"/>
                <a:cs typeface="Montserrat"/>
                <a:sym typeface="Montserrat"/>
              </a:rPr>
              <a:t>✔️ Fun, engaging &amp; hassle-free party experience for all</a:t>
            </a:r>
            <a:endParaRPr sz="101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9" name="Google Shape;989;p58"/>
          <p:cNvSpPr/>
          <p:nvPr/>
        </p:nvSpPr>
        <p:spPr>
          <a:xfrm>
            <a:off x="1164975" y="4135552"/>
            <a:ext cx="1977000" cy="350100"/>
          </a:xfrm>
          <a:prstGeom prst="flowChartAlternateProcess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Book Now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0" name="Google Shape;990;p58"/>
          <p:cNvSpPr txBox="1"/>
          <p:nvPr/>
        </p:nvSpPr>
        <p:spPr>
          <a:xfrm>
            <a:off x="912079" y="1006026"/>
            <a:ext cx="252900" cy="2949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1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991" name="Google Shape;991;p58"/>
          <p:cNvSpPr/>
          <p:nvPr/>
        </p:nvSpPr>
        <p:spPr>
          <a:xfrm>
            <a:off x="842126" y="1006025"/>
            <a:ext cx="8847600" cy="3736200"/>
          </a:xfrm>
          <a:prstGeom prst="rect">
            <a:avLst/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58"/>
          <p:cNvSpPr/>
          <p:nvPr/>
        </p:nvSpPr>
        <p:spPr>
          <a:xfrm>
            <a:off x="4387999" y="4991150"/>
            <a:ext cx="1957800" cy="407400"/>
          </a:xfrm>
          <a:prstGeom prst="flowChartAlternateProcess">
            <a:avLst/>
          </a:prstGeom>
          <a:solidFill>
            <a:srgbClr val="FFFFFF"/>
          </a:solidFill>
          <a:ln cap="flat" cmpd="sng" w="8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500" lIns="85500" spcFirstLastPara="1" rIns="85500" wrap="square" tIns="85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16">
                <a:latin typeface="Montserrat"/>
                <a:ea typeface="Montserrat"/>
                <a:cs typeface="Montserrat"/>
                <a:sym typeface="Montserrat"/>
              </a:rPr>
              <a:t>Click to see more</a:t>
            </a:r>
            <a:endParaRPr sz="1216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16">
                <a:latin typeface="Montserrat"/>
                <a:ea typeface="Montserrat"/>
                <a:cs typeface="Montserrat"/>
                <a:sym typeface="Montserrat"/>
              </a:rPr>
              <a:t>(Navigational button) </a:t>
            </a:r>
            <a:endParaRPr sz="121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3" name="Google Shape;993;p58"/>
          <p:cNvSpPr/>
          <p:nvPr/>
        </p:nvSpPr>
        <p:spPr>
          <a:xfrm>
            <a:off x="842125" y="5253982"/>
            <a:ext cx="9045900" cy="262800"/>
          </a:xfrm>
          <a:prstGeom prst="rect">
            <a:avLst/>
          </a:prstGeom>
          <a:solidFill>
            <a:srgbClr val="FFFFFF"/>
          </a:solidFill>
          <a:ln cap="flat" cmpd="sng" w="89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4650" lIns="164650" spcFirstLastPara="1" rIns="164650" wrap="square" tIns="164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4" name="Google Shape;994;p58"/>
          <p:cNvSpPr/>
          <p:nvPr/>
        </p:nvSpPr>
        <p:spPr>
          <a:xfrm>
            <a:off x="845678" y="4991152"/>
            <a:ext cx="9045900" cy="4020900"/>
          </a:xfrm>
          <a:prstGeom prst="rect">
            <a:avLst/>
          </a:prstGeom>
          <a:solidFill>
            <a:srgbClr val="EEEEEE"/>
          </a:solidFill>
          <a:ln cap="flat" cmpd="sng" w="356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4650" lIns="164650" spcFirstLastPara="1" rIns="164650" wrap="square" tIns="164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25"/>
          </a:p>
        </p:txBody>
      </p:sp>
      <p:sp>
        <p:nvSpPr>
          <p:cNvPr id="995" name="Google Shape;995;p58"/>
          <p:cNvSpPr/>
          <p:nvPr/>
        </p:nvSpPr>
        <p:spPr>
          <a:xfrm>
            <a:off x="2791619" y="5091207"/>
            <a:ext cx="4737000" cy="2628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64650" lIns="164650" spcFirstLastPara="1" rIns="164650" wrap="square" tIns="164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90">
                <a:latin typeface="Montserrat"/>
                <a:ea typeface="Montserrat"/>
                <a:cs typeface="Montserrat"/>
                <a:sym typeface="Montserrat"/>
              </a:rPr>
              <a:t>Ask us questions/ Book an appointment</a:t>
            </a:r>
            <a:endParaRPr sz="1496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6" name="Google Shape;996;p58"/>
          <p:cNvSpPr txBox="1"/>
          <p:nvPr/>
        </p:nvSpPr>
        <p:spPr>
          <a:xfrm>
            <a:off x="1458913" y="5089006"/>
            <a:ext cx="257400" cy="2628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85500" lIns="85500" spcFirstLastPara="1" rIns="85500" wrap="square" tIns="85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42">
                <a:solidFill>
                  <a:srgbClr val="FFFFFF"/>
                </a:solidFill>
              </a:rPr>
              <a:t>2</a:t>
            </a:r>
            <a:endParaRPr b="1" sz="842">
              <a:solidFill>
                <a:srgbClr val="FFFFFF"/>
              </a:solidFill>
            </a:endParaRPr>
          </a:p>
        </p:txBody>
      </p:sp>
      <p:sp>
        <p:nvSpPr>
          <p:cNvPr id="997" name="Google Shape;997;p58"/>
          <p:cNvSpPr/>
          <p:nvPr/>
        </p:nvSpPr>
        <p:spPr>
          <a:xfrm>
            <a:off x="1866927" y="5772582"/>
            <a:ext cx="7219500" cy="2190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283"/>
              <a:buFont typeface="Arial"/>
              <a:buNone/>
            </a:pPr>
            <a:r>
              <a:rPr b="0" i="0" lang="en" sz="1283" u="none" cap="none" strike="noStrike">
                <a:solidFill>
                  <a:srgbClr val="8A9880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 b="0" i="0" sz="128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58"/>
          <p:cNvSpPr/>
          <p:nvPr/>
        </p:nvSpPr>
        <p:spPr>
          <a:xfrm>
            <a:off x="1866927" y="6132657"/>
            <a:ext cx="7219500" cy="2190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283"/>
              <a:buFont typeface="Arial"/>
              <a:buNone/>
            </a:pPr>
            <a:r>
              <a:rPr lang="en" sz="1283">
                <a:solidFill>
                  <a:srgbClr val="8A9880"/>
                </a:solidFill>
              </a:rPr>
              <a:t>Phone Number</a:t>
            </a:r>
            <a:endParaRPr b="0" i="0" sz="128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58"/>
          <p:cNvSpPr/>
          <p:nvPr/>
        </p:nvSpPr>
        <p:spPr>
          <a:xfrm>
            <a:off x="1866927" y="6414368"/>
            <a:ext cx="7219500" cy="2190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283"/>
              <a:buFont typeface="Arial"/>
              <a:buNone/>
            </a:pPr>
            <a:r>
              <a:rPr b="0" i="0" lang="en" sz="1283" u="none" cap="none" strike="noStrike">
                <a:solidFill>
                  <a:srgbClr val="8A9880"/>
                </a:solidFill>
                <a:latin typeface="Arial"/>
                <a:ea typeface="Arial"/>
                <a:cs typeface="Arial"/>
                <a:sym typeface="Arial"/>
              </a:rPr>
              <a:t>Email</a:t>
            </a:r>
            <a:endParaRPr b="0" i="0" sz="128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58"/>
          <p:cNvSpPr/>
          <p:nvPr/>
        </p:nvSpPr>
        <p:spPr>
          <a:xfrm>
            <a:off x="1866927" y="6711753"/>
            <a:ext cx="7219500" cy="2190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283"/>
              <a:buFont typeface="Arial"/>
              <a:buNone/>
            </a:pPr>
            <a:r>
              <a:rPr lang="en" sz="1283">
                <a:solidFill>
                  <a:srgbClr val="8A9880"/>
                </a:solidFill>
              </a:rPr>
              <a:t>Children Age</a:t>
            </a:r>
            <a:endParaRPr b="0" i="0" sz="128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58"/>
          <p:cNvSpPr/>
          <p:nvPr/>
        </p:nvSpPr>
        <p:spPr>
          <a:xfrm>
            <a:off x="1866927" y="7024810"/>
            <a:ext cx="7219500" cy="2190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283"/>
              <a:buFont typeface="Arial"/>
              <a:buNone/>
            </a:pPr>
            <a:r>
              <a:rPr lang="en" sz="1283">
                <a:solidFill>
                  <a:srgbClr val="8A9880"/>
                </a:solidFill>
              </a:rPr>
              <a:t>Our Studio</a:t>
            </a:r>
            <a:endParaRPr b="0" i="0" sz="128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58"/>
          <p:cNvSpPr/>
          <p:nvPr/>
        </p:nvSpPr>
        <p:spPr>
          <a:xfrm>
            <a:off x="1866922" y="8339946"/>
            <a:ext cx="2166000" cy="3447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410"/>
              </a:buClr>
              <a:buSzPts val="1480"/>
              <a:buFont typeface="Arial"/>
              <a:buNone/>
            </a:pPr>
            <a:r>
              <a:rPr b="1" i="0" lang="en" sz="1480" u="none" cap="none" strike="noStrike">
                <a:solidFill>
                  <a:srgbClr val="1A2410"/>
                </a:solidFill>
                <a:latin typeface="Arial"/>
                <a:ea typeface="Arial"/>
                <a:cs typeface="Arial"/>
                <a:sym typeface="Arial"/>
              </a:rPr>
              <a:t>SEND ENQUIRY</a:t>
            </a:r>
            <a:endParaRPr b="0" i="0" sz="148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58"/>
          <p:cNvSpPr/>
          <p:nvPr/>
        </p:nvSpPr>
        <p:spPr>
          <a:xfrm>
            <a:off x="1866930" y="7690949"/>
            <a:ext cx="7219500" cy="5502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283"/>
              <a:buFont typeface="Arial"/>
              <a:buNone/>
            </a:pPr>
            <a:r>
              <a:rPr lang="en" sz="1283">
                <a:solidFill>
                  <a:srgbClr val="8A9880"/>
                </a:solidFill>
              </a:rPr>
              <a:t>Message</a:t>
            </a:r>
            <a:endParaRPr b="0" i="0" sz="128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58"/>
          <p:cNvSpPr/>
          <p:nvPr/>
        </p:nvSpPr>
        <p:spPr>
          <a:xfrm>
            <a:off x="1742842" y="5122955"/>
            <a:ext cx="7641600" cy="3659400"/>
          </a:xfrm>
          <a:prstGeom prst="rect">
            <a:avLst/>
          </a:prstGeom>
          <a:noFill/>
          <a:ln cap="flat" cmpd="sng" w="178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500" lIns="85500" spcFirstLastPara="1" rIns="85500" wrap="square" tIns="8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9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5" name="Google Shape;1005;p58"/>
          <p:cNvSpPr/>
          <p:nvPr/>
        </p:nvSpPr>
        <p:spPr>
          <a:xfrm>
            <a:off x="1870778" y="7321385"/>
            <a:ext cx="7219500" cy="2190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283"/>
              <a:buFont typeface="Arial"/>
              <a:buNone/>
            </a:pPr>
            <a:r>
              <a:rPr lang="en" sz="1283">
                <a:solidFill>
                  <a:srgbClr val="8A9880"/>
                </a:solidFill>
              </a:rPr>
              <a:t>Programme Type</a:t>
            </a:r>
            <a:endParaRPr b="0" i="0" sz="128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59"/>
          <p:cNvSpPr txBox="1"/>
          <p:nvPr/>
        </p:nvSpPr>
        <p:spPr>
          <a:xfrm>
            <a:off x="3637800" y="8100267"/>
            <a:ext cx="110124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PREPARED BY EPOS </a:t>
            </a:r>
            <a:endParaRPr sz="15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1" name="Google Shape;1011;p59"/>
          <p:cNvSpPr txBox="1"/>
          <p:nvPr/>
        </p:nvSpPr>
        <p:spPr>
          <a:xfrm>
            <a:off x="3637800" y="4183200"/>
            <a:ext cx="110124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4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Shop</a:t>
            </a:r>
            <a:endParaRPr i="1" sz="4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60"/>
          <p:cNvSpPr txBox="1"/>
          <p:nvPr/>
        </p:nvSpPr>
        <p:spPr>
          <a:xfrm>
            <a:off x="0" y="0"/>
            <a:ext cx="182880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02124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202124"/>
                </a:solidFill>
                <a:latin typeface="Montserrat"/>
                <a:ea typeface="Montserrat"/>
                <a:cs typeface="Montserrat"/>
                <a:sym typeface="Montserrat"/>
              </a:rPr>
              <a:t>Shop</a:t>
            </a:r>
            <a:endParaRPr b="1" sz="3300">
              <a:solidFill>
                <a:srgbClr val="20212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7" name="Google Shape;1017;p60"/>
          <p:cNvSpPr/>
          <p:nvPr/>
        </p:nvSpPr>
        <p:spPr>
          <a:xfrm>
            <a:off x="410475" y="1468222"/>
            <a:ext cx="10203600" cy="59496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1018" name="Google Shape;1018;p60"/>
          <p:cNvSpPr/>
          <p:nvPr/>
        </p:nvSpPr>
        <p:spPr>
          <a:xfrm>
            <a:off x="410829" y="1468226"/>
            <a:ext cx="10194900" cy="305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9" name="Google Shape;1019;p60"/>
          <p:cNvSpPr/>
          <p:nvPr/>
        </p:nvSpPr>
        <p:spPr>
          <a:xfrm>
            <a:off x="414825" y="1162700"/>
            <a:ext cx="10194900" cy="13395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111111"/>
                </a:solidFill>
                <a:latin typeface="Montserrat"/>
                <a:ea typeface="Montserrat"/>
                <a:cs typeface="Montserrat"/>
                <a:sym typeface="Montserrat"/>
              </a:rPr>
              <a:t>Shop</a:t>
            </a:r>
            <a:endParaRPr sz="2700"/>
          </a:p>
        </p:txBody>
      </p:sp>
      <p:sp>
        <p:nvSpPr>
          <p:cNvPr id="1020" name="Google Shape;1020;p60"/>
          <p:cNvSpPr/>
          <p:nvPr/>
        </p:nvSpPr>
        <p:spPr>
          <a:xfrm>
            <a:off x="3749468" y="2999554"/>
            <a:ext cx="2119200" cy="205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Navigational section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</a:t>
            </a:r>
            <a:endParaRPr/>
          </a:p>
        </p:txBody>
      </p:sp>
      <p:sp>
        <p:nvSpPr>
          <p:cNvPr id="1021" name="Google Shape;1021;p60"/>
          <p:cNvSpPr/>
          <p:nvPr/>
        </p:nvSpPr>
        <p:spPr>
          <a:xfrm>
            <a:off x="3748758" y="4633577"/>
            <a:ext cx="2119200" cy="43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2" name="Google Shape;1022;p60"/>
          <p:cNvGrpSpPr/>
          <p:nvPr/>
        </p:nvGrpSpPr>
        <p:grpSpPr>
          <a:xfrm>
            <a:off x="5970166" y="2965803"/>
            <a:ext cx="2119707" cy="2080180"/>
            <a:chOff x="5329725" y="3440250"/>
            <a:chExt cx="3694800" cy="2288175"/>
          </a:xfrm>
        </p:grpSpPr>
        <p:sp>
          <p:nvSpPr>
            <p:cNvPr id="1023" name="Google Shape;1023;p60"/>
            <p:cNvSpPr/>
            <p:nvPr/>
          </p:nvSpPr>
          <p:spPr>
            <a:xfrm>
              <a:off x="5329725" y="3440250"/>
              <a:ext cx="3694800" cy="22635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Navigational section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Image</a:t>
              </a:r>
              <a:endParaRPr/>
            </a:p>
          </p:txBody>
        </p:sp>
        <p:sp>
          <p:nvSpPr>
            <p:cNvPr id="1024" name="Google Shape;1024;p60"/>
            <p:cNvSpPr/>
            <p:nvPr/>
          </p:nvSpPr>
          <p:spPr>
            <a:xfrm>
              <a:off x="5329725" y="5249925"/>
              <a:ext cx="3694800" cy="4785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Description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5" name="Google Shape;1025;p60"/>
          <p:cNvGrpSpPr/>
          <p:nvPr/>
        </p:nvGrpSpPr>
        <p:grpSpPr>
          <a:xfrm>
            <a:off x="8190397" y="2988236"/>
            <a:ext cx="2119707" cy="2080180"/>
            <a:chOff x="5329725" y="3440250"/>
            <a:chExt cx="3694800" cy="2288175"/>
          </a:xfrm>
        </p:grpSpPr>
        <p:sp>
          <p:nvSpPr>
            <p:cNvPr id="1026" name="Google Shape;1026;p60"/>
            <p:cNvSpPr/>
            <p:nvPr/>
          </p:nvSpPr>
          <p:spPr>
            <a:xfrm>
              <a:off x="5329725" y="3440250"/>
              <a:ext cx="3694800" cy="22635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Navigational section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Image</a:t>
              </a:r>
              <a:endParaRPr/>
            </a:p>
          </p:txBody>
        </p:sp>
        <p:sp>
          <p:nvSpPr>
            <p:cNvPr id="1027" name="Google Shape;1027;p60"/>
            <p:cNvSpPr/>
            <p:nvPr/>
          </p:nvSpPr>
          <p:spPr>
            <a:xfrm>
              <a:off x="5329725" y="5249925"/>
              <a:ext cx="3694800" cy="4785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Description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8" name="Google Shape;1028;p60"/>
          <p:cNvSpPr/>
          <p:nvPr/>
        </p:nvSpPr>
        <p:spPr>
          <a:xfrm>
            <a:off x="3749468" y="5197624"/>
            <a:ext cx="2119200" cy="205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Navigational section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</a:t>
            </a:r>
            <a:endParaRPr/>
          </a:p>
        </p:txBody>
      </p:sp>
      <p:grpSp>
        <p:nvGrpSpPr>
          <p:cNvPr id="1029" name="Google Shape;1029;p60"/>
          <p:cNvGrpSpPr/>
          <p:nvPr/>
        </p:nvGrpSpPr>
        <p:grpSpPr>
          <a:xfrm>
            <a:off x="5970166" y="5163874"/>
            <a:ext cx="2119707" cy="2080180"/>
            <a:chOff x="5329725" y="3440250"/>
            <a:chExt cx="3694800" cy="2288175"/>
          </a:xfrm>
        </p:grpSpPr>
        <p:sp>
          <p:nvSpPr>
            <p:cNvPr id="1030" name="Google Shape;1030;p60"/>
            <p:cNvSpPr/>
            <p:nvPr/>
          </p:nvSpPr>
          <p:spPr>
            <a:xfrm>
              <a:off x="5329725" y="3440250"/>
              <a:ext cx="3694800" cy="22635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Navigational section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Image</a:t>
              </a:r>
              <a:endParaRPr/>
            </a:p>
          </p:txBody>
        </p:sp>
        <p:sp>
          <p:nvSpPr>
            <p:cNvPr id="1031" name="Google Shape;1031;p60"/>
            <p:cNvSpPr/>
            <p:nvPr/>
          </p:nvSpPr>
          <p:spPr>
            <a:xfrm>
              <a:off x="5329725" y="5249925"/>
              <a:ext cx="3694800" cy="4785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Description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2" name="Google Shape;1032;p60"/>
          <p:cNvGrpSpPr/>
          <p:nvPr/>
        </p:nvGrpSpPr>
        <p:grpSpPr>
          <a:xfrm>
            <a:off x="8190397" y="5186306"/>
            <a:ext cx="2119707" cy="2080180"/>
            <a:chOff x="5329725" y="3440250"/>
            <a:chExt cx="3694800" cy="2288175"/>
          </a:xfrm>
        </p:grpSpPr>
        <p:sp>
          <p:nvSpPr>
            <p:cNvPr id="1033" name="Google Shape;1033;p60"/>
            <p:cNvSpPr/>
            <p:nvPr/>
          </p:nvSpPr>
          <p:spPr>
            <a:xfrm>
              <a:off x="5329725" y="3440250"/>
              <a:ext cx="3694800" cy="22635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Navigational section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Image</a:t>
              </a:r>
              <a:endParaRPr/>
            </a:p>
          </p:txBody>
        </p:sp>
        <p:sp>
          <p:nvSpPr>
            <p:cNvPr id="1034" name="Google Shape;1034;p60"/>
            <p:cNvSpPr/>
            <p:nvPr/>
          </p:nvSpPr>
          <p:spPr>
            <a:xfrm>
              <a:off x="5329725" y="5249925"/>
              <a:ext cx="3694800" cy="4785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Description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5" name="Google Shape;1035;p60"/>
          <p:cNvSpPr/>
          <p:nvPr/>
        </p:nvSpPr>
        <p:spPr>
          <a:xfrm>
            <a:off x="3749461" y="6809215"/>
            <a:ext cx="2119200" cy="43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60"/>
          <p:cNvSpPr/>
          <p:nvPr/>
        </p:nvSpPr>
        <p:spPr>
          <a:xfrm>
            <a:off x="501537" y="2999545"/>
            <a:ext cx="2757900" cy="363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CATEGORIES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37" name="Google Shape;1037;p60"/>
          <p:cNvCxnSpPr/>
          <p:nvPr/>
        </p:nvCxnSpPr>
        <p:spPr>
          <a:xfrm>
            <a:off x="622967" y="3510683"/>
            <a:ext cx="2426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8" name="Google Shape;1038;p60"/>
          <p:cNvSpPr/>
          <p:nvPr/>
        </p:nvSpPr>
        <p:spPr>
          <a:xfrm>
            <a:off x="646292" y="3661789"/>
            <a:ext cx="2444100" cy="30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Uncategorised (0)</a:t>
            </a:r>
            <a:endParaRPr/>
          </a:p>
        </p:txBody>
      </p:sp>
      <p:cxnSp>
        <p:nvCxnSpPr>
          <p:cNvPr id="1039" name="Google Shape;1039;p60"/>
          <p:cNvCxnSpPr/>
          <p:nvPr/>
        </p:nvCxnSpPr>
        <p:spPr>
          <a:xfrm>
            <a:off x="655113" y="4076960"/>
            <a:ext cx="242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1040" name="Google Shape;1040;p60"/>
          <p:cNvSpPr/>
          <p:nvPr/>
        </p:nvSpPr>
        <p:spPr>
          <a:xfrm>
            <a:off x="646292" y="4186630"/>
            <a:ext cx="2444100" cy="30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(0)</a:t>
            </a:r>
            <a:endParaRPr/>
          </a:p>
        </p:txBody>
      </p:sp>
      <p:cxnSp>
        <p:nvCxnSpPr>
          <p:cNvPr id="1041" name="Google Shape;1041;p60"/>
          <p:cNvCxnSpPr/>
          <p:nvPr/>
        </p:nvCxnSpPr>
        <p:spPr>
          <a:xfrm>
            <a:off x="655113" y="4601802"/>
            <a:ext cx="242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1042" name="Google Shape;1042;p60"/>
          <p:cNvSpPr/>
          <p:nvPr/>
        </p:nvSpPr>
        <p:spPr>
          <a:xfrm>
            <a:off x="646292" y="4711472"/>
            <a:ext cx="2444100" cy="30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(0)</a:t>
            </a:r>
            <a:endParaRPr/>
          </a:p>
        </p:txBody>
      </p:sp>
      <p:cxnSp>
        <p:nvCxnSpPr>
          <p:cNvPr id="1043" name="Google Shape;1043;p60"/>
          <p:cNvCxnSpPr/>
          <p:nvPr/>
        </p:nvCxnSpPr>
        <p:spPr>
          <a:xfrm>
            <a:off x="655113" y="5126644"/>
            <a:ext cx="242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1044" name="Google Shape;1044;p60"/>
          <p:cNvSpPr/>
          <p:nvPr/>
        </p:nvSpPr>
        <p:spPr>
          <a:xfrm>
            <a:off x="646292" y="5236314"/>
            <a:ext cx="2444100" cy="30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(0)</a:t>
            </a:r>
            <a:endParaRPr/>
          </a:p>
        </p:txBody>
      </p:sp>
      <p:cxnSp>
        <p:nvCxnSpPr>
          <p:cNvPr id="1045" name="Google Shape;1045;p60"/>
          <p:cNvCxnSpPr/>
          <p:nvPr/>
        </p:nvCxnSpPr>
        <p:spPr>
          <a:xfrm>
            <a:off x="655113" y="5651485"/>
            <a:ext cx="242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1046" name="Google Shape;1046;p60"/>
          <p:cNvSpPr/>
          <p:nvPr/>
        </p:nvSpPr>
        <p:spPr>
          <a:xfrm>
            <a:off x="646292" y="5761156"/>
            <a:ext cx="2444100" cy="30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(0)</a:t>
            </a:r>
            <a:endParaRPr/>
          </a:p>
        </p:txBody>
      </p:sp>
      <p:cxnSp>
        <p:nvCxnSpPr>
          <p:cNvPr id="1047" name="Google Shape;1047;p60"/>
          <p:cNvCxnSpPr/>
          <p:nvPr/>
        </p:nvCxnSpPr>
        <p:spPr>
          <a:xfrm>
            <a:off x="655113" y="6176327"/>
            <a:ext cx="2426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1048" name="Google Shape;1048;p60"/>
          <p:cNvSpPr/>
          <p:nvPr/>
        </p:nvSpPr>
        <p:spPr>
          <a:xfrm>
            <a:off x="4395845" y="4890046"/>
            <a:ext cx="825000" cy="167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Add to cart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049" name="Google Shape;1049;p60"/>
          <p:cNvSpPr/>
          <p:nvPr/>
        </p:nvSpPr>
        <p:spPr>
          <a:xfrm>
            <a:off x="6616579" y="4890046"/>
            <a:ext cx="825000" cy="167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Add to cart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050" name="Google Shape;1050;p60"/>
          <p:cNvSpPr/>
          <p:nvPr/>
        </p:nvSpPr>
        <p:spPr>
          <a:xfrm>
            <a:off x="8838751" y="4890046"/>
            <a:ext cx="825000" cy="167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Add to cart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051" name="Google Shape;1051;p60"/>
          <p:cNvSpPr/>
          <p:nvPr/>
        </p:nvSpPr>
        <p:spPr>
          <a:xfrm>
            <a:off x="4395834" y="7076772"/>
            <a:ext cx="825000" cy="167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Add to cart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052" name="Google Shape;1052;p60"/>
          <p:cNvSpPr/>
          <p:nvPr/>
        </p:nvSpPr>
        <p:spPr>
          <a:xfrm>
            <a:off x="6616919" y="7076772"/>
            <a:ext cx="825000" cy="167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Add to cart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053" name="Google Shape;1053;p60"/>
          <p:cNvSpPr/>
          <p:nvPr/>
        </p:nvSpPr>
        <p:spPr>
          <a:xfrm>
            <a:off x="8838762" y="7076772"/>
            <a:ext cx="825000" cy="167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Add to cart</a:t>
            </a:r>
            <a:endParaRPr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graphicFrame>
        <p:nvGraphicFramePr>
          <p:cNvPr id="1054" name="Google Shape;1054;p60"/>
          <p:cNvGraphicFramePr/>
          <p:nvPr/>
        </p:nvGraphicFramePr>
        <p:xfrm>
          <a:off x="10904325" y="1229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{48FD2119-6418-421D-A403-E5465F0AB291}</a:tableStyleId>
              </a:tblPr>
              <a:tblGrid>
                <a:gridCol w="1200225"/>
                <a:gridCol w="2651525"/>
                <a:gridCol w="3245900"/>
              </a:tblGrid>
              <a:tr h="4247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SHOP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PAGE DESIGN STRUCTURE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636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1 - SHOP Main banner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Banner Header: Shop 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Banner Image:  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636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2 - Categories Filter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Categories section to help consumer filter based on what they want to purchase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1317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 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- Enquiry Form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Client to provide at least 5 products image and description into: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Achiever's Art Product Import Sheet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Add to cart button to ensure products get added to cart page. 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Should reflect Quantity/+- button after button is clicked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sp>
        <p:nvSpPr>
          <p:cNvPr id="1055" name="Google Shape;1055;p60"/>
          <p:cNvSpPr/>
          <p:nvPr/>
        </p:nvSpPr>
        <p:spPr>
          <a:xfrm>
            <a:off x="501525" y="1123829"/>
            <a:ext cx="10104300" cy="1350000"/>
          </a:xfrm>
          <a:prstGeom prst="rect">
            <a:avLst/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60"/>
          <p:cNvSpPr txBox="1"/>
          <p:nvPr/>
        </p:nvSpPr>
        <p:spPr>
          <a:xfrm>
            <a:off x="501525" y="1114000"/>
            <a:ext cx="334800" cy="336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1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1057" name="Google Shape;1057;p60"/>
          <p:cNvSpPr/>
          <p:nvPr/>
        </p:nvSpPr>
        <p:spPr>
          <a:xfrm>
            <a:off x="410475" y="2780050"/>
            <a:ext cx="3055500" cy="4296600"/>
          </a:xfrm>
          <a:prstGeom prst="rect">
            <a:avLst/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60"/>
          <p:cNvSpPr txBox="1"/>
          <p:nvPr/>
        </p:nvSpPr>
        <p:spPr>
          <a:xfrm>
            <a:off x="410475" y="2770222"/>
            <a:ext cx="323400" cy="336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2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1059" name="Google Shape;1059;p60"/>
          <p:cNvSpPr/>
          <p:nvPr/>
        </p:nvSpPr>
        <p:spPr>
          <a:xfrm>
            <a:off x="3541750" y="2798675"/>
            <a:ext cx="6891000" cy="4619100"/>
          </a:xfrm>
          <a:prstGeom prst="rect">
            <a:avLst/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60"/>
          <p:cNvSpPr txBox="1"/>
          <p:nvPr/>
        </p:nvSpPr>
        <p:spPr>
          <a:xfrm>
            <a:off x="3541750" y="2788835"/>
            <a:ext cx="323400" cy="336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3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1061" name="Google Shape;1061;p60"/>
          <p:cNvSpPr/>
          <p:nvPr/>
        </p:nvSpPr>
        <p:spPr>
          <a:xfrm>
            <a:off x="418925" y="7436050"/>
            <a:ext cx="10203600" cy="16035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 per default footer in mainpage</a:t>
            </a:r>
            <a:endParaRPr sz="27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61"/>
          <p:cNvSpPr txBox="1"/>
          <p:nvPr/>
        </p:nvSpPr>
        <p:spPr>
          <a:xfrm>
            <a:off x="3637800" y="8100267"/>
            <a:ext cx="110124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PREPARED BY EPOS </a:t>
            </a:r>
            <a:endParaRPr sz="15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7" name="Google Shape;1067;p61"/>
          <p:cNvSpPr txBox="1"/>
          <p:nvPr/>
        </p:nvSpPr>
        <p:spPr>
          <a:xfrm>
            <a:off x="3637800" y="4183200"/>
            <a:ext cx="110124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6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CONTACT US </a:t>
            </a:r>
            <a:r>
              <a:rPr lang="en" sz="3200">
                <a:solidFill>
                  <a:srgbClr val="CCCCCC"/>
                </a:solidFill>
              </a:rPr>
              <a:t>联系我们</a:t>
            </a:r>
            <a:endParaRPr i="1" sz="36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62"/>
          <p:cNvSpPr txBox="1"/>
          <p:nvPr/>
        </p:nvSpPr>
        <p:spPr>
          <a:xfrm>
            <a:off x="-64650" y="0"/>
            <a:ext cx="182880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202124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202124"/>
                </a:solidFill>
                <a:latin typeface="Montserrat"/>
                <a:ea typeface="Montserrat"/>
                <a:cs typeface="Montserrat"/>
                <a:sym typeface="Montserrat"/>
              </a:rPr>
              <a:t>CONTACT US PAGE</a:t>
            </a:r>
            <a:endParaRPr b="1" sz="3300">
              <a:solidFill>
                <a:srgbClr val="20212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073" name="Google Shape;1073;p62"/>
          <p:cNvGraphicFramePr/>
          <p:nvPr/>
        </p:nvGraphicFramePr>
        <p:xfrm>
          <a:off x="10904325" y="1229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{48FD2119-6418-421D-A403-E5465F0AB291}</a:tableStyleId>
              </a:tblPr>
              <a:tblGrid>
                <a:gridCol w="1200225"/>
                <a:gridCol w="2651525"/>
                <a:gridCol w="3245900"/>
              </a:tblGrid>
              <a:tr h="284425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CONTACT US PAGE DESIGN STRUCTURE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 hMerge="1"/>
                <a:tc hMerge="1"/>
              </a:tr>
              <a:tr h="53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1 - Contact us Main banner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Banner Header: CONTACTS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Description: Home &gt; Contacts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Image: </a:t>
                      </a:r>
                      <a:r>
                        <a:rPr lang="en" sz="13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contact us</a:t>
                      </a:r>
                      <a:r>
                        <a:rPr lang="en"/>
                        <a:t> 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677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2 - Contact us section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Header: Ask us questions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Sub-header: Book an appointment with us to save time!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Contact details to include: 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Contact us at: 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+65 9123 4537</a:t>
                      </a:r>
                      <a:endParaRPr sz="1200">
                        <a:solidFill>
                          <a:schemeClr val="dk1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Email: </a:t>
                      </a:r>
                      <a:r>
                        <a:rPr lang="en" sz="1200" u="sng">
                          <a:solidFill>
                            <a:schemeClr val="hlink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  <a:hlinkClick r:id="rId4"/>
                        </a:rPr>
                        <a:t>info@achieversarts.com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 </a:t>
                      </a:r>
                      <a:br>
                        <a:rPr lang="en" sz="12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</a:br>
                      <a:br>
                        <a:rPr lang="en" sz="12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</a:br>
                      <a:r>
                        <a:rPr lang="en" sz="9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Tampines Studio (OTH):  📞 6204 1662</a:t>
                      </a:r>
                      <a:endParaRPr sz="9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 Tampines Walk, #02-86</a:t>
                      </a:r>
                      <a:endParaRPr sz="9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Our Tampines Hub</a:t>
                      </a:r>
                      <a:endParaRPr sz="9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Singapore 528523</a:t>
                      </a:r>
                      <a:endParaRPr sz="9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Pasir Ris Studio (DTE):  📞 6951 1732</a:t>
                      </a:r>
                      <a:endParaRPr sz="9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 Pasir Ris Close, #03-102</a:t>
                      </a:r>
                      <a:endParaRPr sz="9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E!HUB @ Downtown East</a:t>
                      </a:r>
                      <a:endParaRPr sz="9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Singapore 519599</a:t>
                      </a:r>
                      <a:endParaRPr sz="9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Bedok Studio (HBB):  📞 6929 3225</a:t>
                      </a:r>
                      <a:endParaRPr sz="9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 Bedok North Street 1, #01-22</a:t>
                      </a:r>
                      <a:endParaRPr sz="9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Heartbeat @ Bedok</a:t>
                      </a:r>
                      <a:endParaRPr sz="9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Singapore 469662</a:t>
                      </a:r>
                      <a:br>
                        <a:rPr lang="en" sz="9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br>
                        <a:rPr lang="en" sz="9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Opening Hours</a:t>
                      </a:r>
                      <a:endParaRPr sz="1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Wednesdays to Fridays </a:t>
                      </a:r>
                      <a:endParaRPr sz="1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12:00pm to 9:00pm</a:t>
                      </a:r>
                      <a:endParaRPr sz="1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Saturdays </a:t>
                      </a:r>
                      <a:endParaRPr sz="1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9:00am to 6:00pm</a:t>
                      </a:r>
                      <a:endParaRPr sz="1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Sundays </a:t>
                      </a:r>
                      <a:endParaRPr sz="1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9:00am to 5:30pm</a:t>
                      </a:r>
                      <a:endParaRPr sz="9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882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3 - Enquiry Form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As per homepage form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sp>
        <p:nvSpPr>
          <p:cNvPr id="1074" name="Google Shape;1074;p62"/>
          <p:cNvSpPr/>
          <p:nvPr/>
        </p:nvSpPr>
        <p:spPr>
          <a:xfrm>
            <a:off x="471175" y="1686450"/>
            <a:ext cx="10055100" cy="71481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1075" name="Google Shape;1075;p62"/>
          <p:cNvSpPr/>
          <p:nvPr/>
        </p:nvSpPr>
        <p:spPr>
          <a:xfrm>
            <a:off x="471175" y="1229250"/>
            <a:ext cx="10055100" cy="16122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cxnSp>
        <p:nvCxnSpPr>
          <p:cNvPr id="1076" name="Google Shape;1076;p62"/>
          <p:cNvCxnSpPr/>
          <p:nvPr/>
        </p:nvCxnSpPr>
        <p:spPr>
          <a:xfrm>
            <a:off x="530500" y="1284350"/>
            <a:ext cx="9981600" cy="1521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077" name="Google Shape;1077;p62"/>
          <p:cNvCxnSpPr/>
          <p:nvPr/>
        </p:nvCxnSpPr>
        <p:spPr>
          <a:xfrm flipH="1" rot="10800000">
            <a:off x="502575" y="1481075"/>
            <a:ext cx="9993000" cy="133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078" name="Google Shape;1078;p62"/>
          <p:cNvSpPr/>
          <p:nvPr/>
        </p:nvSpPr>
        <p:spPr>
          <a:xfrm>
            <a:off x="3485175" y="1516974"/>
            <a:ext cx="3845400" cy="1058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Montserrat"/>
                <a:ea typeface="Montserrat"/>
                <a:cs typeface="Montserrat"/>
                <a:sym typeface="Montserrat"/>
              </a:rPr>
              <a:t>CONTACTS</a:t>
            </a:r>
            <a:endParaRPr sz="2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Home &gt; Contacts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9" name="Google Shape;1079;p62"/>
          <p:cNvSpPr txBox="1"/>
          <p:nvPr/>
        </p:nvSpPr>
        <p:spPr>
          <a:xfrm>
            <a:off x="2834452" y="1396926"/>
            <a:ext cx="286200" cy="2949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1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1080" name="Google Shape;1080;p62"/>
          <p:cNvSpPr/>
          <p:nvPr/>
        </p:nvSpPr>
        <p:spPr>
          <a:xfrm>
            <a:off x="3120700" y="1396800"/>
            <a:ext cx="4860600" cy="1226400"/>
          </a:xfrm>
          <a:prstGeom prst="rect">
            <a:avLst/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62"/>
          <p:cNvSpPr/>
          <p:nvPr/>
        </p:nvSpPr>
        <p:spPr>
          <a:xfrm>
            <a:off x="860350" y="3486175"/>
            <a:ext cx="2750100" cy="324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Ask us questions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2" name="Google Shape;1082;p62"/>
          <p:cNvSpPr/>
          <p:nvPr/>
        </p:nvSpPr>
        <p:spPr>
          <a:xfrm>
            <a:off x="860350" y="4050600"/>
            <a:ext cx="4850100" cy="672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Book an appointment with us to save time!</a:t>
            </a:r>
            <a:endParaRPr sz="2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3" name="Google Shape;1083;p62"/>
          <p:cNvSpPr/>
          <p:nvPr/>
        </p:nvSpPr>
        <p:spPr>
          <a:xfrm>
            <a:off x="860350" y="4887900"/>
            <a:ext cx="2338200" cy="8379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Contact us at: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+65 </a:t>
            </a: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9123 4537 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4" name="Google Shape;1084;p62"/>
          <p:cNvSpPr/>
          <p:nvPr/>
        </p:nvSpPr>
        <p:spPr>
          <a:xfrm>
            <a:off x="3372250" y="4887900"/>
            <a:ext cx="2338200" cy="8379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Email: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info@achieversarts.com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5" name="Google Shape;1085;p62"/>
          <p:cNvSpPr/>
          <p:nvPr/>
        </p:nvSpPr>
        <p:spPr>
          <a:xfrm>
            <a:off x="860350" y="2984275"/>
            <a:ext cx="9554400" cy="5702100"/>
          </a:xfrm>
          <a:prstGeom prst="rect">
            <a:avLst/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62"/>
          <p:cNvSpPr txBox="1"/>
          <p:nvPr/>
        </p:nvSpPr>
        <p:spPr>
          <a:xfrm>
            <a:off x="581650" y="3329326"/>
            <a:ext cx="352800" cy="280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2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1087" name="Google Shape;1087;p62"/>
          <p:cNvSpPr txBox="1"/>
          <p:nvPr/>
        </p:nvSpPr>
        <p:spPr>
          <a:xfrm>
            <a:off x="6144013" y="4411869"/>
            <a:ext cx="286200" cy="2811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3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1088" name="Google Shape;1088;p62"/>
          <p:cNvSpPr/>
          <p:nvPr/>
        </p:nvSpPr>
        <p:spPr>
          <a:xfrm>
            <a:off x="6064900" y="4338653"/>
            <a:ext cx="4083000" cy="288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9" name="Google Shape;1089;p62"/>
          <p:cNvSpPr/>
          <p:nvPr/>
        </p:nvSpPr>
        <p:spPr>
          <a:xfrm>
            <a:off x="6066504" y="4050603"/>
            <a:ext cx="4083000" cy="4406700"/>
          </a:xfrm>
          <a:prstGeom prst="rect">
            <a:avLst/>
          </a:prstGeom>
          <a:solidFill>
            <a:srgbClr val="EEEEEE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1090" name="Google Shape;1090;p62"/>
          <p:cNvSpPr/>
          <p:nvPr/>
        </p:nvSpPr>
        <p:spPr>
          <a:xfrm>
            <a:off x="6529325" y="4160250"/>
            <a:ext cx="3258600" cy="4665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Ask us Questions/ Book an appointment</a:t>
            </a:r>
            <a:endParaRPr sz="16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1" name="Google Shape;1091;p62"/>
          <p:cNvSpPr/>
          <p:nvPr/>
        </p:nvSpPr>
        <p:spPr>
          <a:xfrm>
            <a:off x="6527457" y="4907016"/>
            <a:ext cx="3258600" cy="2403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372"/>
              <a:buFont typeface="Arial"/>
              <a:buNone/>
            </a:pPr>
            <a:r>
              <a:rPr b="0" i="0" lang="en" sz="1372" u="none" cap="none" strike="noStrike">
                <a:solidFill>
                  <a:srgbClr val="8A9880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 b="0" i="0" sz="13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62"/>
          <p:cNvSpPr/>
          <p:nvPr/>
        </p:nvSpPr>
        <p:spPr>
          <a:xfrm>
            <a:off x="6527457" y="5301643"/>
            <a:ext cx="3258600" cy="2403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372"/>
              <a:buFont typeface="Arial"/>
              <a:buNone/>
            </a:pPr>
            <a:r>
              <a:rPr lang="en" sz="1372">
                <a:solidFill>
                  <a:srgbClr val="8A9880"/>
                </a:solidFill>
              </a:rPr>
              <a:t>Phone Number</a:t>
            </a:r>
            <a:endParaRPr b="0" i="0" sz="13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62"/>
          <p:cNvSpPr/>
          <p:nvPr/>
        </p:nvSpPr>
        <p:spPr>
          <a:xfrm>
            <a:off x="6527457" y="5610386"/>
            <a:ext cx="3258600" cy="2403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372"/>
              <a:buFont typeface="Arial"/>
              <a:buNone/>
            </a:pPr>
            <a:r>
              <a:rPr b="0" i="0" lang="en" sz="1372" u="none" cap="none" strike="noStrike">
                <a:solidFill>
                  <a:srgbClr val="8A9880"/>
                </a:solidFill>
                <a:latin typeface="Arial"/>
                <a:ea typeface="Arial"/>
                <a:cs typeface="Arial"/>
                <a:sym typeface="Arial"/>
              </a:rPr>
              <a:t>Email</a:t>
            </a:r>
            <a:endParaRPr b="0" i="0" sz="13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62"/>
          <p:cNvSpPr/>
          <p:nvPr/>
        </p:nvSpPr>
        <p:spPr>
          <a:xfrm>
            <a:off x="6527457" y="5936307"/>
            <a:ext cx="3258600" cy="2403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372"/>
              <a:buFont typeface="Arial"/>
              <a:buNone/>
            </a:pPr>
            <a:r>
              <a:rPr lang="en" sz="1372">
                <a:solidFill>
                  <a:srgbClr val="8A9880"/>
                </a:solidFill>
              </a:rPr>
              <a:t>Children Age</a:t>
            </a:r>
            <a:endParaRPr b="0" i="0" sz="13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62"/>
          <p:cNvSpPr/>
          <p:nvPr/>
        </p:nvSpPr>
        <p:spPr>
          <a:xfrm>
            <a:off x="6527457" y="6279404"/>
            <a:ext cx="3258600" cy="2403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372"/>
              <a:buFont typeface="Arial"/>
              <a:buNone/>
            </a:pPr>
            <a:r>
              <a:rPr lang="en" sz="1372">
                <a:solidFill>
                  <a:srgbClr val="8A9880"/>
                </a:solidFill>
              </a:rPr>
              <a:t>Our Studio</a:t>
            </a:r>
            <a:endParaRPr b="0" i="0" sz="13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62"/>
          <p:cNvSpPr/>
          <p:nvPr/>
        </p:nvSpPr>
        <p:spPr>
          <a:xfrm>
            <a:off x="6527455" y="7720736"/>
            <a:ext cx="977700" cy="3780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410"/>
              </a:buClr>
              <a:buSzPts val="1583"/>
              <a:buFont typeface="Arial"/>
              <a:buNone/>
            </a:pPr>
            <a:r>
              <a:rPr b="1" i="0" lang="en" sz="983" u="none" cap="none" strike="noStrike">
                <a:solidFill>
                  <a:srgbClr val="1A2410"/>
                </a:solidFill>
                <a:latin typeface="Arial"/>
                <a:ea typeface="Arial"/>
                <a:cs typeface="Arial"/>
                <a:sym typeface="Arial"/>
              </a:rPr>
              <a:t>SEND ENQUIRY</a:t>
            </a:r>
            <a:endParaRPr b="0" i="0" sz="98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62"/>
          <p:cNvSpPr/>
          <p:nvPr/>
        </p:nvSpPr>
        <p:spPr>
          <a:xfrm>
            <a:off x="6527459" y="7009463"/>
            <a:ext cx="3258600" cy="6030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372"/>
              <a:buFont typeface="Arial"/>
              <a:buNone/>
            </a:pPr>
            <a:r>
              <a:rPr lang="en" sz="1372">
                <a:solidFill>
                  <a:srgbClr val="8A9880"/>
                </a:solidFill>
              </a:rPr>
              <a:t>Message</a:t>
            </a:r>
            <a:endParaRPr b="0" i="0" sz="13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62"/>
          <p:cNvSpPr/>
          <p:nvPr/>
        </p:nvSpPr>
        <p:spPr>
          <a:xfrm>
            <a:off x="6529196" y="6604437"/>
            <a:ext cx="3258600" cy="2403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880"/>
              </a:buClr>
              <a:buSzPts val="1372"/>
              <a:buFont typeface="Arial"/>
              <a:buNone/>
            </a:pPr>
            <a:r>
              <a:rPr lang="en" sz="1372">
                <a:solidFill>
                  <a:srgbClr val="8A9880"/>
                </a:solidFill>
              </a:rPr>
              <a:t>Programme Type</a:t>
            </a:r>
            <a:endParaRPr b="0" i="0" sz="13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62"/>
          <p:cNvSpPr/>
          <p:nvPr/>
        </p:nvSpPr>
        <p:spPr>
          <a:xfrm>
            <a:off x="860350" y="5891100"/>
            <a:ext cx="2338200" cy="2566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Tampines Studio (OTH):  📞 6204 1662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 Tampines Walk, #02-86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Our Tampines Hub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Singapore 528523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Pasir Ris Studio (DTE):  📞 6951 1732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 Pasir Ris Close, #03-102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E!HUB @ Downtown East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Singapore 519599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Bedok Studio (HBB):  📞 6929 3225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11 Bedok North Street 1, #01-22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Heartbeat @ Bedok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Singapore 469662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0" name="Google Shape;1100;p62"/>
          <p:cNvSpPr/>
          <p:nvPr/>
        </p:nvSpPr>
        <p:spPr>
          <a:xfrm>
            <a:off x="3372250" y="5931750"/>
            <a:ext cx="2338200" cy="2566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Opening Hours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Wednesdays to Fridays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12:00pm to 9:00pm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Saturdays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9:00am to 6:00pm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Sundays 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9:00am to 5:30pm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63"/>
          <p:cNvSpPr txBox="1"/>
          <p:nvPr/>
        </p:nvSpPr>
        <p:spPr>
          <a:xfrm>
            <a:off x="-64650" y="0"/>
            <a:ext cx="182880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202124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202124"/>
                </a:solidFill>
                <a:latin typeface="Montserrat"/>
                <a:ea typeface="Montserrat"/>
                <a:cs typeface="Montserrat"/>
                <a:sym typeface="Montserrat"/>
              </a:rPr>
              <a:t>CONTACT US PAGE</a:t>
            </a:r>
            <a:endParaRPr b="1" sz="3300">
              <a:solidFill>
                <a:srgbClr val="20212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106" name="Google Shape;1106;p63"/>
          <p:cNvGraphicFramePr/>
          <p:nvPr/>
        </p:nvGraphicFramePr>
        <p:xfrm>
          <a:off x="10904325" y="1229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{48FD2119-6418-421D-A403-E5465F0AB291}</a:tableStyleId>
              </a:tblPr>
              <a:tblGrid>
                <a:gridCol w="1200225"/>
                <a:gridCol w="2651525"/>
                <a:gridCol w="3245900"/>
              </a:tblGrid>
              <a:tr h="284425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CONTACT US PAGE DESIGN STRUCTURE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 hMerge="1"/>
                <a:tc hMerge="1"/>
              </a:tr>
              <a:tr h="3677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-Map section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Header: VISIT US TO SEE OUR STUDIOS!</a:t>
                      </a:r>
                      <a:br>
                        <a:rPr lang="en" sz="12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</a:br>
                      <a:br>
                        <a:rPr lang="en" sz="12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</a:b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Tampines Studio: </a:t>
                      </a:r>
                      <a:endParaRPr sz="1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sng">
                          <a:solidFill>
                            <a:schemeClr val="hlink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3"/>
                        </a:rPr>
                        <a:t>https://maps.app.goo.gl/J4xeLVfwB8xGokZn7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Pasir Ris Studio: </a:t>
                      </a:r>
                      <a:endParaRPr sz="1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sng">
                          <a:solidFill>
                            <a:schemeClr val="hlink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4"/>
                        </a:rPr>
                        <a:t>https://maps.app.goo.gl/Dx8AdMfSCq46o5xx6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Bedok Studio Studio:</a:t>
                      </a:r>
                      <a:endParaRPr sz="1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sng">
                          <a:solidFill>
                            <a:schemeClr val="hlink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hlinkClick r:id="rId5"/>
                        </a:rPr>
                        <a:t>https://maps.app.goo.gl/PisTD64PSdpJT3m9A</a:t>
                      </a:r>
                      <a:r>
                        <a:rPr lang="en" sz="12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endParaRPr sz="12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sp>
        <p:nvSpPr>
          <p:cNvPr id="1107" name="Google Shape;1107;p63"/>
          <p:cNvSpPr/>
          <p:nvPr/>
        </p:nvSpPr>
        <p:spPr>
          <a:xfrm>
            <a:off x="454725" y="1229250"/>
            <a:ext cx="10055100" cy="59385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1108" name="Google Shape;1108;p63"/>
          <p:cNvSpPr/>
          <p:nvPr/>
        </p:nvSpPr>
        <p:spPr>
          <a:xfrm>
            <a:off x="2485500" y="2579125"/>
            <a:ext cx="6098100" cy="672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VISIT US TO SEE OUR STUDIOS!</a:t>
            </a:r>
            <a:endParaRPr sz="2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9" name="Google Shape;1109;p63"/>
          <p:cNvSpPr/>
          <p:nvPr/>
        </p:nvSpPr>
        <p:spPr>
          <a:xfrm>
            <a:off x="918000" y="1660800"/>
            <a:ext cx="8679900" cy="5102100"/>
          </a:xfrm>
          <a:prstGeom prst="rect">
            <a:avLst/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63"/>
          <p:cNvSpPr txBox="1"/>
          <p:nvPr/>
        </p:nvSpPr>
        <p:spPr>
          <a:xfrm>
            <a:off x="565200" y="1857851"/>
            <a:ext cx="352800" cy="280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1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1111" name="Google Shape;1111;p63"/>
          <p:cNvSpPr/>
          <p:nvPr/>
        </p:nvSpPr>
        <p:spPr>
          <a:xfrm>
            <a:off x="1711325" y="3678575"/>
            <a:ext cx="2338200" cy="2606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Tampines Studio Map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2" name="Google Shape;1112;p63"/>
          <p:cNvSpPr/>
          <p:nvPr/>
        </p:nvSpPr>
        <p:spPr>
          <a:xfrm>
            <a:off x="4223225" y="3719225"/>
            <a:ext cx="2338200" cy="2566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Pasir Ris Studio Map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3" name="Google Shape;1113;p63"/>
          <p:cNvSpPr/>
          <p:nvPr/>
        </p:nvSpPr>
        <p:spPr>
          <a:xfrm>
            <a:off x="6733313" y="3719225"/>
            <a:ext cx="2338200" cy="2566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Bedok Studio Map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64"/>
          <p:cNvSpPr txBox="1"/>
          <p:nvPr/>
        </p:nvSpPr>
        <p:spPr>
          <a:xfrm>
            <a:off x="3637800" y="8100267"/>
            <a:ext cx="110124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PREPARED BY EPOS </a:t>
            </a:r>
            <a:endParaRPr sz="15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9" name="Google Shape;1119;p64"/>
          <p:cNvSpPr txBox="1"/>
          <p:nvPr/>
        </p:nvSpPr>
        <p:spPr>
          <a:xfrm>
            <a:off x="3637800" y="4183200"/>
            <a:ext cx="110124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6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VISIT OUR STUDIOS</a:t>
            </a:r>
            <a:endParaRPr i="1" sz="36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65"/>
          <p:cNvSpPr txBox="1"/>
          <p:nvPr/>
        </p:nvSpPr>
        <p:spPr>
          <a:xfrm>
            <a:off x="-64650" y="0"/>
            <a:ext cx="182880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202124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202124"/>
                </a:solidFill>
                <a:latin typeface="Montserrat"/>
                <a:ea typeface="Montserrat"/>
                <a:cs typeface="Montserrat"/>
                <a:sym typeface="Montserrat"/>
              </a:rPr>
              <a:t>OUR STUDIOS</a:t>
            </a:r>
            <a:r>
              <a:rPr b="1" lang="en" sz="3300">
                <a:solidFill>
                  <a:srgbClr val="202124"/>
                </a:solidFill>
                <a:latin typeface="Montserrat"/>
                <a:ea typeface="Montserrat"/>
                <a:cs typeface="Montserrat"/>
                <a:sym typeface="Montserrat"/>
              </a:rPr>
              <a:t> PAGE</a:t>
            </a:r>
            <a:endParaRPr b="1" sz="3300">
              <a:solidFill>
                <a:srgbClr val="20212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125" name="Google Shape;1125;p65"/>
          <p:cNvGraphicFramePr/>
          <p:nvPr/>
        </p:nvGraphicFramePr>
        <p:xfrm>
          <a:off x="10904325" y="1229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{48FD2119-6418-421D-A403-E5465F0AB291}</a:tableStyleId>
              </a:tblPr>
              <a:tblGrid>
                <a:gridCol w="1200225"/>
                <a:gridCol w="2651525"/>
                <a:gridCol w="3245900"/>
              </a:tblGrid>
              <a:tr h="4247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Our Studios 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PAGE DESIGN STRUCTURE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 hMerge="1"/>
                <a:tc hMerge="1"/>
              </a:tr>
              <a:tr h="636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1 - 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Our Studios 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Main banner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Banner Header: 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Our Studios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Description: Home &gt; 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Our Studios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Image: 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636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- Contact us section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Header: 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Tampines Studio (OTH):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Address: 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 Tampines Walk, #02-86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Our Tampines Hub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Singapore 528523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📞 6204 1662</a:t>
                      </a:r>
                      <a:b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b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Google maps: </a:t>
                      </a:r>
                      <a:r>
                        <a:rPr lang="en" sz="13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Achievers Arts - Our Tampines Hub</a:t>
                      </a:r>
                      <a:b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b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Images: 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sp>
        <p:nvSpPr>
          <p:cNvPr id="1126" name="Google Shape;1126;p65"/>
          <p:cNvSpPr/>
          <p:nvPr/>
        </p:nvSpPr>
        <p:spPr>
          <a:xfrm>
            <a:off x="471175" y="1686450"/>
            <a:ext cx="10055100" cy="68352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1127" name="Google Shape;1127;p65"/>
          <p:cNvSpPr/>
          <p:nvPr/>
        </p:nvSpPr>
        <p:spPr>
          <a:xfrm>
            <a:off x="471175" y="1229250"/>
            <a:ext cx="10055100" cy="16122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cxnSp>
        <p:nvCxnSpPr>
          <p:cNvPr id="1128" name="Google Shape;1128;p65"/>
          <p:cNvCxnSpPr/>
          <p:nvPr/>
        </p:nvCxnSpPr>
        <p:spPr>
          <a:xfrm>
            <a:off x="530500" y="1284350"/>
            <a:ext cx="9981600" cy="1521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29" name="Google Shape;1129;p65"/>
          <p:cNvCxnSpPr/>
          <p:nvPr/>
        </p:nvCxnSpPr>
        <p:spPr>
          <a:xfrm flipH="1" rot="10800000">
            <a:off x="502575" y="1481075"/>
            <a:ext cx="9993000" cy="133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30" name="Google Shape;1130;p65"/>
          <p:cNvSpPr/>
          <p:nvPr/>
        </p:nvSpPr>
        <p:spPr>
          <a:xfrm>
            <a:off x="3485175" y="1516974"/>
            <a:ext cx="3845400" cy="1058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Montserrat"/>
                <a:ea typeface="Montserrat"/>
                <a:cs typeface="Montserrat"/>
                <a:sym typeface="Montserrat"/>
              </a:rPr>
              <a:t>Our Studios</a:t>
            </a:r>
            <a:endParaRPr sz="2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Home &gt; </a:t>
            </a:r>
            <a:r>
              <a:rPr lang="en" sz="1300">
                <a:latin typeface="Montserrat"/>
                <a:ea typeface="Montserrat"/>
                <a:cs typeface="Montserrat"/>
                <a:sym typeface="Montserrat"/>
              </a:rPr>
              <a:t>Our Studios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1" name="Google Shape;1131;p65"/>
          <p:cNvSpPr txBox="1"/>
          <p:nvPr/>
        </p:nvSpPr>
        <p:spPr>
          <a:xfrm>
            <a:off x="2834452" y="1396926"/>
            <a:ext cx="286200" cy="2949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1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1132" name="Google Shape;1132;p65"/>
          <p:cNvSpPr/>
          <p:nvPr/>
        </p:nvSpPr>
        <p:spPr>
          <a:xfrm>
            <a:off x="3120700" y="1396800"/>
            <a:ext cx="4546500" cy="1226400"/>
          </a:xfrm>
          <a:prstGeom prst="rect">
            <a:avLst/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65"/>
          <p:cNvSpPr/>
          <p:nvPr/>
        </p:nvSpPr>
        <p:spPr>
          <a:xfrm>
            <a:off x="831375" y="3241100"/>
            <a:ext cx="9153000" cy="4242300"/>
          </a:xfrm>
          <a:prstGeom prst="rect">
            <a:avLst/>
          </a:prstGeom>
          <a:solidFill>
            <a:srgbClr val="FFFFFF"/>
          </a:solidFill>
          <a:ln cap="flat" cmpd="sng" w="360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6450" lIns="166450" spcFirstLastPara="1" rIns="166450" wrap="square" tIns="166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3"/>
          </a:p>
        </p:txBody>
      </p:sp>
      <p:sp>
        <p:nvSpPr>
          <p:cNvPr id="1134" name="Google Shape;1134;p65"/>
          <p:cNvSpPr/>
          <p:nvPr/>
        </p:nvSpPr>
        <p:spPr>
          <a:xfrm>
            <a:off x="1257650" y="3607401"/>
            <a:ext cx="5186700" cy="4527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135475" lIns="135475" spcFirstLastPara="1" rIns="135475" wrap="square" tIns="135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Tampines Studio (OTH):</a:t>
            </a:r>
            <a:endParaRPr sz="146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5" name="Google Shape;1135;p65"/>
          <p:cNvSpPr/>
          <p:nvPr/>
        </p:nvSpPr>
        <p:spPr>
          <a:xfrm>
            <a:off x="6658050" y="3498275"/>
            <a:ext cx="2932200" cy="2216700"/>
          </a:xfrm>
          <a:prstGeom prst="flowChartAlternateProcess">
            <a:avLst/>
          </a:prstGeom>
          <a:solidFill>
            <a:schemeClr val="lt1"/>
          </a:solidFill>
          <a:ln cap="flat" cmpd="sng" w="7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350" lIns="70350" spcFirstLastPara="1" rIns="70350" wrap="square" tIns="70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16">
                <a:latin typeface="Montserrat"/>
                <a:ea typeface="Montserrat"/>
                <a:cs typeface="Montserrat"/>
                <a:sym typeface="Montserrat"/>
              </a:rPr>
              <a:t>Google Maps</a:t>
            </a:r>
            <a:endParaRPr sz="161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6" name="Google Shape;1136;p65"/>
          <p:cNvSpPr/>
          <p:nvPr/>
        </p:nvSpPr>
        <p:spPr>
          <a:xfrm>
            <a:off x="1257650" y="4193000"/>
            <a:ext cx="5186700" cy="1521900"/>
          </a:xfrm>
          <a:prstGeom prst="flowChartAlternateProcess">
            <a:avLst/>
          </a:prstGeom>
          <a:solidFill>
            <a:schemeClr val="lt1"/>
          </a:solidFill>
          <a:ln cap="flat" cmpd="sng" w="7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350" lIns="70350" spcFirstLastPara="1" rIns="70350" wrap="square" tIns="70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16">
                <a:latin typeface="Montserrat"/>
                <a:ea typeface="Montserrat"/>
                <a:cs typeface="Montserrat"/>
                <a:sym typeface="Montserrat"/>
              </a:rPr>
              <a:t>Address: </a:t>
            </a:r>
            <a:endParaRPr sz="1216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16">
                <a:latin typeface="Montserrat"/>
                <a:ea typeface="Montserrat"/>
                <a:cs typeface="Montserrat"/>
                <a:sym typeface="Montserrat"/>
              </a:rPr>
              <a:t>1 Tampines Walk, #02-86</a:t>
            </a:r>
            <a:endParaRPr sz="1216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16">
                <a:latin typeface="Montserrat"/>
                <a:ea typeface="Montserrat"/>
                <a:cs typeface="Montserrat"/>
                <a:sym typeface="Montserrat"/>
              </a:rPr>
              <a:t>Our Tampines Hub</a:t>
            </a:r>
            <a:endParaRPr sz="1216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16">
                <a:latin typeface="Montserrat"/>
                <a:ea typeface="Montserrat"/>
                <a:cs typeface="Montserrat"/>
                <a:sym typeface="Montserrat"/>
              </a:rPr>
              <a:t>Singapore 528523</a:t>
            </a:r>
            <a:br>
              <a:rPr lang="en" sz="1216"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" sz="1216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216">
                <a:latin typeface="Montserrat"/>
                <a:ea typeface="Montserrat"/>
                <a:cs typeface="Montserrat"/>
                <a:sym typeface="Montserrat"/>
              </a:rPr>
              <a:t>📞 6204 1662</a:t>
            </a:r>
            <a:endParaRPr sz="121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7" name="Google Shape;1137;p65"/>
          <p:cNvSpPr txBox="1"/>
          <p:nvPr/>
        </p:nvSpPr>
        <p:spPr>
          <a:xfrm>
            <a:off x="530500" y="3016274"/>
            <a:ext cx="352800" cy="3501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2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1138" name="Google Shape;1138;p65"/>
          <p:cNvSpPr/>
          <p:nvPr/>
        </p:nvSpPr>
        <p:spPr>
          <a:xfrm>
            <a:off x="1257650" y="5847800"/>
            <a:ext cx="1923000" cy="1461300"/>
          </a:xfrm>
          <a:prstGeom prst="flowChartAlternateProcess">
            <a:avLst/>
          </a:prstGeom>
          <a:solidFill>
            <a:schemeClr val="lt1"/>
          </a:solidFill>
          <a:ln cap="flat" cmpd="sng" w="7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350" lIns="70350" spcFirstLastPara="1" rIns="70350" wrap="square" tIns="70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16">
                <a:latin typeface="Montserrat"/>
                <a:ea typeface="Montserrat"/>
                <a:cs typeface="Montserrat"/>
                <a:sym typeface="Montserrat"/>
              </a:rPr>
              <a:t>Images</a:t>
            </a:r>
            <a:endParaRPr sz="161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9" name="Google Shape;1139;p65"/>
          <p:cNvSpPr/>
          <p:nvPr/>
        </p:nvSpPr>
        <p:spPr>
          <a:xfrm>
            <a:off x="3394139" y="5847800"/>
            <a:ext cx="1923000" cy="1461300"/>
          </a:xfrm>
          <a:prstGeom prst="flowChartAlternateProcess">
            <a:avLst/>
          </a:prstGeom>
          <a:solidFill>
            <a:schemeClr val="lt1"/>
          </a:solidFill>
          <a:ln cap="flat" cmpd="sng" w="7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350" lIns="70350" spcFirstLastPara="1" rIns="70350" wrap="square" tIns="70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16">
                <a:latin typeface="Montserrat"/>
                <a:ea typeface="Montserrat"/>
                <a:cs typeface="Montserrat"/>
                <a:sym typeface="Montserrat"/>
              </a:rPr>
              <a:t>Images</a:t>
            </a:r>
            <a:endParaRPr sz="161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0" name="Google Shape;1140;p65"/>
          <p:cNvSpPr/>
          <p:nvPr/>
        </p:nvSpPr>
        <p:spPr>
          <a:xfrm>
            <a:off x="5530628" y="5847800"/>
            <a:ext cx="1923000" cy="1461300"/>
          </a:xfrm>
          <a:prstGeom prst="flowChartAlternateProcess">
            <a:avLst/>
          </a:prstGeom>
          <a:solidFill>
            <a:schemeClr val="lt1"/>
          </a:solidFill>
          <a:ln cap="flat" cmpd="sng" w="7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350" lIns="70350" spcFirstLastPara="1" rIns="70350" wrap="square" tIns="70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16">
                <a:latin typeface="Montserrat"/>
                <a:ea typeface="Montserrat"/>
                <a:cs typeface="Montserrat"/>
                <a:sym typeface="Montserrat"/>
              </a:rPr>
              <a:t>Images</a:t>
            </a:r>
            <a:endParaRPr sz="161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1" name="Google Shape;1141;p65"/>
          <p:cNvSpPr/>
          <p:nvPr/>
        </p:nvSpPr>
        <p:spPr>
          <a:xfrm>
            <a:off x="7667117" y="5847800"/>
            <a:ext cx="1923000" cy="1461300"/>
          </a:xfrm>
          <a:prstGeom prst="flowChartAlternateProcess">
            <a:avLst/>
          </a:prstGeom>
          <a:solidFill>
            <a:schemeClr val="lt1"/>
          </a:solidFill>
          <a:ln cap="flat" cmpd="sng" w="73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350" lIns="70350" spcFirstLastPara="1" rIns="70350" wrap="square" tIns="70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16">
                <a:latin typeface="Montserrat"/>
                <a:ea typeface="Montserrat"/>
                <a:cs typeface="Montserrat"/>
                <a:sym typeface="Montserrat"/>
              </a:rPr>
              <a:t>Images</a:t>
            </a:r>
            <a:endParaRPr sz="161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2" name="Google Shape;1142;p65"/>
          <p:cNvSpPr/>
          <p:nvPr/>
        </p:nvSpPr>
        <p:spPr>
          <a:xfrm>
            <a:off x="883300" y="3016275"/>
            <a:ext cx="9153000" cy="4747500"/>
          </a:xfrm>
          <a:prstGeom prst="rect">
            <a:avLst/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66"/>
          <p:cNvSpPr/>
          <p:nvPr/>
        </p:nvSpPr>
        <p:spPr>
          <a:xfrm>
            <a:off x="471175" y="959175"/>
            <a:ext cx="10055100" cy="80238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sp>
        <p:nvSpPr>
          <p:cNvPr id="1148" name="Google Shape;1148;p66"/>
          <p:cNvSpPr txBox="1"/>
          <p:nvPr/>
        </p:nvSpPr>
        <p:spPr>
          <a:xfrm>
            <a:off x="-64650" y="0"/>
            <a:ext cx="18288000" cy="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202124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202124"/>
                </a:solidFill>
                <a:latin typeface="Montserrat"/>
                <a:ea typeface="Montserrat"/>
                <a:cs typeface="Montserrat"/>
                <a:sym typeface="Montserrat"/>
              </a:rPr>
              <a:t>OUR STUDIOS</a:t>
            </a:r>
            <a:r>
              <a:rPr b="1" lang="en" sz="3300">
                <a:solidFill>
                  <a:srgbClr val="202124"/>
                </a:solidFill>
                <a:latin typeface="Montserrat"/>
                <a:ea typeface="Montserrat"/>
                <a:cs typeface="Montserrat"/>
                <a:sym typeface="Montserrat"/>
              </a:rPr>
              <a:t> PAGE</a:t>
            </a:r>
            <a:endParaRPr b="1" sz="3300">
              <a:solidFill>
                <a:srgbClr val="20212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149" name="Google Shape;1149;p66"/>
          <p:cNvGraphicFramePr/>
          <p:nvPr/>
        </p:nvGraphicFramePr>
        <p:xfrm>
          <a:off x="10904325" y="1229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{48FD2119-6418-421D-A403-E5465F0AB291}</a:tableStyleId>
              </a:tblPr>
              <a:tblGrid>
                <a:gridCol w="1200225"/>
                <a:gridCol w="2651525"/>
                <a:gridCol w="3245900"/>
              </a:tblGrid>
              <a:tr h="424700"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Our Studios PAGE DESIGN STRUCTURE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 hMerge="1"/>
                <a:tc hMerge="1"/>
              </a:tr>
              <a:tr h="636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-Pasir ris branch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Header: 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Pasir Ris Studio (DTE):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Address: 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 Pasir Ris Close, #03-102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E!HUB @ Downtown East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Singapore 519599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📞 6951 1732</a:t>
                      </a:r>
                      <a:b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b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Google maps: </a:t>
                      </a:r>
                      <a:r>
                        <a:rPr lang="en" sz="13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Achievers Arts - Downtown East</a:t>
                      </a: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b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b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Images:  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hMerge="1"/>
              </a:tr>
              <a:tr h="636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-Bedok branch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Header: Bedok Studio (HBB):</a:t>
                      </a:r>
                      <a:b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b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11 Bedok North Street 1, #01-22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Heartbeat @ Bedok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Singapore 469662</a:t>
                      </a:r>
                      <a:b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b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📞 6929 3225</a:t>
                      </a:r>
                      <a:b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b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Google maps: </a:t>
                      </a:r>
                      <a:r>
                        <a:rPr lang="en" sz="13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4"/>
                        </a:rPr>
                        <a:t>Achievers Arts - Heartbeat @ Bedok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b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en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Images:  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sp>
        <p:nvSpPr>
          <p:cNvPr id="1150" name="Google Shape;1150;p66"/>
          <p:cNvSpPr txBox="1"/>
          <p:nvPr/>
        </p:nvSpPr>
        <p:spPr>
          <a:xfrm>
            <a:off x="810575" y="1229249"/>
            <a:ext cx="352800" cy="3501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1</a:t>
            </a:r>
            <a:endParaRPr b="1" sz="900">
              <a:solidFill>
                <a:srgbClr val="FFFFFF"/>
              </a:solidFill>
            </a:endParaRPr>
          </a:p>
        </p:txBody>
      </p:sp>
      <p:grpSp>
        <p:nvGrpSpPr>
          <p:cNvPr id="1151" name="Google Shape;1151;p66"/>
          <p:cNvGrpSpPr/>
          <p:nvPr/>
        </p:nvGrpSpPr>
        <p:grpSpPr>
          <a:xfrm>
            <a:off x="1567032" y="1262534"/>
            <a:ext cx="8021689" cy="3717952"/>
            <a:chOff x="798425" y="1229250"/>
            <a:chExt cx="9153000" cy="4242300"/>
          </a:xfrm>
        </p:grpSpPr>
        <p:sp>
          <p:nvSpPr>
            <p:cNvPr id="1152" name="Google Shape;1152;p66"/>
            <p:cNvSpPr/>
            <p:nvPr/>
          </p:nvSpPr>
          <p:spPr>
            <a:xfrm>
              <a:off x="798425" y="1229250"/>
              <a:ext cx="9153000" cy="4242300"/>
            </a:xfrm>
            <a:prstGeom prst="rect">
              <a:avLst/>
            </a:prstGeom>
            <a:solidFill>
              <a:srgbClr val="FFFFFF"/>
            </a:solidFill>
            <a:ln cap="flat" cmpd="sng" w="3157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5875" lIns="145875" spcFirstLastPara="1" rIns="145875" wrap="square" tIns="145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37"/>
            </a:p>
          </p:txBody>
        </p:sp>
        <p:sp>
          <p:nvSpPr>
            <p:cNvPr id="1153" name="Google Shape;1153;p66"/>
            <p:cNvSpPr/>
            <p:nvPr/>
          </p:nvSpPr>
          <p:spPr>
            <a:xfrm>
              <a:off x="1224700" y="1595551"/>
              <a:ext cx="5186700" cy="452700"/>
            </a:xfrm>
            <a:prstGeom prst="rect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118725" lIns="118725" spcFirstLastPara="1" rIns="118725" wrap="square" tIns="11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81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Pasir Ris Studio (DTE):</a:t>
              </a:r>
              <a:endParaRPr sz="128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54" name="Google Shape;1154;p66"/>
            <p:cNvSpPr/>
            <p:nvPr/>
          </p:nvSpPr>
          <p:spPr>
            <a:xfrm>
              <a:off x="6625100" y="1486425"/>
              <a:ext cx="2932200" cy="2216700"/>
            </a:xfrm>
            <a:prstGeom prst="flowChartAlternateProcess">
              <a:avLst/>
            </a:prstGeom>
            <a:solidFill>
              <a:schemeClr val="lt1"/>
            </a:solidFill>
            <a:ln cap="flat" cmpd="sng" w="64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650" lIns="61650" spcFirstLastPara="1" rIns="61650" wrap="square" tIns="61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16">
                  <a:latin typeface="Montserrat"/>
                  <a:ea typeface="Montserrat"/>
                  <a:cs typeface="Montserrat"/>
                  <a:sym typeface="Montserrat"/>
                </a:rPr>
                <a:t>Google Maps</a:t>
              </a:r>
              <a:endParaRPr sz="1416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55" name="Google Shape;1155;p66"/>
            <p:cNvSpPr/>
            <p:nvPr/>
          </p:nvSpPr>
          <p:spPr>
            <a:xfrm>
              <a:off x="1224700" y="2181150"/>
              <a:ext cx="5186700" cy="1521900"/>
            </a:xfrm>
            <a:prstGeom prst="flowChartAlternateProcess">
              <a:avLst/>
            </a:prstGeom>
            <a:solidFill>
              <a:schemeClr val="lt1"/>
            </a:solidFill>
            <a:ln cap="flat" cmpd="sng" w="64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650" lIns="61650" spcFirstLastPara="1" rIns="61650" wrap="square" tIns="61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65">
                  <a:latin typeface="Montserrat"/>
                  <a:ea typeface="Montserrat"/>
                  <a:cs typeface="Montserrat"/>
                  <a:sym typeface="Montserrat"/>
                </a:rPr>
                <a:t>1 Pasir Ris Close, #03-102</a:t>
              </a:r>
              <a:endParaRPr sz="1065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65">
                  <a:latin typeface="Montserrat"/>
                  <a:ea typeface="Montserrat"/>
                  <a:cs typeface="Montserrat"/>
                  <a:sym typeface="Montserrat"/>
                </a:rPr>
                <a:t>E!HUB @ Downtown East</a:t>
              </a:r>
              <a:endParaRPr sz="1065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65">
                  <a:latin typeface="Montserrat"/>
                  <a:ea typeface="Montserrat"/>
                  <a:cs typeface="Montserrat"/>
                  <a:sym typeface="Montserrat"/>
                </a:rPr>
                <a:t>Singapore 519599</a:t>
              </a:r>
              <a:br>
                <a:rPr lang="en" sz="1065">
                  <a:latin typeface="Montserrat"/>
                  <a:ea typeface="Montserrat"/>
                  <a:cs typeface="Montserrat"/>
                  <a:sym typeface="Montserrat"/>
                </a:rPr>
              </a:br>
              <a:br>
                <a:rPr lang="en" sz="1065"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en" sz="1065">
                  <a:latin typeface="Montserrat"/>
                  <a:ea typeface="Montserrat"/>
                  <a:cs typeface="Montserrat"/>
                  <a:sym typeface="Montserrat"/>
                </a:rPr>
                <a:t>📞 6951 1732</a:t>
              </a:r>
              <a:endParaRPr sz="1065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56" name="Google Shape;1156;p66"/>
            <p:cNvSpPr/>
            <p:nvPr/>
          </p:nvSpPr>
          <p:spPr>
            <a:xfrm>
              <a:off x="1224700" y="3835950"/>
              <a:ext cx="1923000" cy="1461300"/>
            </a:xfrm>
            <a:prstGeom prst="flowChartAlternateProcess">
              <a:avLst/>
            </a:prstGeom>
            <a:solidFill>
              <a:schemeClr val="lt1"/>
            </a:solidFill>
            <a:ln cap="flat" cmpd="sng" w="64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650" lIns="61650" spcFirstLastPara="1" rIns="61650" wrap="square" tIns="61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16">
                  <a:latin typeface="Montserrat"/>
                  <a:ea typeface="Montserrat"/>
                  <a:cs typeface="Montserrat"/>
                  <a:sym typeface="Montserrat"/>
                </a:rPr>
                <a:t>Images</a:t>
              </a:r>
              <a:endParaRPr sz="1416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57" name="Google Shape;1157;p66"/>
            <p:cNvSpPr/>
            <p:nvPr/>
          </p:nvSpPr>
          <p:spPr>
            <a:xfrm>
              <a:off x="3361189" y="3835950"/>
              <a:ext cx="1923000" cy="1461300"/>
            </a:xfrm>
            <a:prstGeom prst="flowChartAlternateProcess">
              <a:avLst/>
            </a:prstGeom>
            <a:solidFill>
              <a:schemeClr val="lt1"/>
            </a:solidFill>
            <a:ln cap="flat" cmpd="sng" w="64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650" lIns="61650" spcFirstLastPara="1" rIns="61650" wrap="square" tIns="61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16">
                  <a:latin typeface="Montserrat"/>
                  <a:ea typeface="Montserrat"/>
                  <a:cs typeface="Montserrat"/>
                  <a:sym typeface="Montserrat"/>
                </a:rPr>
                <a:t>Images</a:t>
              </a:r>
              <a:endParaRPr sz="1416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58" name="Google Shape;1158;p66"/>
            <p:cNvSpPr/>
            <p:nvPr/>
          </p:nvSpPr>
          <p:spPr>
            <a:xfrm>
              <a:off x="5497678" y="3835950"/>
              <a:ext cx="1923000" cy="1461300"/>
            </a:xfrm>
            <a:prstGeom prst="flowChartAlternateProcess">
              <a:avLst/>
            </a:prstGeom>
            <a:solidFill>
              <a:schemeClr val="lt1"/>
            </a:solidFill>
            <a:ln cap="flat" cmpd="sng" w="64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650" lIns="61650" spcFirstLastPara="1" rIns="61650" wrap="square" tIns="61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16">
                  <a:latin typeface="Montserrat"/>
                  <a:ea typeface="Montserrat"/>
                  <a:cs typeface="Montserrat"/>
                  <a:sym typeface="Montserrat"/>
                </a:rPr>
                <a:t>Images</a:t>
              </a:r>
              <a:endParaRPr sz="1416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59" name="Google Shape;1159;p66"/>
            <p:cNvSpPr/>
            <p:nvPr/>
          </p:nvSpPr>
          <p:spPr>
            <a:xfrm>
              <a:off x="7634167" y="3835950"/>
              <a:ext cx="1923000" cy="1461300"/>
            </a:xfrm>
            <a:prstGeom prst="flowChartAlternateProcess">
              <a:avLst/>
            </a:prstGeom>
            <a:solidFill>
              <a:schemeClr val="lt1"/>
            </a:solidFill>
            <a:ln cap="flat" cmpd="sng" w="64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650" lIns="61650" spcFirstLastPara="1" rIns="61650" wrap="square" tIns="61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16">
                  <a:latin typeface="Montserrat"/>
                  <a:ea typeface="Montserrat"/>
                  <a:cs typeface="Montserrat"/>
                  <a:sym typeface="Montserrat"/>
                </a:rPr>
                <a:t>Images</a:t>
              </a:r>
              <a:endParaRPr sz="1416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160" name="Google Shape;1160;p66"/>
          <p:cNvGrpSpPr/>
          <p:nvPr/>
        </p:nvGrpSpPr>
        <p:grpSpPr>
          <a:xfrm>
            <a:off x="1567032" y="5072334"/>
            <a:ext cx="8021689" cy="3717952"/>
            <a:chOff x="798425" y="1229250"/>
            <a:chExt cx="9153000" cy="4242300"/>
          </a:xfrm>
        </p:grpSpPr>
        <p:sp>
          <p:nvSpPr>
            <p:cNvPr id="1161" name="Google Shape;1161;p66"/>
            <p:cNvSpPr/>
            <p:nvPr/>
          </p:nvSpPr>
          <p:spPr>
            <a:xfrm>
              <a:off x="798425" y="1229250"/>
              <a:ext cx="9153000" cy="4242300"/>
            </a:xfrm>
            <a:prstGeom prst="rect">
              <a:avLst/>
            </a:prstGeom>
            <a:solidFill>
              <a:srgbClr val="FFFFFF"/>
            </a:solidFill>
            <a:ln cap="flat" cmpd="sng" w="3157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5875" lIns="145875" spcFirstLastPara="1" rIns="145875" wrap="square" tIns="145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37"/>
            </a:p>
          </p:txBody>
        </p:sp>
        <p:sp>
          <p:nvSpPr>
            <p:cNvPr id="1162" name="Google Shape;1162;p66"/>
            <p:cNvSpPr/>
            <p:nvPr/>
          </p:nvSpPr>
          <p:spPr>
            <a:xfrm>
              <a:off x="1224700" y="1595551"/>
              <a:ext cx="5186700" cy="452700"/>
            </a:xfrm>
            <a:prstGeom prst="rect">
              <a:avLst/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118725" lIns="118725" spcFirstLastPara="1" rIns="118725" wrap="square" tIns="118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81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Bedok Studio (HBB):</a:t>
              </a:r>
              <a:endParaRPr sz="128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63" name="Google Shape;1163;p66"/>
            <p:cNvSpPr/>
            <p:nvPr/>
          </p:nvSpPr>
          <p:spPr>
            <a:xfrm>
              <a:off x="6625100" y="1486425"/>
              <a:ext cx="2932200" cy="2216700"/>
            </a:xfrm>
            <a:prstGeom prst="flowChartAlternateProcess">
              <a:avLst/>
            </a:prstGeom>
            <a:solidFill>
              <a:schemeClr val="lt1"/>
            </a:solidFill>
            <a:ln cap="flat" cmpd="sng" w="64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650" lIns="61650" spcFirstLastPara="1" rIns="61650" wrap="square" tIns="61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16">
                  <a:latin typeface="Montserrat"/>
                  <a:ea typeface="Montserrat"/>
                  <a:cs typeface="Montserrat"/>
                  <a:sym typeface="Montserrat"/>
                </a:rPr>
                <a:t>Google Maps</a:t>
              </a:r>
              <a:endParaRPr sz="1416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64" name="Google Shape;1164;p66"/>
            <p:cNvSpPr/>
            <p:nvPr/>
          </p:nvSpPr>
          <p:spPr>
            <a:xfrm>
              <a:off x="1224700" y="2181150"/>
              <a:ext cx="5186700" cy="1521900"/>
            </a:xfrm>
            <a:prstGeom prst="flowChartAlternateProcess">
              <a:avLst/>
            </a:prstGeom>
            <a:solidFill>
              <a:schemeClr val="lt1"/>
            </a:solidFill>
            <a:ln cap="flat" cmpd="sng" w="64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650" lIns="61650" spcFirstLastPara="1" rIns="61650" wrap="square" tIns="616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65">
                  <a:latin typeface="Montserrat"/>
                  <a:ea typeface="Montserrat"/>
                  <a:cs typeface="Montserrat"/>
                  <a:sym typeface="Montserrat"/>
                </a:rPr>
                <a:t>11 Bedok North Street 1, #01-22</a:t>
              </a:r>
              <a:endParaRPr sz="1065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65">
                  <a:latin typeface="Montserrat"/>
                  <a:ea typeface="Montserrat"/>
                  <a:cs typeface="Montserrat"/>
                  <a:sym typeface="Montserrat"/>
                </a:rPr>
                <a:t>Heartbeat @ Bedok</a:t>
              </a:r>
              <a:endParaRPr sz="1065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65">
                  <a:latin typeface="Montserrat"/>
                  <a:ea typeface="Montserrat"/>
                  <a:cs typeface="Montserrat"/>
                  <a:sym typeface="Montserrat"/>
                </a:rPr>
                <a:t>Singapore 469662</a:t>
              </a:r>
              <a:br>
                <a:rPr lang="en" sz="1065">
                  <a:latin typeface="Montserrat"/>
                  <a:ea typeface="Montserrat"/>
                  <a:cs typeface="Montserrat"/>
                  <a:sym typeface="Montserrat"/>
                </a:rPr>
              </a:br>
              <a:br>
                <a:rPr lang="en" sz="1065"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en" sz="1065">
                  <a:latin typeface="Montserrat"/>
                  <a:ea typeface="Montserrat"/>
                  <a:cs typeface="Montserrat"/>
                  <a:sym typeface="Montserrat"/>
                </a:rPr>
                <a:t>📞 6929 3225</a:t>
              </a:r>
              <a:endParaRPr sz="1065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65" name="Google Shape;1165;p66"/>
            <p:cNvSpPr/>
            <p:nvPr/>
          </p:nvSpPr>
          <p:spPr>
            <a:xfrm>
              <a:off x="1224700" y="3835950"/>
              <a:ext cx="1923000" cy="1461300"/>
            </a:xfrm>
            <a:prstGeom prst="flowChartAlternateProcess">
              <a:avLst/>
            </a:prstGeom>
            <a:solidFill>
              <a:schemeClr val="lt1"/>
            </a:solidFill>
            <a:ln cap="flat" cmpd="sng" w="64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650" lIns="61650" spcFirstLastPara="1" rIns="61650" wrap="square" tIns="61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16">
                  <a:latin typeface="Montserrat"/>
                  <a:ea typeface="Montserrat"/>
                  <a:cs typeface="Montserrat"/>
                  <a:sym typeface="Montserrat"/>
                </a:rPr>
                <a:t>Images</a:t>
              </a:r>
              <a:endParaRPr sz="1416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66" name="Google Shape;1166;p66"/>
            <p:cNvSpPr/>
            <p:nvPr/>
          </p:nvSpPr>
          <p:spPr>
            <a:xfrm>
              <a:off x="3361189" y="3835950"/>
              <a:ext cx="1923000" cy="1461300"/>
            </a:xfrm>
            <a:prstGeom prst="flowChartAlternateProcess">
              <a:avLst/>
            </a:prstGeom>
            <a:solidFill>
              <a:schemeClr val="lt1"/>
            </a:solidFill>
            <a:ln cap="flat" cmpd="sng" w="64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650" lIns="61650" spcFirstLastPara="1" rIns="61650" wrap="square" tIns="61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16">
                  <a:latin typeface="Montserrat"/>
                  <a:ea typeface="Montserrat"/>
                  <a:cs typeface="Montserrat"/>
                  <a:sym typeface="Montserrat"/>
                </a:rPr>
                <a:t>Images</a:t>
              </a:r>
              <a:endParaRPr sz="1416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67" name="Google Shape;1167;p66"/>
            <p:cNvSpPr/>
            <p:nvPr/>
          </p:nvSpPr>
          <p:spPr>
            <a:xfrm>
              <a:off x="5497678" y="3835950"/>
              <a:ext cx="1923000" cy="1461300"/>
            </a:xfrm>
            <a:prstGeom prst="flowChartAlternateProcess">
              <a:avLst/>
            </a:prstGeom>
            <a:solidFill>
              <a:schemeClr val="lt1"/>
            </a:solidFill>
            <a:ln cap="flat" cmpd="sng" w="64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650" lIns="61650" spcFirstLastPara="1" rIns="61650" wrap="square" tIns="61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16">
                  <a:latin typeface="Montserrat"/>
                  <a:ea typeface="Montserrat"/>
                  <a:cs typeface="Montserrat"/>
                  <a:sym typeface="Montserrat"/>
                </a:rPr>
                <a:t>Images</a:t>
              </a:r>
              <a:endParaRPr sz="1416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68" name="Google Shape;1168;p66"/>
            <p:cNvSpPr/>
            <p:nvPr/>
          </p:nvSpPr>
          <p:spPr>
            <a:xfrm>
              <a:off x="7634167" y="3835950"/>
              <a:ext cx="1923000" cy="1461300"/>
            </a:xfrm>
            <a:prstGeom prst="flowChartAlternateProcess">
              <a:avLst/>
            </a:prstGeom>
            <a:solidFill>
              <a:schemeClr val="lt1"/>
            </a:solidFill>
            <a:ln cap="flat" cmpd="sng" w="64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1650" lIns="61650" spcFirstLastPara="1" rIns="61650" wrap="square" tIns="61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16">
                  <a:latin typeface="Montserrat"/>
                  <a:ea typeface="Montserrat"/>
                  <a:cs typeface="Montserrat"/>
                  <a:sym typeface="Montserrat"/>
                </a:rPr>
                <a:t>Images</a:t>
              </a:r>
              <a:endParaRPr sz="1416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169" name="Google Shape;1169;p66"/>
          <p:cNvSpPr/>
          <p:nvPr/>
        </p:nvSpPr>
        <p:spPr>
          <a:xfrm>
            <a:off x="1163375" y="1229250"/>
            <a:ext cx="8641500" cy="3717900"/>
          </a:xfrm>
          <a:prstGeom prst="rect">
            <a:avLst/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66"/>
          <p:cNvSpPr txBox="1"/>
          <p:nvPr/>
        </p:nvSpPr>
        <p:spPr>
          <a:xfrm>
            <a:off x="1001575" y="5154599"/>
            <a:ext cx="352800" cy="3501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FFFF"/>
                </a:solidFill>
              </a:rPr>
              <a:t>2</a:t>
            </a:r>
            <a:endParaRPr b="1" sz="900">
              <a:solidFill>
                <a:srgbClr val="FFFFFF"/>
              </a:solidFill>
            </a:endParaRPr>
          </a:p>
        </p:txBody>
      </p:sp>
      <p:sp>
        <p:nvSpPr>
          <p:cNvPr id="1171" name="Google Shape;1171;p66"/>
          <p:cNvSpPr/>
          <p:nvPr/>
        </p:nvSpPr>
        <p:spPr>
          <a:xfrm>
            <a:off x="1354375" y="5154600"/>
            <a:ext cx="8641500" cy="3717900"/>
          </a:xfrm>
          <a:prstGeom prst="rect">
            <a:avLst/>
          </a:prstGeom>
          <a:noFill/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67"/>
          <p:cNvSpPr txBox="1"/>
          <p:nvPr/>
        </p:nvSpPr>
        <p:spPr>
          <a:xfrm>
            <a:off x="3637800" y="4183200"/>
            <a:ext cx="110124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3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THANK YOU.</a:t>
            </a:r>
            <a:endParaRPr i="1" sz="23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7" name="Google Shape;1177;p67"/>
          <p:cNvSpPr txBox="1"/>
          <p:nvPr/>
        </p:nvSpPr>
        <p:spPr>
          <a:xfrm>
            <a:off x="3637800" y="8100267"/>
            <a:ext cx="110124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19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PREPARED BY EPOS </a:t>
            </a:r>
            <a:endParaRPr sz="19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1900">
              <a:solidFill>
                <a:srgbClr val="B7B7B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2" name="Google Shape;1182;p68"/>
          <p:cNvPicPr preferRelativeResize="0"/>
          <p:nvPr/>
        </p:nvPicPr>
        <p:blipFill rotWithShape="1">
          <a:blip r:embed="rId3">
            <a:alphaModFix amt="10000"/>
          </a:blip>
          <a:srcRect b="6796" l="7090" r="7073" t="7071"/>
          <a:stretch/>
        </p:blipFill>
        <p:spPr>
          <a:xfrm>
            <a:off x="4017950" y="1"/>
            <a:ext cx="683472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3" name="Google Shape;1183;p68"/>
          <p:cNvSpPr txBox="1"/>
          <p:nvPr/>
        </p:nvSpPr>
        <p:spPr>
          <a:xfrm>
            <a:off x="-75012" y="7"/>
            <a:ext cx="18438000" cy="25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025" lIns="176075" spcFirstLastPara="1" rIns="176075" wrap="square" tIns="88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Acknowledgement</a:t>
            </a:r>
            <a:endParaRPr sz="9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84" name="Google Shape;1184;p68"/>
          <p:cNvGraphicFramePr/>
          <p:nvPr/>
        </p:nvGraphicFramePr>
        <p:xfrm>
          <a:off x="2446050" y="58883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{D7CE018D-52EF-46E7-B271-E2EB9F12F667}</a:tableStyleId>
              </a:tblPr>
              <a:tblGrid>
                <a:gridCol w="6697950"/>
                <a:gridCol w="6697950"/>
              </a:tblGrid>
              <a:tr h="7629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THIS DOCUMENT HAS BEEN REVIEWED AND APPROVED.</a:t>
                      </a:r>
                      <a:endParaRPr b="1" sz="3000">
                        <a:highlight>
                          <a:srgbClr val="93C47D"/>
                        </a:highlight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2900" marB="112900" marR="127000" marL="127000">
                    <a:lnL cap="flat" cmpd="sng" w="12700">
                      <a:solidFill>
                        <a:srgbClr val="0C34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C34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C34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C34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 hMerge="1"/>
              </a:tr>
              <a:tr h="71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solidFill>
                            <a:srgbClr val="0C34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 of Person in Charge</a:t>
                      </a:r>
                      <a:endParaRPr b="1" sz="3000">
                        <a:solidFill>
                          <a:srgbClr val="0C343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2900" marB="112900" marR="127000" marL="127000">
                    <a:lnL cap="flat" cmpd="sng" w="12700">
                      <a:solidFill>
                        <a:srgbClr val="0C34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C34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C34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C34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>
                        <a:solidFill>
                          <a:srgbClr val="0C343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2900" marB="112900" marR="127000" marL="127000">
                    <a:lnL cap="flat" cmpd="sng" w="12700">
                      <a:solidFill>
                        <a:srgbClr val="0C34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C34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C34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C34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solidFill>
                            <a:srgbClr val="0C34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Designation</a:t>
                      </a:r>
                      <a:endParaRPr b="1" sz="3000">
                        <a:solidFill>
                          <a:srgbClr val="0C343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2900" marB="112900" marR="127000" marL="127000">
                    <a:lnL cap="flat" cmpd="sng" w="12700">
                      <a:solidFill>
                        <a:srgbClr val="0C34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C34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C34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C34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>
                        <a:solidFill>
                          <a:srgbClr val="0C343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2900" marB="112900" marR="127000" marL="127000">
                    <a:lnL cap="flat" cmpd="sng" w="12700">
                      <a:solidFill>
                        <a:srgbClr val="0C34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C34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C34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C34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solidFill>
                            <a:srgbClr val="0C343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 &amp; Signature</a:t>
                      </a:r>
                      <a:endParaRPr b="1" sz="3000">
                        <a:solidFill>
                          <a:srgbClr val="0C343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2900" marB="112900" marR="127000" marL="127000">
                    <a:lnL cap="flat" cmpd="sng" w="12700">
                      <a:solidFill>
                        <a:srgbClr val="0C34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C34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C34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C34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3000">
                        <a:solidFill>
                          <a:srgbClr val="0C343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12900" marB="112900" marR="127000" marL="127000">
                    <a:lnL cap="flat" cmpd="sng" w="12700">
                      <a:solidFill>
                        <a:srgbClr val="0C343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C343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C343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C343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85" name="Google Shape;1185;p68"/>
          <p:cNvSpPr txBox="1"/>
          <p:nvPr/>
        </p:nvSpPr>
        <p:spPr>
          <a:xfrm>
            <a:off x="1739400" y="2278933"/>
            <a:ext cx="14809200" cy="31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075" lIns="176075" spcFirstLastPara="1" rIns="176075" wrap="square" tIns="1760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latin typeface="Calibri"/>
                <a:ea typeface="Calibri"/>
                <a:cs typeface="Calibri"/>
                <a:sym typeface="Calibri"/>
              </a:rPr>
              <a:t>I hereby acknowledge that I have looked through this Site Map, Layout, and Content Skeleton Proposal and the assigned Marketing Executive has guided me through the contents and important notice. </a:t>
            </a:r>
            <a:endParaRPr sz="2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latin typeface="Calibri"/>
                <a:ea typeface="Calibri"/>
                <a:cs typeface="Calibri"/>
                <a:sym typeface="Calibri"/>
              </a:rPr>
              <a:t>I hereby approve the contents above and allow the Marketing Executive to proceed with the website staging. I also agree with the notice and to abide to the rules. </a:t>
            </a:r>
            <a:endParaRPr sz="2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